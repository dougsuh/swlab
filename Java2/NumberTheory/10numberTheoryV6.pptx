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2" r:id="rId3"/>
    <p:sldId id="289" r:id="rId4"/>
    <p:sldId id="269" r:id="rId5"/>
    <p:sldId id="267" r:id="rId6"/>
    <p:sldId id="278" r:id="rId7"/>
    <p:sldId id="268" r:id="rId8"/>
    <p:sldId id="265" r:id="rId9"/>
    <p:sldId id="266" r:id="rId10"/>
    <p:sldId id="271" r:id="rId11"/>
    <p:sldId id="286" r:id="rId12"/>
    <p:sldId id="279" r:id="rId13"/>
    <p:sldId id="280" r:id="rId14"/>
    <p:sldId id="281" r:id="rId15"/>
    <p:sldId id="284" r:id="rId16"/>
    <p:sldId id="283" r:id="rId17"/>
    <p:sldId id="290" r:id="rId18"/>
    <p:sldId id="277" r:id="rId19"/>
    <p:sldId id="285" r:id="rId20"/>
    <p:sldId id="272" r:id="rId21"/>
    <p:sldId id="273" r:id="rId22"/>
    <p:sldId id="274" r:id="rId23"/>
    <p:sldId id="275" r:id="rId24"/>
    <p:sldId id="292" r:id="rId25"/>
    <p:sldId id="293" r:id="rId26"/>
    <p:sldId id="294" r:id="rId27"/>
    <p:sldId id="295" r:id="rId28"/>
    <p:sldId id="296" r:id="rId29"/>
    <p:sldId id="287" r:id="rId30"/>
    <p:sldId id="288" r:id="rId31"/>
    <p:sldId id="291" r:id="rId32"/>
    <p:sldId id="270" r:id="rId33"/>
    <p:sldId id="257" r:id="rId34"/>
    <p:sldId id="258" r:id="rId35"/>
    <p:sldId id="259" r:id="rId36"/>
    <p:sldId id="262" r:id="rId37"/>
    <p:sldId id="260" r:id="rId38"/>
    <p:sldId id="261" r:id="rId39"/>
    <p:sldId id="263" r:id="rId40"/>
    <p:sldId id="264" r:id="rId4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C8671658-84BC-4462-B359-228BEC23296E}">
          <p14:sldIdLst>
            <p14:sldId id="256"/>
            <p14:sldId id="282"/>
            <p14:sldId id="289"/>
            <p14:sldId id="269"/>
            <p14:sldId id="267"/>
            <p14:sldId id="278"/>
            <p14:sldId id="268"/>
            <p14:sldId id="265"/>
            <p14:sldId id="266"/>
            <p14:sldId id="271"/>
            <p14:sldId id="286"/>
            <p14:sldId id="279"/>
            <p14:sldId id="280"/>
            <p14:sldId id="281"/>
            <p14:sldId id="284"/>
            <p14:sldId id="283"/>
            <p14:sldId id="290"/>
            <p14:sldId id="277"/>
            <p14:sldId id="285"/>
            <p14:sldId id="272"/>
            <p14:sldId id="273"/>
            <p14:sldId id="274"/>
            <p14:sldId id="275"/>
            <p14:sldId id="292"/>
            <p14:sldId id="293"/>
            <p14:sldId id="294"/>
            <p14:sldId id="295"/>
            <p14:sldId id="296"/>
            <p14:sldId id="287"/>
            <p14:sldId id="288"/>
            <p14:sldId id="291"/>
            <p14:sldId id="270"/>
            <p14:sldId id="257"/>
            <p14:sldId id="258"/>
            <p14:sldId id="259"/>
            <p14:sldId id="262"/>
            <p14:sldId id="260"/>
            <p14:sldId id="261"/>
            <p14:sldId id="263"/>
            <p14:sldId id="264"/>
          </p14:sldIdLst>
        </p14:section>
        <p14:section name="제목 없는 구역" id="{7767CA11-4925-43EC-95AB-D718FB8AA4E2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8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0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&#53685;&#54633;%20&#47928;&#49436;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/>
              <a:t>time to decode</a:t>
            </a:r>
            <a:r>
              <a:rPr lang="en-US" altLang="ko-KR" baseline="0"/>
              <a:t> a bufflet(</a:t>
            </a:r>
            <a:r>
              <a:rPr lang="en-US" altLang="ko-KR" baseline="0">
                <a:latin typeface="맑은 고딕" panose="020B0503020000020004" pitchFamily="50" charset="-127"/>
                <a:ea typeface="맑은 고딕" panose="020B0503020000020004" pitchFamily="50" charset="-127"/>
              </a:rPr>
              <a:t>µs)</a:t>
            </a:r>
            <a:endParaRPr lang="ko-KR" alt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scatterChart>
        <c:scatterStyle val="smoothMarker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time(PLR 50%)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Sheet1!$B$2:$B$6</c:f>
              <c:numCache>
                <c:formatCode>General</c:formatCode>
                <c:ptCount val="5"/>
                <c:pt idx="0">
                  <c:v>19</c:v>
                </c:pt>
                <c:pt idx="1">
                  <c:v>100</c:v>
                </c:pt>
                <c:pt idx="2">
                  <c:v>500</c:v>
                </c:pt>
                <c:pt idx="3">
                  <c:v>1000</c:v>
                </c:pt>
                <c:pt idx="4">
                  <c:v>2000</c:v>
                </c:pt>
              </c:numCache>
            </c:numRef>
          </c:xVal>
          <c:yVal>
            <c:numRef>
              <c:f>Sheet1!$C$2:$C$6</c:f>
              <c:numCache>
                <c:formatCode>General</c:formatCode>
                <c:ptCount val="5"/>
                <c:pt idx="0">
                  <c:v>164</c:v>
                </c:pt>
                <c:pt idx="1">
                  <c:v>578</c:v>
                </c:pt>
                <c:pt idx="2">
                  <c:v>2618</c:v>
                </c:pt>
                <c:pt idx="3">
                  <c:v>5159</c:v>
                </c:pt>
                <c:pt idx="4">
                  <c:v>10775</c:v>
                </c:pt>
              </c:numCache>
            </c:numRef>
          </c:yVal>
          <c:smooth val="1"/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time(25%)</c:v>
                </c:pt>
              </c:strCache>
            </c:strRef>
          </c:tx>
          <c:spPr>
            <a:ln w="19050" cap="rnd">
              <a:solidFill>
                <a:schemeClr val="accent2"/>
              </a:solidFill>
              <a:prstDash val="sysDash"/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  <a:prstDash val="sysDash"/>
              </a:ln>
              <a:effectLst/>
            </c:spPr>
          </c:marker>
          <c:xVal>
            <c:numRef>
              <c:f>Sheet1!$B$2:$B$6</c:f>
              <c:numCache>
                <c:formatCode>General</c:formatCode>
                <c:ptCount val="5"/>
                <c:pt idx="0">
                  <c:v>19</c:v>
                </c:pt>
                <c:pt idx="1">
                  <c:v>100</c:v>
                </c:pt>
                <c:pt idx="2">
                  <c:v>500</c:v>
                </c:pt>
                <c:pt idx="3">
                  <c:v>1000</c:v>
                </c:pt>
                <c:pt idx="4">
                  <c:v>2000</c:v>
                </c:pt>
              </c:numCache>
            </c:numRef>
          </c:xVal>
          <c:yVal>
            <c:numRef>
              <c:f>Sheet1!$D$2:$D$6</c:f>
              <c:numCache>
                <c:formatCode>General</c:formatCode>
                <c:ptCount val="5"/>
                <c:pt idx="0">
                  <c:v>71</c:v>
                </c:pt>
                <c:pt idx="1">
                  <c:v>301</c:v>
                </c:pt>
                <c:pt idx="2">
                  <c:v>1406</c:v>
                </c:pt>
                <c:pt idx="3">
                  <c:v>2789</c:v>
                </c:pt>
                <c:pt idx="4">
                  <c:v>5565</c:v>
                </c:pt>
              </c:numCache>
            </c:numRef>
          </c:yVal>
          <c:smooth val="1"/>
        </c:ser>
        <c:ser>
          <c:idx val="2"/>
          <c:order val="2"/>
          <c:tx>
            <c:strRef>
              <c:f>Sheet1!$E$1</c:f>
              <c:strCache>
                <c:ptCount val="1"/>
                <c:pt idx="0">
                  <c:v>time(10%)</c:v>
                </c:pt>
              </c:strCache>
            </c:strRef>
          </c:tx>
          <c:spPr>
            <a:ln w="19050" cap="rnd">
              <a:solidFill>
                <a:schemeClr val="accent3"/>
              </a:solidFill>
              <a:prstDash val="sysDot"/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  <a:prstDash val="sysDot"/>
              </a:ln>
              <a:effectLst/>
            </c:spPr>
          </c:marker>
          <c:xVal>
            <c:numRef>
              <c:f>Sheet1!$B$2:$B$6</c:f>
              <c:numCache>
                <c:formatCode>General</c:formatCode>
                <c:ptCount val="5"/>
                <c:pt idx="0">
                  <c:v>19</c:v>
                </c:pt>
                <c:pt idx="1">
                  <c:v>100</c:v>
                </c:pt>
                <c:pt idx="2">
                  <c:v>500</c:v>
                </c:pt>
                <c:pt idx="3">
                  <c:v>1000</c:v>
                </c:pt>
                <c:pt idx="4">
                  <c:v>2000</c:v>
                </c:pt>
              </c:numCache>
            </c:numRef>
          </c:xVal>
          <c:yVal>
            <c:numRef>
              <c:f>Sheet1!$E$2:$E$6</c:f>
              <c:numCache>
                <c:formatCode>General</c:formatCode>
                <c:ptCount val="5"/>
                <c:pt idx="0">
                  <c:v>25</c:v>
                </c:pt>
                <c:pt idx="1">
                  <c:v>113</c:v>
                </c:pt>
                <c:pt idx="2">
                  <c:v>540</c:v>
                </c:pt>
                <c:pt idx="3">
                  <c:v>1074</c:v>
                </c:pt>
                <c:pt idx="4">
                  <c:v>2145</c:v>
                </c:pt>
              </c:numCache>
            </c:numRef>
          </c:y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637096464"/>
        <c:axId val="637107888"/>
      </c:scatterChart>
      <c:valAx>
        <c:axId val="637096464"/>
        <c:scaling>
          <c:logBase val="10"/>
          <c:orientation val="minMax"/>
          <c:max val="2005"/>
          <c:min val="18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37107888"/>
        <c:crosses val="autoZero"/>
        <c:crossBetween val="midCat"/>
      </c:valAx>
      <c:valAx>
        <c:axId val="6371078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37096464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image" Target="../media/image11.wmf"/><Relationship Id="rId1" Type="http://schemas.openxmlformats.org/officeDocument/2006/relationships/image" Target="../media/image10.wmf"/><Relationship Id="rId5" Type="http://schemas.openxmlformats.org/officeDocument/2006/relationships/image" Target="../media/image13.wmf"/><Relationship Id="rId4" Type="http://schemas.openxmlformats.org/officeDocument/2006/relationships/image" Target="../media/image12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22.wmf"/><Relationship Id="rId1" Type="http://schemas.openxmlformats.org/officeDocument/2006/relationships/image" Target="../media/image21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image" Target="../media/image24.wmf"/><Relationship Id="rId1" Type="http://schemas.openxmlformats.org/officeDocument/2006/relationships/image" Target="../media/image23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27.wmf"/><Relationship Id="rId1" Type="http://schemas.openxmlformats.org/officeDocument/2006/relationships/image" Target="../media/image26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2" Type="http://schemas.openxmlformats.org/officeDocument/2006/relationships/image" Target="../media/image29.wmf"/><Relationship Id="rId1" Type="http://schemas.openxmlformats.org/officeDocument/2006/relationships/image" Target="../media/image28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990AF-819F-4837-AD0D-67061E094911}" type="datetimeFigureOut">
              <a:rPr lang="ko-KR" altLang="en-US" smtClean="0"/>
              <a:t>2021-01-12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9EDB04-CB1F-47F5-A69B-5C85CBE1B7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78996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198870"/>
            <a:ext cx="10515600" cy="757093"/>
          </a:xfrm>
        </p:spPr>
        <p:txBody>
          <a:bodyPr/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066800"/>
            <a:ext cx="10515600" cy="5289550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990AF-819F-4837-AD0D-67061E094911}" type="datetimeFigureOut">
              <a:rPr lang="ko-KR" altLang="en-US" smtClean="0"/>
              <a:t>2021-01-12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9EDB04-CB1F-47F5-A69B-5C85CBE1B7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035394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990AF-819F-4837-AD0D-67061E094911}" type="datetimeFigureOut">
              <a:rPr lang="ko-KR" altLang="en-US" smtClean="0"/>
              <a:t>2021-01-12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9EDB04-CB1F-47F5-A69B-5C85CBE1B7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35655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990AF-819F-4837-AD0D-67061E094911}" type="datetimeFigureOut">
              <a:rPr lang="ko-KR" altLang="en-US" smtClean="0"/>
              <a:t>2021-01-12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9EDB04-CB1F-47F5-A69B-5C85CBE1B7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53226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990AF-819F-4837-AD0D-67061E094911}" type="datetimeFigureOut">
              <a:rPr lang="ko-KR" altLang="en-US" smtClean="0"/>
              <a:t>2021-01-12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9EDB04-CB1F-47F5-A69B-5C85CBE1B7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67470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990AF-819F-4837-AD0D-67061E094911}" type="datetimeFigureOut">
              <a:rPr lang="ko-KR" altLang="en-US" smtClean="0"/>
              <a:t>2021-01-12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9EDB04-CB1F-47F5-A69B-5C85CBE1B7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8885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990AF-819F-4837-AD0D-67061E094911}" type="datetimeFigureOut">
              <a:rPr lang="ko-KR" altLang="en-US" smtClean="0"/>
              <a:t>2021-01-12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9EDB04-CB1F-47F5-A69B-5C85CBE1B7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3080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990AF-819F-4837-AD0D-67061E094911}" type="datetimeFigureOut">
              <a:rPr lang="ko-KR" altLang="en-US" smtClean="0"/>
              <a:t>2021-01-12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9EDB04-CB1F-47F5-A69B-5C85CBE1B7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96052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990AF-819F-4837-AD0D-67061E094911}" type="datetimeFigureOut">
              <a:rPr lang="ko-KR" altLang="en-US" smtClean="0"/>
              <a:t>2021-01-12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9EDB04-CB1F-47F5-A69B-5C85CBE1B7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62583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990AF-819F-4837-AD0D-67061E094911}" type="datetimeFigureOut">
              <a:rPr lang="ko-KR" altLang="en-US" smtClean="0"/>
              <a:t>2021-01-12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9EDB04-CB1F-47F5-A69B-5C85CBE1B7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57469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990AF-819F-4837-AD0D-67061E094911}" type="datetimeFigureOut">
              <a:rPr lang="ko-KR" altLang="en-US" smtClean="0"/>
              <a:t>2021-01-12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9EDB04-CB1F-47F5-A69B-5C85CBE1B7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98710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제목, 텍스트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6D43DB4B-7A03-4373-9E04-5E33F98C64F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6743070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185017"/>
            <a:ext cx="10515600" cy="8263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191491"/>
            <a:ext cx="10515600" cy="4985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A990AF-819F-4837-AD0D-67061E094911}" type="datetimeFigureOut">
              <a:rPr lang="ko-KR" altLang="en-US" smtClean="0"/>
              <a:t>2021-01-12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9EDB04-CB1F-47F5-A69B-5C85CBE1B7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5334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oleObject" Target="../embeddings/oleObject2.bin"/><Relationship Id="rId7" Type="http://schemas.openxmlformats.org/officeDocument/2006/relationships/image" Target="../media/image8.wmf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6.png"/><Relationship Id="rId4" Type="http://schemas.openxmlformats.org/officeDocument/2006/relationships/image" Target="../media/image7.wmf"/><Relationship Id="rId9" Type="http://schemas.openxmlformats.org/officeDocument/2006/relationships/image" Target="../media/image9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8.wmf"/><Relationship Id="rId4" Type="http://schemas.openxmlformats.org/officeDocument/2006/relationships/oleObject" Target="../embeddings/oleObject5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.bin"/><Relationship Id="rId13" Type="http://schemas.openxmlformats.org/officeDocument/2006/relationships/image" Target="../media/image13.wmf"/><Relationship Id="rId3" Type="http://schemas.openxmlformats.org/officeDocument/2006/relationships/image" Target="../media/image6.png"/><Relationship Id="rId7" Type="http://schemas.openxmlformats.org/officeDocument/2006/relationships/image" Target="../media/image11.wmf"/><Relationship Id="rId12" Type="http://schemas.openxmlformats.org/officeDocument/2006/relationships/oleObject" Target="../embeddings/oleObject10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7.bin"/><Relationship Id="rId11" Type="http://schemas.openxmlformats.org/officeDocument/2006/relationships/image" Target="../media/image12.wmf"/><Relationship Id="rId5" Type="http://schemas.openxmlformats.org/officeDocument/2006/relationships/image" Target="../media/image10.wmf"/><Relationship Id="rId10" Type="http://schemas.openxmlformats.org/officeDocument/2006/relationships/oleObject" Target="../embeddings/oleObject9.bin"/><Relationship Id="rId4" Type="http://schemas.openxmlformats.org/officeDocument/2006/relationships/oleObject" Target="../embeddings/oleObject6.bin"/><Relationship Id="rId9" Type="http://schemas.openxmlformats.org/officeDocument/2006/relationships/image" Target="../media/image7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4.wmf"/><Relationship Id="rId4" Type="http://schemas.openxmlformats.org/officeDocument/2006/relationships/oleObject" Target="../embeddings/oleObject11.bin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7" Type="http://schemas.openxmlformats.org/officeDocument/2006/relationships/image" Target="../media/image2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13.bin"/><Relationship Id="rId5" Type="http://schemas.openxmlformats.org/officeDocument/2006/relationships/image" Target="../media/image21.wmf"/><Relationship Id="rId4" Type="http://schemas.openxmlformats.org/officeDocument/2006/relationships/oleObject" Target="../embeddings/oleObject12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.bin"/><Relationship Id="rId3" Type="http://schemas.openxmlformats.org/officeDocument/2006/relationships/image" Target="NULL"/><Relationship Id="rId7" Type="http://schemas.openxmlformats.org/officeDocument/2006/relationships/image" Target="../media/image24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15.bin"/><Relationship Id="rId5" Type="http://schemas.openxmlformats.org/officeDocument/2006/relationships/image" Target="../media/image23.wmf"/><Relationship Id="rId4" Type="http://schemas.openxmlformats.org/officeDocument/2006/relationships/oleObject" Target="../embeddings/oleObject14.bin"/><Relationship Id="rId9" Type="http://schemas.openxmlformats.org/officeDocument/2006/relationships/image" Target="../media/image25.w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27.wmf"/><Relationship Id="rId5" Type="http://schemas.openxmlformats.org/officeDocument/2006/relationships/oleObject" Target="../embeddings/oleObject18.bin"/><Relationship Id="rId4" Type="http://schemas.openxmlformats.org/officeDocument/2006/relationships/image" Target="../media/image26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.bin"/><Relationship Id="rId3" Type="http://schemas.openxmlformats.org/officeDocument/2006/relationships/oleObject" Target="../embeddings/oleObject19.bin"/><Relationship Id="rId7" Type="http://schemas.openxmlformats.org/officeDocument/2006/relationships/oleObject" Target="../embeddings/oleObject2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29.wmf"/><Relationship Id="rId5" Type="http://schemas.openxmlformats.org/officeDocument/2006/relationships/oleObject" Target="../embeddings/oleObject20.bin"/><Relationship Id="rId4" Type="http://schemas.openxmlformats.org/officeDocument/2006/relationships/image" Target="../media/image28.wmf"/><Relationship Id="rId9" Type="http://schemas.openxmlformats.org/officeDocument/2006/relationships/image" Target="../media/image30.w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2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4" name="Picture 4" descr="galois에 대한 이미지 검색결과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2738" y="1795368"/>
            <a:ext cx="2995951" cy="4314170"/>
          </a:xfrm>
          <a:prstGeom prst="rect">
            <a:avLst/>
          </a:prstGeom>
          <a:noFill/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2" name="Picture 2" descr="관련 이미지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945" y="4332539"/>
            <a:ext cx="4686202" cy="19682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982267"/>
            <a:ext cx="9144000" cy="1179679"/>
          </a:xfrm>
        </p:spPr>
        <p:txBody>
          <a:bodyPr>
            <a:normAutofit/>
          </a:bodyPr>
          <a:lstStyle/>
          <a:p>
            <a:r>
              <a:rPr lang="en-US" altLang="ko-KR" dirty="0" smtClean="0"/>
              <a:t>Number theory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4491203"/>
            <a:ext cx="9144000" cy="1271337"/>
          </a:xfrm>
        </p:spPr>
        <p:txBody>
          <a:bodyPr/>
          <a:lstStyle/>
          <a:p>
            <a:r>
              <a:rPr lang="en-US" altLang="ko-KR" dirty="0" smtClean="0"/>
              <a:t>Doug Young Suh</a:t>
            </a:r>
          </a:p>
          <a:p>
            <a:r>
              <a:rPr lang="en-US" altLang="ko-KR" dirty="0" smtClean="0"/>
              <a:t>Nov. 22, 2019</a:t>
            </a:r>
            <a:endParaRPr lang="ko-KR" altLang="en-US" dirty="0"/>
          </a:p>
        </p:txBody>
      </p:sp>
      <p:sp>
        <p:nvSpPr>
          <p:cNvPr id="4" name="제목 1"/>
          <p:cNvSpPr txBox="1">
            <a:spLocks/>
          </p:cNvSpPr>
          <p:nvPr/>
        </p:nvSpPr>
        <p:spPr>
          <a:xfrm>
            <a:off x="2809454" y="2542032"/>
            <a:ext cx="5823284" cy="141042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857250" indent="-857250" algn="l">
              <a:buFont typeface="Arial" panose="020B0604020202020204" pitchFamily="34" charset="0"/>
              <a:buChar char="•"/>
            </a:pPr>
            <a:r>
              <a:rPr lang="en-US" altLang="ko-KR" sz="3200" dirty="0" smtClean="0"/>
              <a:t>Galois field (GF)</a:t>
            </a:r>
          </a:p>
          <a:p>
            <a:pPr marL="857250" indent="-857250" algn="l">
              <a:buFont typeface="Arial" panose="020B0604020202020204" pitchFamily="34" charset="0"/>
              <a:buChar char="•"/>
            </a:pPr>
            <a:r>
              <a:rPr lang="en-US" altLang="ko-KR" sz="3200" dirty="0" smtClean="0"/>
              <a:t>Hash</a:t>
            </a:r>
            <a:r>
              <a:rPr lang="ko-KR" altLang="en-US" sz="3200" dirty="0" smtClean="0"/>
              <a:t> </a:t>
            </a:r>
            <a:r>
              <a:rPr lang="en-US" altLang="ko-KR" sz="3200" dirty="0" smtClean="0"/>
              <a:t>code</a:t>
            </a:r>
          </a:p>
          <a:p>
            <a:pPr marL="857250" indent="-857250" algn="l">
              <a:buFont typeface="Arial" panose="020B0604020202020204" pitchFamily="34" charset="0"/>
              <a:buChar char="•"/>
            </a:pPr>
            <a:r>
              <a:rPr lang="en-US" altLang="ko-KR" sz="3200" dirty="0" smtClean="0"/>
              <a:t>Packet loss recovery</a:t>
            </a:r>
            <a:endParaRPr lang="ko-KR" altLang="en-US" sz="3200" dirty="0"/>
          </a:p>
        </p:txBody>
      </p:sp>
      <p:sp>
        <p:nvSpPr>
          <p:cNvPr id="7" name="직사각형 6"/>
          <p:cNvSpPr/>
          <p:nvPr/>
        </p:nvSpPr>
        <p:spPr>
          <a:xfrm>
            <a:off x="2491046" y="5981536"/>
            <a:ext cx="17459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 err="1" smtClean="0"/>
              <a:t>마방진</a:t>
            </a:r>
            <a:r>
              <a:rPr lang="en-US" altLang="ko-KR" dirty="0" smtClean="0"/>
              <a:t> BC2200</a:t>
            </a:r>
            <a:endParaRPr lang="ko-KR" altLang="en-US" dirty="0"/>
          </a:p>
        </p:txBody>
      </p:sp>
      <p:sp>
        <p:nvSpPr>
          <p:cNvPr id="10" name="직사각형 9"/>
          <p:cNvSpPr/>
          <p:nvPr/>
        </p:nvSpPr>
        <p:spPr>
          <a:xfrm>
            <a:off x="9450879" y="5985802"/>
            <a:ext cx="13596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smtClean="0"/>
              <a:t>1811~1831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26405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533541"/>
            <a:ext cx="10515600" cy="757093"/>
          </a:xfrm>
        </p:spPr>
        <p:txBody>
          <a:bodyPr/>
          <a:lstStyle/>
          <a:p>
            <a:r>
              <a:rPr lang="en-US" altLang="ko-KR" dirty="0" smtClean="0"/>
              <a:t>Field 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960474"/>
                <a:ext cx="10354056" cy="4395876"/>
              </a:xfrm>
            </p:spPr>
            <p:txBody>
              <a:bodyPr>
                <a:normAutofit fontScale="92500"/>
              </a:bodyPr>
              <a:lstStyle/>
              <a:p>
                <a:pPr marL="342900" indent="-342900">
                  <a:lnSpc>
                    <a:spcPct val="120000"/>
                  </a:lnSpc>
                </a:pPr>
                <a:r>
                  <a:rPr lang="en-US" altLang="ko-KR" b="1" dirty="0" smtClean="0"/>
                  <a:t>Positive integers F </a:t>
                </a:r>
                <a:r>
                  <a:rPr lang="en-US" altLang="ko-KR" dirty="0"/>
                  <a:t>are </a:t>
                </a:r>
                <a:r>
                  <a:rPr lang="en-US" altLang="ko-KR" dirty="0" smtClean="0"/>
                  <a:t>a closed set w.r.t</a:t>
                </a:r>
                <a:r>
                  <a:rPr lang="en-US" altLang="ko-KR" dirty="0"/>
                  <a:t>. + and * operations,    not closed w.r.t. – and / operations</a:t>
                </a:r>
                <a:r>
                  <a:rPr lang="en-US" altLang="ko-KR" dirty="0" smtClean="0"/>
                  <a:t>.</a:t>
                </a:r>
              </a:p>
              <a:p>
                <a:pPr marL="800100" lvl="1" indent="-342900">
                  <a:lnSpc>
                    <a:spcPct val="120000"/>
                  </a:lnSpc>
                </a:pPr>
                <a:r>
                  <a:rPr lang="en-US" altLang="ko-KR" dirty="0" smtClean="0"/>
                  <a:t>5∈F </a:t>
                </a:r>
                <a:r>
                  <a:rPr lang="en-US" altLang="ko-KR" dirty="0"/>
                  <a:t>and </a:t>
                </a:r>
                <a:r>
                  <a:rPr lang="en-US" altLang="ko-KR" dirty="0" smtClean="0"/>
                  <a:t>7∈F, but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5−7∉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   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   5/7</m:t>
                    </m:r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∉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ko-KR" dirty="0"/>
              </a:p>
              <a:p>
                <a:pPr marL="914400" lvl="1" indent="-457200">
                  <a:lnSpc>
                    <a:spcPct val="120000"/>
                  </a:lnSpc>
                </a:pPr>
                <a:r>
                  <a:rPr lang="en-US" altLang="ko-KR" dirty="0"/>
                  <a:t>Number of </a:t>
                </a:r>
                <a:r>
                  <a:rPr lang="en-US" altLang="ko-KR" dirty="0" smtClean="0"/>
                  <a:t>elements </a:t>
                </a:r>
                <a:r>
                  <a:rPr lang="en-US" altLang="ko-KR" dirty="0"/>
                  <a:t>is infinite.</a:t>
                </a:r>
              </a:p>
              <a:p>
                <a:pPr marL="457200" indent="-457200">
                  <a:lnSpc>
                    <a:spcPct val="120000"/>
                  </a:lnSpc>
                </a:pPr>
                <a:r>
                  <a:rPr lang="en-US" altLang="ko-KR" dirty="0"/>
                  <a:t>We need a closed set of finite number of elements</a:t>
                </a:r>
                <a:r>
                  <a:rPr lang="en-US" altLang="ko-KR" dirty="0" smtClean="0"/>
                  <a:t>.</a:t>
                </a:r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960474"/>
                <a:ext cx="10354056" cy="4395876"/>
              </a:xfrm>
              <a:blipFill rotWithShape="0">
                <a:blip r:embed="rId2"/>
                <a:stretch>
                  <a:fillRect l="-942" t="-55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12444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760311"/>
            <a:ext cx="10515600" cy="757093"/>
          </a:xfrm>
        </p:spPr>
        <p:txBody>
          <a:bodyPr>
            <a:normAutofit/>
          </a:bodyPr>
          <a:lstStyle/>
          <a:p>
            <a:r>
              <a:rPr lang="en-US" altLang="ko-KR" dirty="0" smtClean="0"/>
              <a:t>GF(2), Galois Field (2) 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14169"/>
            <a:ext cx="10354056" cy="4271518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20000"/>
              </a:lnSpc>
            </a:pPr>
            <a:r>
              <a:rPr lang="en-US" altLang="ko-KR" dirty="0" smtClean="0"/>
              <a:t>Closed </a:t>
            </a:r>
            <a:r>
              <a:rPr lang="en-US" altLang="ko-KR" dirty="0"/>
              <a:t>in [0, 1] w.r.t. + and * </a:t>
            </a:r>
            <a:r>
              <a:rPr lang="en-US" altLang="ko-KR" dirty="0" smtClean="0"/>
              <a:t>operations with f(X)=X+1.</a:t>
            </a:r>
            <a:endParaRPr lang="en-US" altLang="ko-KR" dirty="0"/>
          </a:p>
          <a:p>
            <a:pPr marL="457200" indent="-457200">
              <a:lnSpc>
                <a:spcPct val="120000"/>
              </a:lnSpc>
            </a:pPr>
            <a:endParaRPr lang="en-US" altLang="ko-KR" dirty="0"/>
          </a:p>
          <a:p>
            <a:pPr>
              <a:lnSpc>
                <a:spcPct val="120000"/>
              </a:lnSpc>
            </a:pPr>
            <a:endParaRPr lang="ko-KR" altLang="en-US" dirty="0"/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7507970"/>
              </p:ext>
            </p:extLst>
          </p:nvPr>
        </p:nvGraphicFramePr>
        <p:xfrm>
          <a:off x="2547723" y="3651232"/>
          <a:ext cx="1781049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3683"/>
                <a:gridCol w="593683"/>
                <a:gridCol w="593683"/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>
                          <a:solidFill>
                            <a:schemeClr val="tx1"/>
                          </a:solidFill>
                        </a:rPr>
                        <a:t>XOR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6130593"/>
              </p:ext>
            </p:extLst>
          </p:nvPr>
        </p:nvGraphicFramePr>
        <p:xfrm>
          <a:off x="6430875" y="3651232"/>
          <a:ext cx="1781049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3683"/>
                <a:gridCol w="593683"/>
                <a:gridCol w="593683"/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>
                          <a:solidFill>
                            <a:schemeClr val="tx1"/>
                          </a:solidFill>
                        </a:rPr>
                        <a:t>AND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86763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7182" y="2003669"/>
            <a:ext cx="5006310" cy="2816050"/>
          </a:xfrm>
          <a:prstGeom prst="rect">
            <a:avLst/>
          </a:prstGeom>
          <a:effectLst>
            <a:softEdge rad="127000"/>
          </a:effectLst>
        </p:spPr>
      </p:pic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838199" y="632721"/>
            <a:ext cx="10515600" cy="826366"/>
          </a:xfrm>
        </p:spPr>
        <p:txBody>
          <a:bodyPr/>
          <a:lstStyle/>
          <a:p>
            <a:pPr algn="l"/>
            <a:r>
              <a:rPr lang="en-US" altLang="ko-KR" dirty="0" smtClean="0"/>
              <a:t>GF(2</a:t>
            </a:r>
            <a:r>
              <a:rPr lang="en-US" altLang="ko-KR" baseline="30000" dirty="0" smtClean="0"/>
              <a:t>3</a:t>
            </a:r>
            <a:r>
              <a:rPr lang="en-US" altLang="ko-KR" dirty="0" smtClean="0"/>
              <a:t>)        (1)</a:t>
            </a:r>
          </a:p>
        </p:txBody>
      </p:sp>
      <p:sp>
        <p:nvSpPr>
          <p:cNvPr id="7172" name="Rectangle 5"/>
          <p:cNvSpPr>
            <a:spLocks noChangeArrowheads="1"/>
          </p:cNvSpPr>
          <p:nvPr/>
        </p:nvSpPr>
        <p:spPr bwMode="auto">
          <a:xfrm>
            <a:off x="1524001" y="2344222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Clr>
                <a:schemeClr val="tx1"/>
              </a:buClr>
              <a:buSzPct val="100000"/>
              <a:buBlip>
                <a:blip r:embed="rId4"/>
              </a:buBlip>
              <a:defRPr sz="320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 panose="020B0604020202020204" pitchFamily="34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tx1"/>
              </a:buClr>
              <a:buSzPct val="100000"/>
              <a:buBlip>
                <a:blip r:embed="rId4"/>
              </a:buBlip>
              <a:defRPr sz="280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 panose="020B0604020202020204" pitchFamily="34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tx1"/>
              </a:buClr>
              <a:buSzPct val="100000"/>
              <a:buBlip>
                <a:blip r:embed="rId4"/>
              </a:buBlip>
              <a:defRPr sz="240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 panose="020B0604020202020204" pitchFamily="34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tx1"/>
              </a:buClr>
              <a:buSzPct val="100000"/>
              <a:buBlip>
                <a:blip r:embed="rId4"/>
              </a:buBlip>
              <a:defRPr sz="240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 panose="020B0604020202020204" pitchFamily="34" charset="0"/>
              </a:defRPr>
            </a:lvl4pPr>
            <a:lvl5pPr marL="2057400" indent="-228600" latinLnBrk="1">
              <a:spcBef>
                <a:spcPct val="20000"/>
              </a:spcBef>
              <a:buClr>
                <a:schemeClr val="tx1"/>
              </a:buClr>
              <a:buSzPct val="100000"/>
              <a:buBlip>
                <a:blip r:embed="rId4"/>
              </a:buBlip>
              <a:defRPr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Blip>
                <a:blip r:embed="rId4"/>
              </a:buBlip>
              <a:defRPr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Blip>
                <a:blip r:embed="rId4"/>
              </a:buBlip>
              <a:defRPr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Blip>
                <a:blip r:embed="rId4"/>
              </a:buBlip>
              <a:defRPr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Blip>
                <a:blip r:embed="rId4"/>
              </a:buBlip>
              <a:defRPr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ko-KR" altLang="en-US" sz="180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033" name="Rectangle 8"/>
          <p:cNvSpPr>
            <a:spLocks noChangeArrowheads="1"/>
          </p:cNvSpPr>
          <p:nvPr/>
        </p:nvSpPr>
        <p:spPr bwMode="auto">
          <a:xfrm>
            <a:off x="721895" y="1934976"/>
            <a:ext cx="8221579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ko-KR" sz="2800" dirty="0" smtClean="0"/>
              <a:t>Closed </a:t>
            </a:r>
            <a:r>
              <a:rPr lang="en-US" altLang="ko-KR" sz="2800" dirty="0"/>
              <a:t>in [</a:t>
            </a:r>
            <a:r>
              <a:rPr lang="en-US" altLang="ko-KR" sz="2800" dirty="0" smtClean="0"/>
              <a:t>0~7] </a:t>
            </a:r>
            <a:r>
              <a:rPr lang="en-US" altLang="ko-KR" sz="2800" dirty="0"/>
              <a:t>w.r.t. + and </a:t>
            </a:r>
            <a:r>
              <a:rPr lang="en-US" altLang="ko-KR" sz="2800" dirty="0" smtClean="0"/>
              <a:t>* operations.</a:t>
            </a:r>
          </a:p>
        </p:txBody>
      </p:sp>
      <p:graphicFrame>
        <p:nvGraphicFramePr>
          <p:cNvPr id="717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375029"/>
              </p:ext>
            </p:extLst>
          </p:nvPr>
        </p:nvGraphicFramePr>
        <p:xfrm>
          <a:off x="2894857" y="4941152"/>
          <a:ext cx="4968875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6" name="Equation" r:id="rId5" imgW="2590800" imgH="228600" progId="Equation.3">
                  <p:embed/>
                </p:oleObj>
              </mc:Choice>
              <mc:Fallback>
                <p:oleObj name="Equation" r:id="rId5" imgW="25908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4857" y="4941152"/>
                        <a:ext cx="4968875" cy="438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직사각형 3"/>
          <p:cNvSpPr/>
          <p:nvPr/>
        </p:nvSpPr>
        <p:spPr>
          <a:xfrm>
            <a:off x="1350287" y="3519028"/>
            <a:ext cx="308914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2800" dirty="0">
                <a:ea typeface="굴림" charset="-127"/>
                <a:cs typeface="Times New Roman" pitchFamily="18" charset="0"/>
              </a:rPr>
              <a:t>Primitive function </a:t>
            </a:r>
            <a:endParaRPr lang="en-US" altLang="ko-KR" sz="2800" dirty="0">
              <a:ea typeface="굴림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2771112" y="4264499"/>
                <a:ext cx="5932885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=1+</m:t>
                      </m:r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  1+</m:t>
                      </m:r>
                      <m:sSup>
                        <m:sSupPr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1112" y="4264499"/>
                <a:ext cx="5932885" cy="430887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3202119" y="5717062"/>
                <a:ext cx="3840361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𝑇h𝑒𝑛</m:t>
                      </m:r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,  </m:t>
                      </m:r>
                      <m:sSup>
                        <m:sSupPr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p>
                      </m:sSup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2119" y="5717062"/>
                <a:ext cx="3840361" cy="430887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43684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64669"/>
            <a:ext cx="10515600" cy="826366"/>
          </a:xfrm>
        </p:spPr>
        <p:txBody>
          <a:bodyPr/>
          <a:lstStyle/>
          <a:p>
            <a:pPr algn="l"/>
            <a:r>
              <a:rPr lang="en-US" altLang="ko-KR" dirty="0" smtClean="0"/>
              <a:t>GF(2</a:t>
            </a:r>
            <a:r>
              <a:rPr lang="en-US" altLang="ko-KR" baseline="30000" dirty="0" smtClean="0"/>
              <a:t>3</a:t>
            </a:r>
            <a:r>
              <a:rPr lang="en-US" altLang="ko-KR" dirty="0" smtClean="0"/>
              <a:t>)        (2)</a:t>
            </a:r>
          </a:p>
        </p:txBody>
      </p:sp>
      <p:graphicFrame>
        <p:nvGraphicFramePr>
          <p:cNvPr id="7171" name="Object 2"/>
          <p:cNvGraphicFramePr>
            <a:graphicFrameLocks noGrp="1" noChangeAspect="1"/>
          </p:cNvGraphicFramePr>
          <p:nvPr>
            <p:ph sz="half" idx="1"/>
          </p:nvPr>
        </p:nvGraphicFramePr>
        <p:xfrm>
          <a:off x="2279651" y="3143250"/>
          <a:ext cx="3343275" cy="573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1" name="Equation" r:id="rId3" imgW="1333500" imgH="228600" progId="Equation.3">
                  <p:embed/>
                </p:oleObj>
              </mc:Choice>
              <mc:Fallback>
                <p:oleObj name="Equation" r:id="rId3" imgW="13335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9651" y="3143250"/>
                        <a:ext cx="3343275" cy="573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2" name="Rectangle 5"/>
          <p:cNvSpPr>
            <a:spLocks noChangeArrowheads="1"/>
          </p:cNvSpPr>
          <p:nvPr/>
        </p:nvSpPr>
        <p:spPr bwMode="auto">
          <a:xfrm>
            <a:off x="1524001" y="2344222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Clr>
                <a:schemeClr val="tx1"/>
              </a:buClr>
              <a:buSzPct val="100000"/>
              <a:buBlip>
                <a:blip r:embed="rId5"/>
              </a:buBlip>
              <a:defRPr sz="320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 panose="020B0604020202020204" pitchFamily="34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tx1"/>
              </a:buClr>
              <a:buSzPct val="100000"/>
              <a:buBlip>
                <a:blip r:embed="rId5"/>
              </a:buBlip>
              <a:defRPr sz="280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 panose="020B0604020202020204" pitchFamily="34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tx1"/>
              </a:buClr>
              <a:buSzPct val="100000"/>
              <a:buBlip>
                <a:blip r:embed="rId5"/>
              </a:buBlip>
              <a:defRPr sz="240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 panose="020B0604020202020204" pitchFamily="34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tx1"/>
              </a:buClr>
              <a:buSzPct val="100000"/>
              <a:buBlip>
                <a:blip r:embed="rId5"/>
              </a:buBlip>
              <a:defRPr sz="240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 panose="020B0604020202020204" pitchFamily="34" charset="0"/>
              </a:defRPr>
            </a:lvl4pPr>
            <a:lvl5pPr marL="2057400" indent="-228600" latinLnBrk="1">
              <a:spcBef>
                <a:spcPct val="20000"/>
              </a:spcBef>
              <a:buClr>
                <a:schemeClr val="tx1"/>
              </a:buClr>
              <a:buSzPct val="100000"/>
              <a:buBlip>
                <a:blip r:embed="rId5"/>
              </a:buBlip>
              <a:defRPr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Blip>
                <a:blip r:embed="rId5"/>
              </a:buBlip>
              <a:defRPr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Blip>
                <a:blip r:embed="rId5"/>
              </a:buBlip>
              <a:defRPr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Blip>
                <a:blip r:embed="rId5"/>
              </a:buBlip>
              <a:defRPr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Blip>
                <a:blip r:embed="rId5"/>
              </a:buBlip>
              <a:defRPr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ko-KR" altLang="en-US" sz="180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graphicFrame>
        <p:nvGraphicFramePr>
          <p:cNvPr id="717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5718266"/>
              </p:ext>
            </p:extLst>
          </p:nvPr>
        </p:nvGraphicFramePr>
        <p:xfrm>
          <a:off x="7506536" y="2040732"/>
          <a:ext cx="2422525" cy="3694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2" name="Equation" r:id="rId6" imgW="1181100" imgH="1803400" progId="Equation.3">
                  <p:embed/>
                </p:oleObj>
              </mc:Choice>
              <mc:Fallback>
                <p:oleObj name="Equation" r:id="rId6" imgW="1181100" imgH="1803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06536" y="2040732"/>
                        <a:ext cx="2422525" cy="3694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3" name="Rectangle 8"/>
          <p:cNvSpPr>
            <a:spLocks noChangeArrowheads="1"/>
          </p:cNvSpPr>
          <p:nvPr/>
        </p:nvSpPr>
        <p:spPr bwMode="auto">
          <a:xfrm>
            <a:off x="1297781" y="2243644"/>
            <a:ext cx="5515769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eaLnBrk="1" latinLnBrk="1" hangingPunct="1">
              <a:defRPr/>
            </a:pPr>
            <a:r>
              <a:rPr lang="en-US" altLang="ko-KR" sz="3200" dirty="0" smtClean="0">
                <a:ea typeface="굴림" charset="-127"/>
                <a:cs typeface="Times New Roman" pitchFamily="18" charset="0"/>
              </a:rPr>
              <a:t>Let the primitive function as, </a:t>
            </a:r>
            <a:endParaRPr lang="en-US" altLang="ko-KR" sz="3200" dirty="0">
              <a:ea typeface="굴림" charset="-127"/>
            </a:endParaRPr>
          </a:p>
        </p:txBody>
      </p:sp>
      <p:sp>
        <p:nvSpPr>
          <p:cNvPr id="7176" name="Rectangle 9"/>
          <p:cNvSpPr>
            <a:spLocks noChangeArrowheads="1"/>
          </p:cNvSpPr>
          <p:nvPr/>
        </p:nvSpPr>
        <p:spPr bwMode="auto">
          <a:xfrm>
            <a:off x="4800600" y="3643314"/>
            <a:ext cx="20129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Clr>
                <a:schemeClr val="tx1"/>
              </a:buClr>
              <a:buSzPct val="100000"/>
              <a:buBlip>
                <a:blip r:embed="rId5"/>
              </a:buBlip>
              <a:defRPr sz="320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 panose="020B0604020202020204" pitchFamily="34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tx1"/>
              </a:buClr>
              <a:buSzPct val="100000"/>
              <a:buBlip>
                <a:blip r:embed="rId5"/>
              </a:buBlip>
              <a:defRPr sz="280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 panose="020B0604020202020204" pitchFamily="34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tx1"/>
              </a:buClr>
              <a:buSzPct val="100000"/>
              <a:buBlip>
                <a:blip r:embed="rId5"/>
              </a:buBlip>
              <a:defRPr sz="240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 panose="020B0604020202020204" pitchFamily="34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tx1"/>
              </a:buClr>
              <a:buSzPct val="100000"/>
              <a:buBlip>
                <a:blip r:embed="rId5"/>
              </a:buBlip>
              <a:defRPr sz="240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 panose="020B0604020202020204" pitchFamily="34" charset="0"/>
              </a:defRPr>
            </a:lvl4pPr>
            <a:lvl5pPr marL="2057400" indent="-228600" latinLnBrk="1">
              <a:spcBef>
                <a:spcPct val="20000"/>
              </a:spcBef>
              <a:buClr>
                <a:schemeClr val="tx1"/>
              </a:buClr>
              <a:buSzPct val="100000"/>
              <a:buBlip>
                <a:blip r:embed="rId5"/>
              </a:buBlip>
              <a:defRPr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Blip>
                <a:blip r:embed="rId5"/>
              </a:buBlip>
              <a:defRPr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Blip>
                <a:blip r:embed="rId5"/>
              </a:buBlip>
              <a:defRPr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Blip>
                <a:blip r:embed="rId5"/>
              </a:buBlip>
              <a:defRPr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Blip>
                <a:blip r:embed="rId5"/>
              </a:buBlip>
              <a:defRPr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000">
                <a:solidFill>
                  <a:schemeClr val="tx1"/>
                </a:solidFill>
                <a:latin typeface="바탕" panose="02030600000101010101" pitchFamily="18" charset="-127"/>
                <a:ea typeface="굴림" panose="020B0600000101010101" pitchFamily="50" charset="-127"/>
                <a:cs typeface="Times New Roman" panose="02020603050405020304" pitchFamily="18" charset="0"/>
              </a:rPr>
              <a:t>		</a:t>
            </a:r>
            <a:endParaRPr lang="en-US" altLang="ko-KR" sz="180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  <a:cs typeface="Times New Roman" panose="02020603050405020304" pitchFamily="18" charset="0"/>
            </a:endParaRPr>
          </a:p>
        </p:txBody>
      </p:sp>
      <p:graphicFrame>
        <p:nvGraphicFramePr>
          <p:cNvPr id="7178" name="Object 6"/>
          <p:cNvGraphicFramePr>
            <a:graphicFrameLocks noGrp="1" noChangeAspect="1"/>
          </p:cNvGraphicFramePr>
          <p:nvPr>
            <p:ph sz="half" idx="2"/>
          </p:nvPr>
        </p:nvGraphicFramePr>
        <p:xfrm>
          <a:off x="1743075" y="4100513"/>
          <a:ext cx="4567238" cy="614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3" name="Equation" r:id="rId8" imgW="1701800" imgH="228600" progId="Equation.3">
                  <p:embed/>
                </p:oleObj>
              </mc:Choice>
              <mc:Fallback>
                <p:oleObj name="Equation" r:id="rId8" imgW="17018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3075" y="4100513"/>
                        <a:ext cx="4567238" cy="614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76094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9117074" y="1565452"/>
            <a:ext cx="2435962" cy="369417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199" y="557585"/>
            <a:ext cx="10515600" cy="826366"/>
          </a:xfrm>
        </p:spPr>
        <p:txBody>
          <a:bodyPr/>
          <a:lstStyle/>
          <a:p>
            <a:r>
              <a:rPr lang="en-US" altLang="ko-KR" dirty="0"/>
              <a:t>GF(2</a:t>
            </a:r>
            <a:r>
              <a:rPr lang="en-US" altLang="ko-KR" baseline="30000" dirty="0"/>
              <a:t>3</a:t>
            </a:r>
            <a:r>
              <a:rPr lang="en-US" altLang="ko-KR" dirty="0" smtClean="0"/>
              <a:t>): </a:t>
            </a:r>
            <a:r>
              <a:rPr lang="en-US" altLang="ko-KR" dirty="0"/>
              <a:t>2 </a:t>
            </a:r>
            <a:r>
              <a:rPr lang="en-US" altLang="ko-KR" dirty="0" smtClean="0"/>
              <a:t>operations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199" y="1825625"/>
                <a:ext cx="8589885" cy="4351338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sup>
                    </m:sSup>
                  </m:oMath>
                </a14:m>
                <a:r>
                  <a:rPr lang="ko-KR" altLang="en-US" dirty="0" smtClean="0"/>
                  <a:t>  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b="0" i="0" smtClean="0"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sup>
                    </m:sSup>
                  </m:oMath>
                </a14:m>
                <a:endParaRPr lang="en-US" altLang="ko-KR" dirty="0" smtClean="0"/>
              </a:p>
              <a:p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→  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ko-KR" dirty="0" smtClean="0"/>
                  <a:t>^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altLang="ko-KR" dirty="0" smtClean="0"/>
                  <a:t>;  // XOR</a:t>
                </a:r>
              </a:p>
              <a:p>
                <a:pPr lvl="1"/>
                <a:r>
                  <a:rPr lang="en-US" altLang="ko-KR" dirty="0" smtClean="0"/>
                  <a:t>6+7 = 1 =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6−7</m:t>
                    </m:r>
                  </m:oMath>
                </a14:m>
                <a:r>
                  <a:rPr lang="en-US" altLang="ko-KR" dirty="0" smtClean="0"/>
                  <a:t>  </a:t>
                </a:r>
                <a:r>
                  <a:rPr lang="en-US" altLang="ko-KR" dirty="0" smtClean="0">
                    <a:sym typeface="Wingdings" panose="05000000000000000000" pitchFamily="2" charset="2"/>
                  </a:rPr>
                  <a:t>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(</m:t>
                        </m:r>
                        <m:r>
                          <a:rPr lang="ko-KR" altLang="en-US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𝛼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p>
                    </m:sSup>
                    <m:r>
                      <a:rPr lang="en-US" altLang="ko-KR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+</m:t>
                    </m:r>
                    <m:r>
                      <a:rPr lang="ko-KR" altLang="en-US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𝛼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)+</m:t>
                    </m:r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(</m:t>
                        </m:r>
                        <m:r>
                          <a:rPr lang="ko-KR" altLang="en-US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𝛼</m:t>
                        </m:r>
                      </m:e>
                      <m:sup>
                        <m: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p>
                    </m:sSup>
                    <m:r>
                      <a:rPr lang="en-US" altLang="ko-KR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+</m:t>
                    </m:r>
                    <m:r>
                      <a:rPr lang="ko-KR" altLang="en-US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𝛼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+1</m:t>
                    </m:r>
                    <m:r>
                      <a:rPr lang="en-US" altLang="ko-KR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)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=1</m:t>
                    </m:r>
                  </m:oMath>
                </a14:m>
                <a:endParaRPr lang="en-US" altLang="ko-KR" dirty="0" smtClean="0"/>
              </a:p>
              <a:p>
                <a:pPr lvl="1"/>
                <a:r>
                  <a:rPr lang="en-US" altLang="ko-KR" dirty="0" smtClean="0"/>
                  <a:t>3+7 = 4 = </a:t>
                </a:r>
                <a14:m>
                  <m:oMath xmlns:m="http://schemas.openxmlformats.org/officeDocument/2006/math"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−7</m:t>
                    </m:r>
                  </m:oMath>
                </a14:m>
                <a:r>
                  <a:rPr lang="en-US" altLang="ko-KR" dirty="0" smtClean="0"/>
                  <a:t>  </a:t>
                </a:r>
                <a:r>
                  <a:rPr lang="en-US" altLang="ko-KR" dirty="0" smtClean="0">
                    <a:sym typeface="Wingdings" panose="05000000000000000000" pitchFamily="2" charset="2"/>
                  </a:rPr>
                  <a:t> </a:t>
                </a:r>
                <a:r>
                  <a:rPr lang="en-US" altLang="ko-KR" dirty="0" smtClean="0"/>
                  <a:t> (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𝛼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+1</m:t>
                    </m:r>
                    <m:r>
                      <a:rPr lang="en-US" altLang="ko-KR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)+</m:t>
                    </m:r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(</m:t>
                        </m:r>
                        <m:r>
                          <a:rPr lang="ko-KR" altLang="en-US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𝛼</m:t>
                        </m:r>
                      </m:e>
                      <m:sup>
                        <m: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p>
                    </m:sSup>
                    <m:r>
                      <a:rPr lang="en-US" altLang="ko-KR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+</m:t>
                    </m:r>
                    <m:r>
                      <a:rPr lang="ko-KR" altLang="en-US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𝛼</m:t>
                    </m:r>
                    <m:r>
                      <a:rPr lang="en-US" altLang="ko-KR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+1)=</m:t>
                    </m:r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ko-KR" altLang="en-US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𝛼</m:t>
                        </m:r>
                      </m:e>
                      <m:sup>
                        <m: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p>
                    </m:sSup>
                    <m:r>
                      <a:rPr lang="en-US" altLang="ko-KR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=4</m:t>
                    </m:r>
                  </m:oMath>
                </a14:m>
                <a:r>
                  <a:rPr lang="en-US" altLang="ko-KR" dirty="0" smtClean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d>
                          <m:d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sub>
                            </m:sSub>
                          </m:e>
                        </m:d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%7</m:t>
                        </m:r>
                      </m:sup>
                    </m:sSup>
                  </m:oMath>
                </a14:m>
                <a:r>
                  <a:rPr lang="en-US" altLang="ko-KR" dirty="0" smtClean="0"/>
                  <a:t> </a:t>
                </a:r>
                <a:endParaRPr lang="en-US" altLang="ko-KR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6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×7=4</m:t>
                    </m:r>
                  </m:oMath>
                </a14:m>
                <a:r>
                  <a:rPr lang="en-US" altLang="ko-KR" dirty="0">
                    <a:sym typeface="Wingdings" panose="05000000000000000000" pitchFamily="2" charset="2"/>
                  </a:rPr>
                  <a:t>   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ko-KR" altLang="en-US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𝛼</m:t>
                        </m:r>
                      </m:e>
                      <m:sup>
                        <m: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4</m:t>
                        </m:r>
                      </m:sup>
                    </m:sSup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ko-KR" altLang="en-US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𝛼</m:t>
                        </m:r>
                      </m:e>
                      <m:sup>
                        <m: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5</m:t>
                        </m:r>
                      </m:sup>
                    </m:sSup>
                    <m:r>
                      <a:rPr lang="en-US" altLang="ko-KR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ko-KR" altLang="en-US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𝛼</m:t>
                        </m:r>
                      </m:e>
                      <m:sup>
                        <m: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9</m:t>
                        </m:r>
                      </m:sup>
                    </m:sSup>
                    <m:r>
                      <a:rPr lang="en-US" altLang="ko-KR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ko-KR" altLang="en-US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𝛼</m:t>
                        </m:r>
                      </m:e>
                      <m:sup>
                        <m: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ko-KR" altLang="en-US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𝛼</m:t>
                        </m:r>
                      </m:e>
                      <m:sup>
                        <m: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7</m:t>
                        </m:r>
                      </m:sup>
                    </m:sSup>
                    <m:r>
                      <a:rPr lang="en-US" altLang="ko-KR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ko-KR" altLang="en-US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𝛼</m:t>
                        </m:r>
                      </m:e>
                      <m:sup>
                        <m: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p>
                    </m:sSup>
                    <m:r>
                      <a:rPr lang="en-US" altLang="ko-KR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=4</m:t>
                    </m:r>
                  </m:oMath>
                </a14:m>
                <a:r>
                  <a:rPr lang="en-US" altLang="ko-KR" dirty="0"/>
                  <a:t>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×7=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altLang="ko-KR" dirty="0">
                    <a:sym typeface="Wingdings" panose="05000000000000000000" pitchFamily="2" charset="2"/>
                  </a:rPr>
                  <a:t>   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ko-KR" altLang="en-US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𝛼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3</m:t>
                        </m:r>
                      </m:sup>
                    </m:sSup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ko-KR" altLang="en-US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𝛼</m:t>
                        </m:r>
                      </m:e>
                      <m:sup>
                        <m: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5</m:t>
                        </m:r>
                      </m:sup>
                    </m:sSup>
                    <m:r>
                      <a:rPr lang="en-US" altLang="ko-KR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ko-KR" altLang="en-US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𝛼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8</m:t>
                        </m:r>
                      </m:sup>
                    </m:sSup>
                    <m:r>
                      <a:rPr lang="en-US" altLang="ko-KR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ko-KR" altLang="en-US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𝛼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sup>
                    </m:sSup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ko-KR" altLang="en-US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𝛼</m:t>
                        </m:r>
                      </m:e>
                      <m:sup>
                        <m: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7</m:t>
                        </m:r>
                      </m:sup>
                    </m:sSup>
                    <m:r>
                      <a:rPr lang="en-US" altLang="ko-KR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ko-KR" altLang="en-US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𝛼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sup>
                    </m:sSup>
                    <m:r>
                      <a:rPr lang="en-US" altLang="ko-KR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2</m:t>
                    </m:r>
                  </m:oMath>
                </a14:m>
                <a:r>
                  <a:rPr lang="en-US" altLang="ko-KR" dirty="0"/>
                  <a:t> </a:t>
                </a:r>
              </a:p>
              <a:p>
                <a:pPr lvl="1"/>
                <a:endParaRPr lang="en-US" altLang="ko-KR" dirty="0" smtClean="0"/>
              </a:p>
              <a:p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199" y="1825625"/>
                <a:ext cx="8589885" cy="4351338"/>
              </a:xfr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9575686"/>
              </p:ext>
            </p:extLst>
          </p:nvPr>
        </p:nvGraphicFramePr>
        <p:xfrm>
          <a:off x="9130511" y="1514037"/>
          <a:ext cx="2422525" cy="3694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1" name="Equation" r:id="rId4" imgW="1181100" imgH="1803400" progId="Equation.3">
                  <p:embed/>
                </p:oleObj>
              </mc:Choice>
              <mc:Fallback>
                <p:oleObj name="Equation" r:id="rId4" imgW="1181100" imgH="1803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30511" y="1514037"/>
                        <a:ext cx="2422525" cy="3694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31467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007" y="377825"/>
            <a:ext cx="8912182" cy="582613"/>
          </a:xfrm>
        </p:spPr>
        <p:txBody>
          <a:bodyPr>
            <a:normAutofit fontScale="90000"/>
          </a:bodyPr>
          <a:lstStyle/>
          <a:p>
            <a:r>
              <a:rPr lang="en-US" altLang="ko-KR" dirty="0" smtClean="0"/>
              <a:t>GF(2</a:t>
            </a:r>
            <a:r>
              <a:rPr lang="en-US" altLang="ko-KR" baseline="30000" dirty="0" smtClean="0"/>
              <a:t>3</a:t>
            </a:r>
            <a:r>
              <a:rPr lang="en-US" altLang="ko-KR" dirty="0" smtClean="0"/>
              <a:t>) in 2 Operations                (3) 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981201" y="1214438"/>
            <a:ext cx="8329613" cy="533400"/>
          </a:xfrm>
        </p:spPr>
        <p:txBody>
          <a:bodyPr/>
          <a:lstStyle/>
          <a:p>
            <a:pPr algn="ctr">
              <a:buFontTx/>
              <a:buNone/>
            </a:pPr>
            <a:r>
              <a:rPr lang="en-US" altLang="ko-KR" smtClean="0"/>
              <a:t> Addition table         multiplication table</a:t>
            </a:r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Clr>
                <a:schemeClr val="tx1"/>
              </a:buClr>
              <a:buSzPct val="100000"/>
              <a:buBlip>
                <a:blip r:embed="rId3"/>
              </a:buBlip>
              <a:defRPr sz="320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 panose="020B0604020202020204" pitchFamily="34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tx1"/>
              </a:buClr>
              <a:buSzPct val="100000"/>
              <a:buBlip>
                <a:blip r:embed="rId3"/>
              </a:buBlip>
              <a:defRPr sz="280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 panose="020B0604020202020204" pitchFamily="34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tx1"/>
              </a:buClr>
              <a:buSzPct val="100000"/>
              <a:buBlip>
                <a:blip r:embed="rId3"/>
              </a:buBlip>
              <a:defRPr sz="240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 panose="020B0604020202020204" pitchFamily="34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tx1"/>
              </a:buClr>
              <a:buSzPct val="100000"/>
              <a:buBlip>
                <a:blip r:embed="rId3"/>
              </a:buBlip>
              <a:defRPr sz="240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 panose="020B0604020202020204" pitchFamily="34" charset="0"/>
              </a:defRPr>
            </a:lvl4pPr>
            <a:lvl5pPr marL="2057400" indent="-228600" latinLnBrk="1">
              <a:spcBef>
                <a:spcPct val="20000"/>
              </a:spcBef>
              <a:buClr>
                <a:schemeClr val="tx1"/>
              </a:buClr>
              <a:buSzPct val="100000"/>
              <a:buBlip>
                <a:blip r:embed="rId3"/>
              </a:buBlip>
              <a:defRPr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Blip>
                <a:blip r:embed="rId3"/>
              </a:buBlip>
              <a:defRPr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Blip>
                <a:blip r:embed="rId3"/>
              </a:buBlip>
              <a:defRPr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Blip>
                <a:blip r:embed="rId3"/>
              </a:buBlip>
              <a:defRPr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Blip>
                <a:blip r:embed="rId3"/>
              </a:buBlip>
              <a:defRPr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ko-KR" altLang="en-US" sz="180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graphicFrame>
        <p:nvGraphicFramePr>
          <p:cNvPr id="8197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7675475"/>
              </p:ext>
            </p:extLst>
          </p:nvPr>
        </p:nvGraphicFramePr>
        <p:xfrm>
          <a:off x="2135188" y="1963738"/>
          <a:ext cx="3492500" cy="2665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0" name="Equation" r:id="rId4" imgW="2400300" imgH="1828800" progId="Equation.3">
                  <p:embed/>
                </p:oleObj>
              </mc:Choice>
              <mc:Fallback>
                <p:oleObj name="Equation" r:id="rId4" imgW="2400300" imgH="1828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5188" y="1963738"/>
                        <a:ext cx="3492500" cy="2665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8" name="Rectangle 6"/>
          <p:cNvSpPr>
            <a:spLocks noChangeArrowheads="1"/>
          </p:cNvSpPr>
          <p:nvPr/>
        </p:nvSpPr>
        <p:spPr bwMode="auto">
          <a:xfrm>
            <a:off x="1524001" y="1944172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Clr>
                <a:schemeClr val="tx1"/>
              </a:buClr>
              <a:buSzPct val="100000"/>
              <a:buBlip>
                <a:blip r:embed="rId3"/>
              </a:buBlip>
              <a:defRPr sz="320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 panose="020B0604020202020204" pitchFamily="34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tx1"/>
              </a:buClr>
              <a:buSzPct val="100000"/>
              <a:buBlip>
                <a:blip r:embed="rId3"/>
              </a:buBlip>
              <a:defRPr sz="280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 panose="020B0604020202020204" pitchFamily="34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tx1"/>
              </a:buClr>
              <a:buSzPct val="100000"/>
              <a:buBlip>
                <a:blip r:embed="rId3"/>
              </a:buBlip>
              <a:defRPr sz="240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 panose="020B0604020202020204" pitchFamily="34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tx1"/>
              </a:buClr>
              <a:buSzPct val="100000"/>
              <a:buBlip>
                <a:blip r:embed="rId3"/>
              </a:buBlip>
              <a:defRPr sz="240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 panose="020B0604020202020204" pitchFamily="34" charset="0"/>
              </a:defRPr>
            </a:lvl4pPr>
            <a:lvl5pPr marL="2057400" indent="-228600" latinLnBrk="1">
              <a:spcBef>
                <a:spcPct val="20000"/>
              </a:spcBef>
              <a:buClr>
                <a:schemeClr val="tx1"/>
              </a:buClr>
              <a:buSzPct val="100000"/>
              <a:buBlip>
                <a:blip r:embed="rId3"/>
              </a:buBlip>
              <a:defRPr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Blip>
                <a:blip r:embed="rId3"/>
              </a:buBlip>
              <a:defRPr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Blip>
                <a:blip r:embed="rId3"/>
              </a:buBlip>
              <a:defRPr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Blip>
                <a:blip r:embed="rId3"/>
              </a:buBlip>
              <a:defRPr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Blip>
                <a:blip r:embed="rId3"/>
              </a:buBlip>
              <a:defRPr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ko-KR" altLang="en-US" sz="180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graphicFrame>
        <p:nvGraphicFramePr>
          <p:cNvPr id="8199" name="Object 3"/>
          <p:cNvGraphicFramePr>
            <a:graphicFrameLocks noChangeAspect="1"/>
          </p:cNvGraphicFramePr>
          <p:nvPr/>
        </p:nvGraphicFramePr>
        <p:xfrm>
          <a:off x="6161088" y="1974850"/>
          <a:ext cx="3421062" cy="2609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1" name="Equation" r:id="rId6" imgW="2400300" imgH="1828800" progId="Equation.3">
                  <p:embed/>
                </p:oleObj>
              </mc:Choice>
              <mc:Fallback>
                <p:oleObj name="Equation" r:id="rId6" imgW="2400300" imgH="1828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61088" y="1974850"/>
                        <a:ext cx="3421062" cy="2609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00" name="Line 8"/>
          <p:cNvSpPr>
            <a:spLocks noChangeShapeType="1"/>
          </p:cNvSpPr>
          <p:nvPr/>
        </p:nvSpPr>
        <p:spPr bwMode="auto">
          <a:xfrm>
            <a:off x="2063751" y="2251075"/>
            <a:ext cx="37449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8201" name="Line 9"/>
          <p:cNvSpPr>
            <a:spLocks noChangeShapeType="1"/>
          </p:cNvSpPr>
          <p:nvPr/>
        </p:nvSpPr>
        <p:spPr bwMode="auto">
          <a:xfrm>
            <a:off x="2566988" y="1963739"/>
            <a:ext cx="0" cy="28082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8202" name="Line 10"/>
          <p:cNvSpPr>
            <a:spLocks noChangeShapeType="1"/>
          </p:cNvSpPr>
          <p:nvPr/>
        </p:nvSpPr>
        <p:spPr bwMode="auto">
          <a:xfrm>
            <a:off x="6096001" y="2255838"/>
            <a:ext cx="37449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8203" name="Line 11"/>
          <p:cNvSpPr>
            <a:spLocks noChangeShapeType="1"/>
          </p:cNvSpPr>
          <p:nvPr/>
        </p:nvSpPr>
        <p:spPr bwMode="auto">
          <a:xfrm>
            <a:off x="6599238" y="1946275"/>
            <a:ext cx="0" cy="28082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8204" name="Object 4"/>
          <p:cNvGraphicFramePr>
            <a:graphicFrameLocks noChangeAspect="1"/>
          </p:cNvGraphicFramePr>
          <p:nvPr/>
        </p:nvGraphicFramePr>
        <p:xfrm>
          <a:off x="2279651" y="5002213"/>
          <a:ext cx="251936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2" name="Equation" r:id="rId8" imgW="1333500" imgH="228600" progId="Equation.3">
                  <p:embed/>
                </p:oleObj>
              </mc:Choice>
              <mc:Fallback>
                <p:oleObj name="Equation" r:id="rId8" imgW="13335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9651" y="5002213"/>
                        <a:ext cx="2519363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5" name="Object 5"/>
          <p:cNvGraphicFramePr>
            <a:graphicFrameLocks noChangeAspect="1"/>
          </p:cNvGraphicFramePr>
          <p:nvPr/>
        </p:nvGraphicFramePr>
        <p:xfrm>
          <a:off x="6540501" y="4914900"/>
          <a:ext cx="2709863" cy="465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3" name="Equation" r:id="rId10" imgW="1333500" imgH="228600" progId="Equation.3">
                  <p:embed/>
                </p:oleObj>
              </mc:Choice>
              <mc:Fallback>
                <p:oleObj name="Equation" r:id="rId10" imgW="13335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40501" y="4914900"/>
                        <a:ext cx="2709863" cy="465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6" name="Object 6"/>
          <p:cNvGraphicFramePr>
            <a:graphicFrameLocks noGrp="1" noChangeAspect="1"/>
          </p:cNvGraphicFramePr>
          <p:nvPr>
            <p:ph sz="half" idx="2"/>
          </p:nvPr>
        </p:nvGraphicFramePr>
        <p:xfrm>
          <a:off x="3236913" y="5551489"/>
          <a:ext cx="1058862" cy="338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4" name="Equation" r:id="rId12" imgW="634725" imgH="203112" progId="Equation.3">
                  <p:embed/>
                </p:oleObj>
              </mc:Choice>
              <mc:Fallback>
                <p:oleObj name="Equation" r:id="rId12" imgW="634725" imgH="2031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6913" y="5551489"/>
                        <a:ext cx="1058862" cy="338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직사각형 1"/>
          <p:cNvSpPr/>
          <p:nvPr/>
        </p:nvSpPr>
        <p:spPr>
          <a:xfrm>
            <a:off x="2566988" y="3361038"/>
            <a:ext cx="3060700" cy="2224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/>
          <p:cNvSpPr/>
          <p:nvPr/>
        </p:nvSpPr>
        <p:spPr>
          <a:xfrm>
            <a:off x="8435546" y="2366877"/>
            <a:ext cx="212898" cy="21556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자유형 2"/>
          <p:cNvSpPr/>
          <p:nvPr/>
        </p:nvSpPr>
        <p:spPr>
          <a:xfrm>
            <a:off x="5626443" y="3443416"/>
            <a:ext cx="2941394" cy="1721322"/>
          </a:xfrm>
          <a:custGeom>
            <a:avLst/>
            <a:gdLst>
              <a:gd name="connsiteX0" fmla="*/ 0 w 2941394"/>
              <a:gd name="connsiteY0" fmla="*/ 0 h 1721322"/>
              <a:gd name="connsiteX1" fmla="*/ 197708 w 2941394"/>
              <a:gd name="connsiteY1" fmla="*/ 222422 h 1721322"/>
              <a:gd name="connsiteX2" fmla="*/ 205946 w 2941394"/>
              <a:gd name="connsiteY2" fmla="*/ 1128584 h 1721322"/>
              <a:gd name="connsiteX3" fmla="*/ 57665 w 2941394"/>
              <a:gd name="connsiteY3" fmla="*/ 1696995 h 1721322"/>
              <a:gd name="connsiteX4" fmla="*/ 131806 w 2941394"/>
              <a:gd name="connsiteY4" fmla="*/ 1606379 h 1721322"/>
              <a:gd name="connsiteX5" fmla="*/ 609600 w 2941394"/>
              <a:gd name="connsiteY5" fmla="*/ 1507525 h 1721322"/>
              <a:gd name="connsiteX6" fmla="*/ 1441622 w 2941394"/>
              <a:gd name="connsiteY6" fmla="*/ 1441622 h 1721322"/>
              <a:gd name="connsiteX7" fmla="*/ 2718487 w 2941394"/>
              <a:gd name="connsiteY7" fmla="*/ 1408670 h 1721322"/>
              <a:gd name="connsiteX8" fmla="*/ 2932671 w 2941394"/>
              <a:gd name="connsiteY8" fmla="*/ 1062681 h 17213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941394" h="1721322">
                <a:moveTo>
                  <a:pt x="0" y="0"/>
                </a:moveTo>
                <a:cubicBezTo>
                  <a:pt x="81692" y="17162"/>
                  <a:pt x="163384" y="34325"/>
                  <a:pt x="197708" y="222422"/>
                </a:cubicBezTo>
                <a:cubicBezTo>
                  <a:pt x="232032" y="410519"/>
                  <a:pt x="229287" y="882822"/>
                  <a:pt x="205946" y="1128584"/>
                </a:cubicBezTo>
                <a:cubicBezTo>
                  <a:pt x="182606" y="1374346"/>
                  <a:pt x="70022" y="1617362"/>
                  <a:pt x="57665" y="1696995"/>
                </a:cubicBezTo>
                <a:cubicBezTo>
                  <a:pt x="45308" y="1776628"/>
                  <a:pt x="39817" y="1637957"/>
                  <a:pt x="131806" y="1606379"/>
                </a:cubicBezTo>
                <a:cubicBezTo>
                  <a:pt x="223795" y="1574801"/>
                  <a:pt x="391297" y="1534985"/>
                  <a:pt x="609600" y="1507525"/>
                </a:cubicBezTo>
                <a:cubicBezTo>
                  <a:pt x="827903" y="1480066"/>
                  <a:pt x="1090141" y="1458098"/>
                  <a:pt x="1441622" y="1441622"/>
                </a:cubicBezTo>
                <a:cubicBezTo>
                  <a:pt x="1793103" y="1425146"/>
                  <a:pt x="2469979" y="1471827"/>
                  <a:pt x="2718487" y="1408670"/>
                </a:cubicBezTo>
                <a:cubicBezTo>
                  <a:pt x="2966995" y="1345513"/>
                  <a:pt x="2949833" y="1204097"/>
                  <a:pt x="2932671" y="1062681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 rot="1268796">
            <a:off x="5207711" y="5152181"/>
            <a:ext cx="10107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smtClean="0">
                <a:solidFill>
                  <a:srgbClr val="FF0000"/>
                </a:solidFill>
              </a:rPr>
              <a:t>채워볼 것</a:t>
            </a:r>
            <a:endParaRPr lang="ko-KR" altLang="en-US" sz="14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9723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521901"/>
            <a:ext cx="10515600" cy="757093"/>
          </a:xfrm>
        </p:spPr>
        <p:txBody>
          <a:bodyPr>
            <a:normAutofit/>
          </a:bodyPr>
          <a:lstStyle/>
          <a:p>
            <a:r>
              <a:rPr lang="en-US" altLang="ko-KR" dirty="0"/>
              <a:t>GF(2</a:t>
            </a:r>
            <a:r>
              <a:rPr lang="en-US" altLang="ko-KR" baseline="30000" dirty="0"/>
              <a:t>8</a:t>
            </a:r>
            <a:r>
              <a:rPr lang="en-US" altLang="ko-KR" dirty="0" smtClean="0"/>
              <a:t>), Galois Field(2</a:t>
            </a:r>
            <a:r>
              <a:rPr lang="en-US" altLang="ko-KR" baseline="30000" dirty="0" smtClean="0"/>
              <a:t>8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84421"/>
                <a:ext cx="10515600" cy="4671928"/>
              </a:xfrm>
            </p:spPr>
            <p:txBody>
              <a:bodyPr/>
              <a:lstStyle/>
              <a:p>
                <a:pPr>
                  <a:lnSpc>
                    <a:spcPct val="120000"/>
                  </a:lnSpc>
                </a:pPr>
                <a:r>
                  <a:rPr lang="en-US" altLang="ko-KR" dirty="0" smtClean="0"/>
                  <a:t>GF(2</a:t>
                </a:r>
                <a:r>
                  <a:rPr lang="en-US" altLang="ko-KR" baseline="30000" dirty="0" smtClean="0"/>
                  <a:t>8</a:t>
                </a:r>
                <a:r>
                  <a:rPr lang="en-US" altLang="ko-KR" dirty="0" smtClean="0"/>
                  <a:t>)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n-US" altLang="ko-KR" dirty="0" smtClean="0"/>
                  <a:t>Closed in [0~255] w.r.t. + and * operations.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altLang="ko-KR" dirty="0" smtClean="0"/>
                  <a:t>Primitive polynomial</a:t>
                </a:r>
              </a:p>
              <a:p>
                <a:pPr lvl="1">
                  <a:lnSpc>
                    <a:spcPct val="12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ko-KR" altLang="en-US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</m:d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</m:s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altLang="ko-KR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ko-KR" dirty="0" smtClean="0"/>
                  <a:t> where 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altLang="ko-KR" dirty="0" smtClean="0"/>
                  <a:t> is a root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255</m:t>
                        </m:r>
                      </m:sup>
                    </m:sSup>
                  </m:oMath>
                </a14:m>
                <a:r>
                  <a:rPr lang="en-US" altLang="ko-KR" dirty="0" smtClean="0"/>
                  <a:t>.</a:t>
                </a:r>
              </a:p>
              <a:p>
                <a:pPr lvl="1">
                  <a:lnSpc>
                    <a:spcPct val="12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255</m:t>
                        </m:r>
                      </m:sup>
                    </m:sSup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=(1+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…</m:t>
                        </m:r>
                      </m:e>
                    </m:d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…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… </m:t>
                    </m:r>
                  </m:oMath>
                </a14:m>
                <a:r>
                  <a:rPr lang="en-US" altLang="ko-KR" dirty="0" smtClean="0"/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</m:s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altLang="ko-KR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)=0</m:t>
                    </m:r>
                  </m:oMath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84421"/>
                <a:ext cx="10515600" cy="4671928"/>
              </a:xfrm>
              <a:blipFill rotWithShape="0">
                <a:blip r:embed="rId3"/>
                <a:stretch>
                  <a:fillRect l="-1043" t="-52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1522599"/>
              </p:ext>
            </p:extLst>
          </p:nvPr>
        </p:nvGraphicFramePr>
        <p:xfrm>
          <a:off x="1907006" y="5134226"/>
          <a:ext cx="4968875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0" name="Equation" r:id="rId4" imgW="2590800" imgH="228600" progId="Equation.3">
                  <p:embed/>
                </p:oleObj>
              </mc:Choice>
              <mc:Fallback>
                <p:oleObj name="Equation" r:id="rId4" imgW="25908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7006" y="5134226"/>
                        <a:ext cx="4968875" cy="438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직사각형 4"/>
          <p:cNvSpPr/>
          <p:nvPr/>
        </p:nvSpPr>
        <p:spPr>
          <a:xfrm>
            <a:off x="948234" y="4586288"/>
            <a:ext cx="241675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800" dirty="0" smtClean="0"/>
              <a:t>Recall GF(2</a:t>
            </a:r>
            <a:r>
              <a:rPr lang="en-US" altLang="ko-KR" sz="2800" baseline="30000" dirty="0" smtClean="0"/>
              <a:t>3</a:t>
            </a:r>
            <a:r>
              <a:rPr lang="en-US" altLang="ko-KR" sz="2800" dirty="0" smtClean="0"/>
              <a:t>).</a:t>
            </a:r>
            <a:endParaRPr lang="en-US" altLang="ko-KR" sz="2800" dirty="0"/>
          </a:p>
        </p:txBody>
      </p:sp>
    </p:spTree>
    <p:extLst>
      <p:ext uri="{BB962C8B-B14F-4D97-AF65-F5344CB8AC3E}">
        <p14:creationId xmlns:p14="http://schemas.microsoft.com/office/powerpoint/2010/main" val="4275319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12132" y="198871"/>
            <a:ext cx="10515600" cy="757093"/>
          </a:xfrm>
        </p:spPr>
        <p:txBody>
          <a:bodyPr/>
          <a:lstStyle/>
          <a:p>
            <a:r>
              <a:rPr lang="en-US" altLang="ko-KR" dirty="0" smtClean="0"/>
              <a:t>Conversion table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364705" y="1106905"/>
            <a:ext cx="4495800" cy="4997116"/>
          </a:xfrm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en-US" altLang="ko-KR" dirty="0"/>
              <a:t>// </a:t>
            </a:r>
            <a:r>
              <a:rPr lang="en-US" altLang="ko-KR" dirty="0" smtClean="0"/>
              <a:t>P(X) = X^8 </a:t>
            </a:r>
            <a:r>
              <a:rPr lang="en-US" altLang="ko-KR" dirty="0"/>
              <a:t>+ X^4 + X^3 + X^2 + X^0 = 0</a:t>
            </a:r>
          </a:p>
          <a:p>
            <a:pPr marL="0" indent="0">
              <a:buNone/>
            </a:pPr>
            <a:r>
              <a:rPr lang="sv-SE" altLang="ko-KR" dirty="0"/>
              <a:t>BYTE System::OCT_LOG[]=   // </a:t>
            </a:r>
            <a:r>
              <a:rPr lang="sv-SE" altLang="ko-KR" dirty="0" smtClean="0"/>
              <a:t>OCT_LOG[2^x</a:t>
            </a:r>
            <a:r>
              <a:rPr lang="sv-SE" altLang="ko-KR" dirty="0"/>
              <a:t>] </a:t>
            </a:r>
            <a:r>
              <a:rPr lang="sv-SE" altLang="ko-KR" dirty="0" smtClean="0"/>
              <a:t>= x </a:t>
            </a:r>
          </a:p>
          <a:p>
            <a:pPr marL="0" indent="0">
              <a:buNone/>
            </a:pPr>
            <a:r>
              <a:rPr lang="en-US" altLang="ko-KR" dirty="0" smtClean="0"/>
              <a:t>{</a:t>
            </a:r>
            <a:r>
              <a:rPr lang="en-US" altLang="ko-KR" dirty="0"/>
              <a:t>0,  // suh </a:t>
            </a:r>
            <a:r>
              <a:rPr lang="en-US" altLang="ko-KR" dirty="0" smtClean="0"/>
              <a:t>inserted</a:t>
            </a:r>
            <a:r>
              <a:rPr lang="en-US" altLang="ko-KR" dirty="0"/>
              <a:t>...  2012. 10. 23</a:t>
            </a:r>
          </a:p>
          <a:p>
            <a:pPr marL="0" indent="0">
              <a:buNone/>
            </a:pPr>
            <a:r>
              <a:rPr lang="en-US" altLang="ko-KR" dirty="0"/>
              <a:t>0, 1, 25, 2, 50, 26, 198, 3, 223, 51, 238, 27, 104, 199, 75, 4, 100,</a:t>
            </a:r>
          </a:p>
          <a:p>
            <a:pPr marL="0" indent="0">
              <a:buNone/>
            </a:pPr>
            <a:r>
              <a:rPr lang="en-US" altLang="ko-KR" dirty="0"/>
              <a:t>224, 14, 52, 141, 239, 129, 28, 193, 105, 248, 200, 8, 76, 113, 5,</a:t>
            </a:r>
          </a:p>
          <a:p>
            <a:pPr marL="0" indent="0">
              <a:buNone/>
            </a:pPr>
            <a:r>
              <a:rPr lang="en-US" altLang="ko-KR" dirty="0"/>
              <a:t>138, 101, 47, 225, 36, 15, 33, 53, 147, 142, 218, 240, 18, 130, 69,</a:t>
            </a:r>
          </a:p>
          <a:p>
            <a:pPr marL="0" indent="0">
              <a:buNone/>
            </a:pPr>
            <a:r>
              <a:rPr lang="en-US" altLang="ko-KR" dirty="0"/>
              <a:t>29, 181, 194, 125, 106, 39, 249, 185, 201, 154, 9, 120, 77, 228, 114,</a:t>
            </a:r>
          </a:p>
          <a:p>
            <a:pPr marL="0" indent="0">
              <a:buNone/>
            </a:pPr>
            <a:r>
              <a:rPr lang="en-US" altLang="ko-KR" dirty="0"/>
              <a:t>166, 6, 191, 139, 98, 102, 221, 48, 253, 226, 152, 37, 179, 16, 145,</a:t>
            </a:r>
          </a:p>
          <a:p>
            <a:pPr marL="0" indent="0">
              <a:buNone/>
            </a:pPr>
            <a:r>
              <a:rPr lang="en-US" altLang="ko-KR" dirty="0"/>
              <a:t>34, 136, 54, 208, 148, 206, 143, 150, 219, 189, 241, 210, 19, 92,</a:t>
            </a:r>
          </a:p>
          <a:p>
            <a:pPr marL="0" indent="0">
              <a:buNone/>
            </a:pPr>
            <a:r>
              <a:rPr lang="en-US" altLang="ko-KR" dirty="0"/>
              <a:t>131, 56, 70, 64, 30, 66, 182, 163, 195, 72, 126, 110, 107, 58, 40,</a:t>
            </a:r>
          </a:p>
          <a:p>
            <a:pPr marL="0" indent="0">
              <a:buNone/>
            </a:pPr>
            <a:r>
              <a:rPr lang="en-US" altLang="ko-KR" dirty="0"/>
              <a:t>84, 250, 133, 186, 61, 202, 94, 155, 159, 10, 21, 121, 43, 78, 212,</a:t>
            </a:r>
          </a:p>
          <a:p>
            <a:pPr marL="0" indent="0">
              <a:buNone/>
            </a:pPr>
            <a:r>
              <a:rPr lang="en-US" altLang="ko-KR" dirty="0"/>
              <a:t>229, 172, 115, 243, 167, 87, 7, 112, 192, 247, 140, 128, 99, 13, 103,</a:t>
            </a:r>
          </a:p>
          <a:p>
            <a:pPr marL="0" indent="0">
              <a:buNone/>
            </a:pPr>
            <a:r>
              <a:rPr lang="en-US" altLang="ko-KR" dirty="0"/>
              <a:t>74, 222, 237, 49, 197, 254, 24, 227, 165, 153, 119, 38, 184, 180,</a:t>
            </a:r>
          </a:p>
          <a:p>
            <a:pPr marL="0" indent="0">
              <a:buNone/>
            </a:pPr>
            <a:r>
              <a:rPr lang="en-US" altLang="ko-KR" dirty="0"/>
              <a:t>124, 17, 68, 146, 217, 35, 32, 137, 46, 55, 63, 209, 91, 149, 188,</a:t>
            </a:r>
          </a:p>
          <a:p>
            <a:pPr marL="0" indent="0">
              <a:buNone/>
            </a:pPr>
            <a:r>
              <a:rPr lang="en-US" altLang="ko-KR" dirty="0"/>
              <a:t>207, 205, 144, 135, 151, 178, 220, 252, 190, 97, 242, 86, 211, 171,</a:t>
            </a:r>
          </a:p>
          <a:p>
            <a:pPr marL="0" indent="0">
              <a:buNone/>
            </a:pPr>
            <a:r>
              <a:rPr lang="en-US" altLang="ko-KR" dirty="0"/>
              <a:t>20, 42, 93, 158, 132, 60, 57, 83, 71, 109, 65, 162, 31, 45, 67, 216,</a:t>
            </a:r>
          </a:p>
          <a:p>
            <a:pPr marL="0" indent="0">
              <a:buNone/>
            </a:pPr>
            <a:r>
              <a:rPr lang="en-US" altLang="ko-KR" dirty="0"/>
              <a:t>183, 123, 164, 118, 196, 23, 73, 236, 127, 12, 111, 246, 108, 161,</a:t>
            </a:r>
          </a:p>
          <a:p>
            <a:pPr marL="0" indent="0">
              <a:buNone/>
            </a:pPr>
            <a:r>
              <a:rPr lang="en-US" altLang="ko-KR" dirty="0"/>
              <a:t>59, 82, 41, 157, 85, 170, 251, 96, 134, 177, 187, 204, 62, 90, 203,</a:t>
            </a:r>
          </a:p>
          <a:p>
            <a:pPr marL="0" indent="0">
              <a:buNone/>
            </a:pPr>
            <a:r>
              <a:rPr lang="en-US" altLang="ko-KR" dirty="0"/>
              <a:t>89, 95, 176, 156, 169, 160, 81, 11, 245, 22, 235, 122, 117, 44, 215,</a:t>
            </a:r>
          </a:p>
          <a:p>
            <a:pPr marL="0" indent="0">
              <a:buNone/>
            </a:pPr>
            <a:r>
              <a:rPr lang="en-US" altLang="ko-KR" dirty="0"/>
              <a:t>79, 174, 213, 233, 230, 231, 173, 232, 116, 214, 244, 234, 168, 80,</a:t>
            </a:r>
          </a:p>
          <a:p>
            <a:pPr marL="0" indent="0">
              <a:buNone/>
            </a:pPr>
            <a:r>
              <a:rPr lang="en-US" altLang="ko-KR" dirty="0"/>
              <a:t>88, 175</a:t>
            </a:r>
          </a:p>
          <a:p>
            <a:pPr marL="0" indent="0">
              <a:buNone/>
            </a:pPr>
            <a:r>
              <a:rPr lang="en-US" altLang="ko-KR" dirty="0"/>
              <a:t>};</a:t>
            </a:r>
          </a:p>
          <a:p>
            <a:pPr marL="0" indent="0">
              <a:buNone/>
            </a:pPr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812132" y="1012112"/>
            <a:ext cx="5037221" cy="56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BYTE System::OCT_EXP[]=   </a:t>
            </a:r>
            <a:r>
              <a:rPr lang="en-US" altLang="ko-KR" sz="10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// </a:t>
            </a:r>
            <a:r>
              <a:rPr lang="en-US" altLang="ko-KR" sz="1000" dirty="0" smtClean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OCT_EXP[8] </a:t>
            </a:r>
            <a:r>
              <a:rPr lang="en-US" altLang="ko-KR" sz="10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= </a:t>
            </a:r>
            <a:r>
              <a:rPr lang="en-US" altLang="ko-KR" sz="1000" dirty="0" smtClean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2^8 </a:t>
            </a:r>
            <a:r>
              <a:rPr lang="en-US" altLang="ko-KR" sz="10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= </a:t>
            </a:r>
            <a:r>
              <a:rPr lang="en-US" altLang="ko-KR" sz="1000" dirty="0" smtClean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29</a:t>
            </a:r>
            <a:endParaRPr lang="en-US" altLang="ko-KR" sz="1000" dirty="0">
              <a:solidFill>
                <a:prstClr val="black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000" dirty="0">
                <a:solidFill>
                  <a:prstClr val="black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{1, 2, 4, 8, 16, 32, 64, 128, 29, 58, 116, 232, 205, 135, 19, 38, 76,</a:t>
            </a:r>
          </a:p>
          <a:p>
            <a:r>
              <a:rPr lang="en-US" altLang="ko-KR" sz="1000" dirty="0">
                <a:solidFill>
                  <a:prstClr val="black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152, 45, 90, 180, 117, 234, 201, 143, 3, 6, 12, 24, 48, 96, 192, 157,</a:t>
            </a:r>
          </a:p>
          <a:p>
            <a:r>
              <a:rPr lang="en-US" altLang="ko-KR" sz="1000" dirty="0">
                <a:solidFill>
                  <a:prstClr val="black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39, 78, 156, 37, 74, 148, 53, 106, 212, 181, 119, 238, 193, 159, 35,</a:t>
            </a:r>
          </a:p>
          <a:p>
            <a:r>
              <a:rPr lang="en-US" altLang="ko-KR" sz="1000" dirty="0">
                <a:solidFill>
                  <a:prstClr val="black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70, 140, 5, 10, 20, 40, 80, 160, 93, 186, 105, 210, 185, 111, 222,</a:t>
            </a:r>
          </a:p>
          <a:p>
            <a:r>
              <a:rPr lang="en-US" altLang="ko-KR" sz="1000" dirty="0">
                <a:solidFill>
                  <a:prstClr val="black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161, 95, 190, 97, 194, 153, 47, 94, 188, 101, 202, 137, 15, 30, 60,</a:t>
            </a:r>
          </a:p>
          <a:p>
            <a:r>
              <a:rPr lang="en-US" altLang="ko-KR" sz="1000" dirty="0">
                <a:solidFill>
                  <a:prstClr val="black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120, 240, 253, 231, 211, 187, 107, 214, 177, 127, 254, 225, 223, 163,</a:t>
            </a:r>
          </a:p>
          <a:p>
            <a:r>
              <a:rPr lang="en-US" altLang="ko-KR" sz="1000" dirty="0">
                <a:solidFill>
                  <a:prstClr val="black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91, 182, 113, 226, 217, 175, 67, 134, 17, 34, 68, 136, 13, 26, 52,</a:t>
            </a:r>
          </a:p>
          <a:p>
            <a:r>
              <a:rPr lang="en-US" altLang="ko-KR" sz="1000" dirty="0">
                <a:solidFill>
                  <a:prstClr val="black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104, 208, 189, 103, 206, 129, 31, 62, 124, 248, 237, 199, 147, 59,</a:t>
            </a:r>
          </a:p>
          <a:p>
            <a:r>
              <a:rPr lang="en-US" altLang="ko-KR" sz="1000" dirty="0">
                <a:solidFill>
                  <a:prstClr val="black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118, 236, 197, 151, 51, 102, 204, 133, 23, 46, 92, 184, 109, 218,</a:t>
            </a:r>
          </a:p>
          <a:p>
            <a:r>
              <a:rPr lang="en-US" altLang="ko-KR" sz="1000" dirty="0">
                <a:solidFill>
                  <a:prstClr val="black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169, 79, 158, 33, 66, 132, 21, 42, 84, 168, 77, 154, 41, 82, 164, 85,</a:t>
            </a:r>
          </a:p>
          <a:p>
            <a:r>
              <a:rPr lang="en-US" altLang="ko-KR" sz="1000" dirty="0">
                <a:solidFill>
                  <a:prstClr val="black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170, 73, 146, 57, 114, 228, 213, 183, 115, 230, 209, 191, 99, 198,</a:t>
            </a:r>
          </a:p>
          <a:p>
            <a:r>
              <a:rPr lang="en-US" altLang="ko-KR" sz="1000" dirty="0">
                <a:solidFill>
                  <a:prstClr val="black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145, 63, 126, 252, 229, 215, 179, 123, 246, 241, 255, 227, 219, 171,</a:t>
            </a:r>
          </a:p>
          <a:p>
            <a:r>
              <a:rPr lang="en-US" altLang="ko-KR" sz="1000" dirty="0">
                <a:solidFill>
                  <a:prstClr val="black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75, 150, 49, 98, 196, 149, 55, 110, 220, 165, 87, 174, 65, 130, 25,</a:t>
            </a:r>
          </a:p>
          <a:p>
            <a:r>
              <a:rPr lang="en-US" altLang="ko-KR" sz="1000" dirty="0">
                <a:solidFill>
                  <a:prstClr val="black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50, 100, 200, 141, 7, 14, 28, 56, 112, 224, 221, 167, 83, 166, 81,</a:t>
            </a:r>
          </a:p>
          <a:p>
            <a:r>
              <a:rPr lang="en-US" altLang="ko-KR" sz="1000" dirty="0">
                <a:solidFill>
                  <a:prstClr val="black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162, 89, 178, 121, 242, 249, 239, 195, 155, 43, 86, 172, 69, 138, 9,</a:t>
            </a:r>
          </a:p>
          <a:p>
            <a:r>
              <a:rPr lang="en-US" altLang="ko-KR" sz="1000" dirty="0">
                <a:solidFill>
                  <a:prstClr val="black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18, 36, 72, 144, 61, 122, 244, 245, 247, 243, 251, 235, 203, 139, 11,</a:t>
            </a:r>
          </a:p>
          <a:p>
            <a:r>
              <a:rPr lang="en-US" altLang="ko-KR" sz="1000" dirty="0">
                <a:solidFill>
                  <a:prstClr val="black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22, 44, 88, 176, 125, 250, 233, 207, 131, 27, 54, 108, 216, 173, 71,</a:t>
            </a:r>
          </a:p>
          <a:p>
            <a:r>
              <a:rPr lang="en-US" altLang="ko-KR" sz="1000" dirty="0">
                <a:solidFill>
                  <a:prstClr val="black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142, 1, 2, 4, 8, 16, 32, 64, 128, 29, 58, 116, 232, 205, 135, 19, 38,</a:t>
            </a:r>
          </a:p>
          <a:p>
            <a:r>
              <a:rPr lang="en-US" altLang="ko-KR" sz="1000" dirty="0">
                <a:solidFill>
                  <a:prstClr val="black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76, 152, 45, 90, 180, 117, 234, 201, 143, 3, 6, 12, 24, 48, 96, 192,</a:t>
            </a:r>
          </a:p>
          <a:p>
            <a:r>
              <a:rPr lang="en-US" altLang="ko-KR" sz="1000" dirty="0">
                <a:solidFill>
                  <a:prstClr val="black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157, 39, 78, 156, 37, 74, 148, 53, 106, 212, 181, 119, 238, 193, 159,</a:t>
            </a:r>
          </a:p>
          <a:p>
            <a:r>
              <a:rPr lang="en-US" altLang="ko-KR" sz="1000" dirty="0">
                <a:solidFill>
                  <a:prstClr val="black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35, 70, 140, 5, 10, 20, 40, 80, 160, 93, 186, 105, 210, 185, 111,</a:t>
            </a:r>
          </a:p>
          <a:p>
            <a:r>
              <a:rPr lang="en-US" altLang="ko-KR" sz="1000" dirty="0">
                <a:solidFill>
                  <a:prstClr val="black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222, 161, 95, 190, 97, 194, 153, 47, 94, 188, 101, 202, 137, 15, 30,</a:t>
            </a:r>
          </a:p>
          <a:p>
            <a:r>
              <a:rPr lang="en-US" altLang="ko-KR" sz="1000" dirty="0">
                <a:solidFill>
                  <a:prstClr val="black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60, 120, 240, 253, 231, 211, 187, 107, 214, 177, 127, 254, 225, 223,</a:t>
            </a:r>
          </a:p>
          <a:p>
            <a:r>
              <a:rPr lang="en-US" altLang="ko-KR" sz="1000" dirty="0">
                <a:solidFill>
                  <a:prstClr val="black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163, 91, 182, 113, 226, 217, 175, 67, 134, 17, 34, 68, 136, 13, 26,</a:t>
            </a:r>
          </a:p>
          <a:p>
            <a:r>
              <a:rPr lang="en-US" altLang="ko-KR" sz="1000" dirty="0">
                <a:solidFill>
                  <a:prstClr val="black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52, 104, 208, 189, 103, 206, 129, 31, 62, 124, 248, 237, 199, 147,</a:t>
            </a:r>
          </a:p>
          <a:p>
            <a:r>
              <a:rPr lang="en-US" altLang="ko-KR" sz="1000" dirty="0">
                <a:solidFill>
                  <a:prstClr val="black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59, 118, 236, 197, 151, 51, 102, 204, 133, 23, 46, 92, 184, 109, 218,</a:t>
            </a:r>
          </a:p>
          <a:p>
            <a:r>
              <a:rPr lang="en-US" altLang="ko-KR" sz="1000" dirty="0">
                <a:solidFill>
                  <a:prstClr val="black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169, 79, 158, 33, 66, 132, 21, 42, 84, 168, 77, 154, 41, 82, 164, 85,</a:t>
            </a:r>
          </a:p>
          <a:p>
            <a:r>
              <a:rPr lang="en-US" altLang="ko-KR" sz="1000" dirty="0">
                <a:solidFill>
                  <a:prstClr val="black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170, 73, 146, 57, 114, 228, 213, 183, 115, 230, 209, 191, 99, 198,</a:t>
            </a:r>
          </a:p>
          <a:p>
            <a:r>
              <a:rPr lang="en-US" altLang="ko-KR" sz="1000" dirty="0">
                <a:solidFill>
                  <a:prstClr val="black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145, 63, 126, 252, 229, 215, 179, 123, 246, 241, 255, 227, 219, 171,</a:t>
            </a:r>
          </a:p>
          <a:p>
            <a:r>
              <a:rPr lang="en-US" altLang="ko-KR" sz="1000" dirty="0">
                <a:solidFill>
                  <a:prstClr val="black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75, 150, 49, 98, 196, 149, 55, 110, 220, 165, 87, 174, 65, 130, 25,</a:t>
            </a:r>
          </a:p>
          <a:p>
            <a:r>
              <a:rPr lang="en-US" altLang="ko-KR" sz="1000" dirty="0">
                <a:solidFill>
                  <a:prstClr val="black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50, 100, 200, 141, 7, 14, 28, 56, 112, 224, 221, 167, 83, 166, 81,</a:t>
            </a:r>
          </a:p>
          <a:p>
            <a:r>
              <a:rPr lang="en-US" altLang="ko-KR" sz="1000" dirty="0">
                <a:solidFill>
                  <a:prstClr val="black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162, 89, 178, 121, 242, 249, 239, 195, 155, 43, 86, 172, 69, 138, 9,</a:t>
            </a:r>
          </a:p>
          <a:p>
            <a:r>
              <a:rPr lang="en-US" altLang="ko-KR" sz="1000" dirty="0">
                <a:solidFill>
                  <a:prstClr val="black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18, 36, 72, 144, 61, 122, 244, 245, 247, 243, 251, 235, 203, 139, 11,</a:t>
            </a:r>
          </a:p>
          <a:p>
            <a:r>
              <a:rPr lang="en-US" altLang="ko-KR" sz="1000" dirty="0">
                <a:solidFill>
                  <a:prstClr val="black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22, 44, 88, 176, 125, 250, 233, 207, 131, 27, 54, 108, 216, 173, 71,</a:t>
            </a:r>
          </a:p>
          <a:p>
            <a:r>
              <a:rPr lang="en-US" altLang="ko-KR" sz="1000" dirty="0" smtClean="0">
                <a:solidFill>
                  <a:prstClr val="black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142};</a:t>
            </a:r>
            <a:endParaRPr lang="en-US" altLang="ko-KR" sz="1000" dirty="0">
              <a:solidFill>
                <a:prstClr val="black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38800" y="5975503"/>
            <a:ext cx="1323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solidFill>
                  <a:srgbClr val="FF0000"/>
                </a:solidFill>
              </a:rPr>
              <a:t>255=2</a:t>
            </a:r>
            <a:r>
              <a:rPr lang="en-US" altLang="ko-KR" baseline="30000" dirty="0" smtClean="0">
                <a:solidFill>
                  <a:srgbClr val="FF0000"/>
                </a:solidFill>
              </a:rPr>
              <a:t>175</a:t>
            </a:r>
            <a:endParaRPr lang="ko-KR" altLang="en-US" dirty="0">
              <a:solidFill>
                <a:srgbClr val="FF0000"/>
              </a:solidFill>
            </a:endParaRPr>
          </a:p>
        </p:txBody>
      </p:sp>
      <p:cxnSp>
        <p:nvCxnSpPr>
          <p:cNvPr id="7" name="직선 화살표 연결선 6"/>
          <p:cNvCxnSpPr/>
          <p:nvPr/>
        </p:nvCxnSpPr>
        <p:spPr>
          <a:xfrm flipV="1">
            <a:off x="6585284" y="5694948"/>
            <a:ext cx="96253" cy="28055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화살표 연결선 8"/>
          <p:cNvCxnSpPr>
            <a:stCxn id="5" idx="1"/>
          </p:cNvCxnSpPr>
          <p:nvPr/>
        </p:nvCxnSpPr>
        <p:spPr>
          <a:xfrm flipH="1" flipV="1">
            <a:off x="4219074" y="5582653"/>
            <a:ext cx="1419726" cy="57751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0803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17884" y="696176"/>
            <a:ext cx="8626642" cy="757093"/>
          </a:xfrm>
        </p:spPr>
        <p:txBody>
          <a:bodyPr/>
          <a:lstStyle/>
          <a:p>
            <a:r>
              <a:rPr lang="en-US" altLang="ko-KR" dirty="0" smtClean="0"/>
              <a:t>Assignment on GF(2</a:t>
            </a:r>
            <a:r>
              <a:rPr lang="en-US" altLang="ko-KR" baseline="30000" dirty="0" smtClean="0"/>
              <a:t>8</a:t>
            </a:r>
            <a:r>
              <a:rPr lang="en-US" altLang="ko-KR" dirty="0"/>
              <a:t>)</a:t>
            </a:r>
            <a:r>
              <a:rPr lang="en-US" altLang="ko-KR" dirty="0" smtClean="0"/>
              <a:t> 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>
              <a:xfrm>
                <a:off x="782178" y="1778795"/>
                <a:ext cx="10515600" cy="4141786"/>
              </a:xfrm>
            </p:spPr>
            <p:txBody>
              <a:bodyPr/>
              <a:lstStyle/>
              <a:p>
                <a:pPr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en-US" altLang="ko-KR" dirty="0" smtClean="0"/>
                  <a:t>Make the tables of + operation and * operation for GF(2</a:t>
                </a:r>
                <a:r>
                  <a:rPr lang="en-US" altLang="ko-KR" baseline="30000" dirty="0" smtClean="0"/>
                  <a:t>8</a:t>
                </a:r>
                <a:r>
                  <a:rPr lang="en-US" altLang="ko-KR" dirty="0" smtClean="0"/>
                  <a:t>).</a:t>
                </a:r>
              </a:p>
              <a:p>
                <a:pPr marL="514350" indent="-514350">
                  <a:lnSpc>
                    <a:spcPct val="150000"/>
                  </a:lnSpc>
                  <a:spcBef>
                    <a:spcPts val="0"/>
                  </a:spcBef>
                  <a:buFont typeface="+mj-lt"/>
                  <a:buAutoNum type="alphaUcPeriod"/>
                </a:pPr>
                <a:r>
                  <a:rPr lang="en-US" altLang="ko-KR" dirty="0" smtClean="0"/>
                  <a:t>Find a, b, c, d in the following equation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>
                        <a:latin typeface="Cambria Math" panose="02040503050406030204" pitchFamily="18" charset="0"/>
                      </a:rPr>
                      <m:t>f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0" smtClean="0">
                            <a:latin typeface="Cambria Math" panose="02040503050406030204" pitchFamily="18" charset="0"/>
                          </a:rPr>
                          <m:t>15</m:t>
                        </m:r>
                      </m:e>
                    </m:d>
                  </m:oMath>
                </a14:m>
                <a:r>
                  <a:rPr lang="en-US" altLang="ko-KR" dirty="0" smtClean="0"/>
                  <a:t>.</a:t>
                </a:r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b="0" i="0" smtClean="0">
                          <a:latin typeface="Cambria Math" panose="02040503050406030204" pitchFamily="18" charset="0"/>
                        </a:rPr>
                        <m:t>f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ko-KR" b="0" i="0" smtClean="0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</m:d>
                      <m:r>
                        <a:rPr lang="en-US" altLang="ko-KR" b="0" i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122</m:t>
                          </m:r>
                          <m:sSup>
                            <m:sSup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+34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+23</m:t>
                          </m:r>
                        </m:e>
                      </m:d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17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+5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𝑎</m:t>
                      </m:r>
                      <m:sSup>
                        <m:sSup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sSup>
                        <m:sSup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𝑏𝑋</m:t>
                          </m:r>
                        </m:e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𝑐𝑋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US" altLang="ko-KR" dirty="0" smtClean="0"/>
              </a:p>
              <a:p>
                <a:pPr marL="514350" indent="-514350">
                  <a:lnSpc>
                    <a:spcPct val="150000"/>
                  </a:lnSpc>
                  <a:spcBef>
                    <a:spcPts val="0"/>
                  </a:spcBef>
                  <a:buFont typeface="+mj-lt"/>
                  <a:buAutoNum type="alphaUcPeriod" startAt="2"/>
                </a:pPr>
                <a:r>
                  <a:rPr lang="en-US" altLang="ko-KR" dirty="0" smtClean="0"/>
                  <a:t>Solve the following equations. </a:t>
                </a:r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54</m:t>
                                </m:r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30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        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20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ko-KR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2178" y="1778795"/>
                <a:ext cx="10515600" cy="4141786"/>
              </a:xfrm>
              <a:blipFill rotWithShape="0">
                <a:blip r:embed="rId2"/>
                <a:stretch>
                  <a:fillRect l="-139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4644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Hint) GF256.cpp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lnSpc>
                    <a:spcPct val="120000"/>
                  </a:lnSpc>
                </a:pPr>
                <a:r>
                  <a:rPr lang="en-US" altLang="ko-KR" dirty="0" smtClean="0">
                    <a:solidFill>
                      <a:srgbClr val="008000"/>
                    </a:solidFill>
                    <a:latin typeface="돋움체" panose="020B0609000101010101" pitchFamily="49" charset="-127"/>
                    <a:ea typeface="돋움체" panose="020B0609000101010101" pitchFamily="49" charset="-127"/>
                  </a:rPr>
                  <a:t>OCT_EXP[8] </a:t>
                </a:r>
                <a:r>
                  <a:rPr lang="en-US" altLang="ko-KR" dirty="0" smtClean="0">
                    <a:latin typeface="돋움체" panose="020B0609000101010101" pitchFamily="49" charset="-127"/>
                    <a:ea typeface="돋움체" panose="020B0609000101010101" pitchFamily="49" charset="-127"/>
                  </a:rPr>
                  <a:t>= 2^8 = 29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n-US" altLang="ko-KR" dirty="0" smtClean="0"/>
                  <a:t>Since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</m:d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</m:s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altLang="ko-KR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  <a:r>
                  <a:rPr lang="en-US" altLang="ko-KR" dirty="0" smtClean="0">
                    <a:solidFill>
                      <a:prstClr val="black"/>
                    </a:solidFill>
                    <a:latin typeface="돋움체" panose="020B0609000101010101" pitchFamily="49" charset="-127"/>
                    <a:ea typeface="돋움체" panose="020B0609000101010101" pitchFamily="49" charset="-127"/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</m:s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=29</m:t>
                    </m:r>
                  </m:oMath>
                </a14:m>
                <a:endParaRPr lang="en-US" altLang="ko-KR" dirty="0" smtClean="0">
                  <a:solidFill>
                    <a:prstClr val="black"/>
                  </a:solidFill>
                  <a:latin typeface="돋움체" panose="020B0609000101010101" pitchFamily="49" charset="-127"/>
                  <a:ea typeface="돋움체" panose="020B0609000101010101" pitchFamily="49" charset="-127"/>
                </a:endParaRPr>
              </a:p>
              <a:p>
                <a:pPr lvl="1">
                  <a:lnSpc>
                    <a:spcPct val="120000"/>
                  </a:lnSpc>
                </a:pPr>
                <a:r>
                  <a:rPr lang="en-US" altLang="ko-KR" dirty="0" smtClean="0">
                    <a:solidFill>
                      <a:srgbClr val="008000"/>
                    </a:solidFill>
                    <a:latin typeface="돋움체" panose="020B0609000101010101" pitchFamily="49" charset="-127"/>
                    <a:ea typeface="돋움체" panose="020B0609000101010101" pitchFamily="49" charset="-127"/>
                  </a:rPr>
                  <a:t>OCT_EXP[9] </a:t>
                </a:r>
                <a:r>
                  <a:rPr lang="en-US" altLang="ko-KR" dirty="0" smtClean="0">
                    <a:latin typeface="돋움체" panose="020B0609000101010101" pitchFamily="49" charset="-127"/>
                    <a:ea typeface="돋움체" panose="020B0609000101010101" pitchFamily="49" charset="-127"/>
                  </a:rPr>
                  <a:t>= 58</a:t>
                </a:r>
              </a:p>
              <a:p>
                <a:pPr>
                  <a:lnSpc>
                    <a:spcPct val="120000"/>
                  </a:lnSpc>
                </a:pPr>
                <a:r>
                  <a:rPr lang="sv-SE" altLang="ko-KR" dirty="0" smtClean="0">
                    <a:solidFill>
                      <a:schemeClr val="accent6">
                        <a:lumMod val="75000"/>
                      </a:schemeClr>
                    </a:solidFill>
                  </a:rPr>
                  <a:t>OCT_LOG[29] </a:t>
                </a:r>
                <a:r>
                  <a:rPr lang="sv-SE" altLang="ko-KR" dirty="0"/>
                  <a:t>= </a:t>
                </a:r>
                <a:r>
                  <a:rPr lang="sv-SE" altLang="ko-KR" dirty="0" smtClean="0"/>
                  <a:t>8</a:t>
                </a:r>
              </a:p>
              <a:p>
                <a:pPr>
                  <a:lnSpc>
                    <a:spcPct val="120000"/>
                  </a:lnSpc>
                </a:pPr>
                <a:r>
                  <a:rPr lang="sv-SE" altLang="ko-KR" dirty="0" smtClean="0"/>
                  <a:t>Addition: a+b </a:t>
                </a:r>
                <a:r>
                  <a:rPr lang="sv-SE" altLang="ko-KR" dirty="0" smtClean="0">
                    <a:sym typeface="Wingdings" panose="05000000000000000000" pitchFamily="2" charset="2"/>
                  </a:rPr>
                  <a:t>  </a:t>
                </a:r>
                <a:r>
                  <a:rPr lang="sv-SE" altLang="ko-KR" dirty="0" smtClean="0">
                    <a:solidFill>
                      <a:schemeClr val="accent6">
                        <a:lumMod val="75000"/>
                      </a:schemeClr>
                    </a:solidFill>
                    <a:sym typeface="Wingdings" panose="05000000000000000000" pitchFamily="2" charset="2"/>
                  </a:rPr>
                  <a:t>a^b</a:t>
                </a:r>
              </a:p>
              <a:p>
                <a:pPr>
                  <a:lnSpc>
                    <a:spcPct val="120000"/>
                  </a:lnSpc>
                </a:pPr>
                <a:r>
                  <a:rPr lang="sv-SE" altLang="ko-KR" dirty="0" smtClean="0">
                    <a:sym typeface="Wingdings" panose="05000000000000000000" pitchFamily="2" charset="2"/>
                  </a:rPr>
                  <a:t>Multiplication: ab   </a:t>
                </a:r>
                <a:r>
                  <a:rPr lang="sv-SE" altLang="ko-KR" dirty="0" smtClean="0">
                    <a:solidFill>
                      <a:schemeClr val="accent6">
                        <a:lumMod val="75000"/>
                      </a:schemeClr>
                    </a:solidFill>
                    <a:sym typeface="Wingdings" panose="05000000000000000000" pitchFamily="2" charset="2"/>
                  </a:rPr>
                  <a:t>GX(a, b)</a:t>
                </a:r>
                <a:r>
                  <a:rPr lang="sv-SE" altLang="ko-KR" dirty="0" smtClean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</a:p>
              <a:p>
                <a:pPr>
                  <a:lnSpc>
                    <a:spcPct val="120000"/>
                  </a:lnSpc>
                </a:pPr>
                <a:r>
                  <a:rPr lang="sv-SE" altLang="ko-KR" dirty="0" smtClean="0"/>
                  <a:t>Division : a/b </a:t>
                </a:r>
                <a:r>
                  <a:rPr lang="sv-SE" altLang="ko-KR" dirty="0" smtClean="0">
                    <a:sym typeface="Wingdings" panose="05000000000000000000" pitchFamily="2" charset="2"/>
                  </a:rPr>
                  <a:t> </a:t>
                </a:r>
                <a:r>
                  <a:rPr lang="sv-SE" altLang="ko-KR" dirty="0" smtClean="0">
                    <a:solidFill>
                      <a:schemeClr val="accent6">
                        <a:lumMod val="75000"/>
                      </a:schemeClr>
                    </a:solidFill>
                    <a:sym typeface="Wingdings" panose="05000000000000000000" pitchFamily="2" charset="2"/>
                  </a:rPr>
                  <a:t>GD(a,b)</a:t>
                </a:r>
                <a:endParaRPr lang="sv-SE" altLang="ko-KR" dirty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pPr lvl="1">
                  <a:lnSpc>
                    <a:spcPct val="120000"/>
                  </a:lnSpc>
                </a:pPr>
                <a:endParaRPr lang="en-US" altLang="ko-KR" dirty="0">
                  <a:solidFill>
                    <a:prstClr val="black"/>
                  </a:solidFill>
                  <a:latin typeface="돋움체" panose="020B0609000101010101" pitchFamily="49" charset="-127"/>
                  <a:ea typeface="돋움체" panose="020B0609000101010101" pitchFamily="49" charset="-127"/>
                </a:endParaRPr>
              </a:p>
              <a:p>
                <a:pPr lvl="1">
                  <a:lnSpc>
                    <a:spcPct val="120000"/>
                  </a:lnSpc>
                </a:pPr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 t="-8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69935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406957" y="1126141"/>
            <a:ext cx="9144000" cy="1179679"/>
          </a:xfrm>
        </p:spPr>
        <p:txBody>
          <a:bodyPr/>
          <a:lstStyle/>
          <a:p>
            <a:r>
              <a:rPr lang="en-US" altLang="ko-KR" dirty="0" smtClean="0"/>
              <a:t>Hash code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319272"/>
            <a:ext cx="9144000" cy="1938528"/>
          </a:xfrm>
        </p:spPr>
        <p:txBody>
          <a:bodyPr/>
          <a:lstStyle/>
          <a:p>
            <a:r>
              <a:rPr lang="en-US" altLang="ko-KR" dirty="0" smtClean="0"/>
              <a:t>Doug Young Suh</a:t>
            </a:r>
          </a:p>
          <a:p>
            <a:r>
              <a:rPr lang="en-US" altLang="ko-KR" dirty="0" smtClean="0"/>
              <a:t>Nov. 23, 2019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318" y="4359859"/>
            <a:ext cx="3452723" cy="1614983"/>
          </a:xfrm>
          <a:prstGeom prst="rect">
            <a:avLst/>
          </a:prstGeom>
        </p:spPr>
      </p:pic>
      <p:pic>
        <p:nvPicPr>
          <p:cNvPr id="12290" name="Picture 2" descr="data center에 대한 이미지 검색결과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7048" y="2172614"/>
            <a:ext cx="3833101" cy="2555401"/>
          </a:xfrm>
          <a:prstGeom prst="rect">
            <a:avLst/>
          </a:prstGeom>
          <a:noFill/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2" name="Picture 4" descr="Cloud CDN Hosting India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5407" y="4663208"/>
            <a:ext cx="4445686" cy="1906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816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8514" y="2453068"/>
            <a:ext cx="5955494" cy="3490532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66645" y="432957"/>
            <a:ext cx="10515600" cy="757093"/>
          </a:xfrm>
        </p:spPr>
        <p:txBody>
          <a:bodyPr/>
          <a:lstStyle/>
          <a:p>
            <a:r>
              <a:rPr lang="en-US" altLang="ko-KR" dirty="0" smtClean="0"/>
              <a:t>Hash code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66645" y="1293571"/>
            <a:ext cx="10619232" cy="2179320"/>
          </a:xfrm>
        </p:spPr>
        <p:txBody>
          <a:bodyPr/>
          <a:lstStyle/>
          <a:p>
            <a:r>
              <a:rPr lang="en-US" altLang="ko-KR" dirty="0" smtClean="0"/>
              <a:t>An </a:t>
            </a:r>
            <a:r>
              <a:rPr lang="en-US" altLang="ko-KR" b="1" dirty="0"/>
              <a:t>arbitrary size </a:t>
            </a:r>
            <a:r>
              <a:rPr lang="en-US" altLang="ko-KR" dirty="0" smtClean="0"/>
              <a:t>content of </a:t>
            </a:r>
            <a:r>
              <a:rPr lang="en-US" altLang="ko-KR" dirty="0" smtClean="0">
                <a:sym typeface="Wingdings" panose="05000000000000000000" pitchFamily="2" charset="2"/>
              </a:rPr>
              <a:t> key of a </a:t>
            </a:r>
            <a:r>
              <a:rPr lang="en-US" altLang="ko-KR" b="1" dirty="0" smtClean="0">
                <a:sym typeface="Wingdings" panose="05000000000000000000" pitchFamily="2" charset="2"/>
              </a:rPr>
              <a:t>fixed size</a:t>
            </a:r>
          </a:p>
          <a:p>
            <a:r>
              <a:rPr lang="en-US" altLang="ko-KR" dirty="0" smtClean="0">
                <a:sym typeface="Wingdings" panose="05000000000000000000" pitchFamily="2" charset="2"/>
              </a:rPr>
              <a:t>Addressing for search with complexity of O(1)</a:t>
            </a:r>
          </a:p>
          <a:p>
            <a:r>
              <a:rPr lang="en-US" altLang="ko-KR" dirty="0" smtClean="0">
                <a:sym typeface="Wingdings" panose="05000000000000000000" pitchFamily="2" charset="2"/>
              </a:rPr>
              <a:t>How to make keys without collusion?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97525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Division method  (1)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271016"/>
            <a:ext cx="10515600" cy="5085334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ko-KR" dirty="0" smtClean="0"/>
              <a:t>Hash key is used for addressing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ko-KR" dirty="0" smtClean="0"/>
              <a:t>      Content = m(X)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ko-KR" dirty="0" smtClean="0"/>
              <a:t>      H(X) = m(X)</a:t>
            </a:r>
            <a:r>
              <a:rPr lang="en-US" altLang="ko-KR" dirty="0" err="1" smtClean="0"/>
              <a:t>X</a:t>
            </a:r>
            <a:r>
              <a:rPr lang="en-US" altLang="ko-KR" baseline="30000" dirty="0" err="1" smtClean="0"/>
              <a:t>m</a:t>
            </a:r>
            <a:r>
              <a:rPr lang="en-US" altLang="ko-KR" dirty="0" smtClean="0"/>
              <a:t> % P(X)   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ko-KR" dirty="0" smtClean="0"/>
              <a:t>      Then,  (</a:t>
            </a:r>
            <a:r>
              <a:rPr lang="en-US" altLang="ko-KR" dirty="0"/>
              <a:t>m(X)</a:t>
            </a:r>
            <a:r>
              <a:rPr lang="en-US" altLang="ko-KR" dirty="0" err="1"/>
              <a:t>X</a:t>
            </a:r>
            <a:r>
              <a:rPr lang="en-US" altLang="ko-KR" baseline="30000" dirty="0" err="1"/>
              <a:t>m</a:t>
            </a:r>
            <a:r>
              <a:rPr lang="en-US" altLang="ko-KR" dirty="0"/>
              <a:t> </a:t>
            </a:r>
            <a:r>
              <a:rPr lang="en-US" altLang="ko-KR" dirty="0" smtClean="0"/>
              <a:t>+H(X)) % P(X) = 0</a:t>
            </a:r>
          </a:p>
          <a:p>
            <a:pPr>
              <a:lnSpc>
                <a:spcPct val="120000"/>
              </a:lnSpc>
            </a:pPr>
            <a:r>
              <a:rPr lang="en-US" altLang="ko-KR" dirty="0" smtClean="0"/>
              <a:t>Could be used for </a:t>
            </a:r>
            <a:r>
              <a:rPr lang="en-US" altLang="ko-KR" dirty="0"/>
              <a:t>error </a:t>
            </a:r>
            <a:r>
              <a:rPr lang="en-US" altLang="ko-KR" dirty="0" smtClean="0"/>
              <a:t>detection</a:t>
            </a:r>
          </a:p>
          <a:p>
            <a:pPr lvl="1">
              <a:lnSpc>
                <a:spcPct val="120000"/>
              </a:lnSpc>
            </a:pPr>
            <a:r>
              <a:rPr lang="en-US" altLang="ko-KR" dirty="0" smtClean="0"/>
              <a:t>Data storage</a:t>
            </a:r>
          </a:p>
          <a:p>
            <a:pPr lvl="1">
              <a:lnSpc>
                <a:spcPct val="120000"/>
              </a:lnSpc>
            </a:pPr>
            <a:r>
              <a:rPr lang="en-US" altLang="ko-KR" dirty="0" smtClean="0"/>
              <a:t>Data communication</a:t>
            </a:r>
          </a:p>
          <a:p>
            <a:pPr>
              <a:lnSpc>
                <a:spcPct val="120000"/>
              </a:lnSpc>
            </a:pPr>
            <a:endParaRPr lang="en-US" altLang="ko-KR" dirty="0" smtClean="0"/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0522" y="2059444"/>
            <a:ext cx="3814382" cy="2961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6468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Division method (2): Hamming(7,4)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271016"/>
            <a:ext cx="10515600" cy="5085334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ko-KR" dirty="0" smtClean="0"/>
              <a:t>Example) In binary(GF(2)) case where P(X)=X</a:t>
            </a:r>
            <a:r>
              <a:rPr lang="en-US" altLang="ko-KR" baseline="30000" dirty="0" smtClean="0"/>
              <a:t>3</a:t>
            </a:r>
            <a:r>
              <a:rPr lang="en-US" altLang="ko-KR" dirty="0" smtClean="0"/>
              <a:t>+X+1 (</a:t>
            </a:r>
            <a:r>
              <a:rPr lang="en-US" altLang="ko-KR" dirty="0" smtClean="0">
                <a:sym typeface="Wingdings" panose="05000000000000000000" pitchFamily="2" charset="2"/>
              </a:rPr>
              <a:t>m=3)</a:t>
            </a:r>
            <a:endParaRPr lang="en-US" altLang="ko-KR" dirty="0" smtClean="0"/>
          </a:p>
          <a:p>
            <a:pPr marL="0" indent="0">
              <a:lnSpc>
                <a:spcPct val="120000"/>
              </a:lnSpc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  m(X) = 1101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  m(X)</a:t>
            </a:r>
            <a:r>
              <a:rPr lang="en-US" altLang="ko-KR" dirty="0"/>
              <a:t> </a:t>
            </a:r>
            <a:r>
              <a:rPr lang="en-US" altLang="ko-KR" dirty="0" err="1" smtClean="0"/>
              <a:t>X</a:t>
            </a:r>
            <a:r>
              <a:rPr lang="en-US" altLang="ko-KR" baseline="30000" dirty="0" err="1" smtClean="0"/>
              <a:t>m</a:t>
            </a:r>
            <a:r>
              <a:rPr lang="en-US" altLang="ko-KR" dirty="0" smtClean="0"/>
              <a:t> = 1001000                   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ko-KR" dirty="0" smtClean="0"/>
              <a:t>    H(X) = m(X)</a:t>
            </a:r>
            <a:r>
              <a:rPr lang="en-US" altLang="ko-KR" dirty="0" err="1" smtClean="0"/>
              <a:t>X</a:t>
            </a:r>
            <a:r>
              <a:rPr lang="en-US" altLang="ko-KR" baseline="30000" dirty="0" err="1" smtClean="0"/>
              <a:t>m</a:t>
            </a:r>
            <a:r>
              <a:rPr lang="en-US" altLang="ko-KR" dirty="0" smtClean="0"/>
              <a:t> </a:t>
            </a:r>
            <a:r>
              <a:rPr lang="en-US" altLang="ko-KR" dirty="0"/>
              <a:t>% P(X</a:t>
            </a:r>
            <a:r>
              <a:rPr lang="en-US" altLang="ko-KR" dirty="0" smtClean="0"/>
              <a:t>) = 110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  m(X)</a:t>
            </a:r>
            <a:r>
              <a:rPr lang="en-US" altLang="ko-KR" dirty="0" err="1" smtClean="0"/>
              <a:t>X</a:t>
            </a:r>
            <a:r>
              <a:rPr lang="en-US" altLang="ko-KR" baseline="30000" dirty="0" err="1" smtClean="0"/>
              <a:t>m</a:t>
            </a:r>
            <a:r>
              <a:rPr lang="en-US" altLang="ko-KR" dirty="0" smtClean="0"/>
              <a:t> + H(X) = 1001110</a:t>
            </a:r>
          </a:p>
          <a:p>
            <a:pPr marL="0" indent="0">
              <a:lnSpc>
                <a:spcPct val="120000"/>
              </a:lnSpc>
              <a:buNone/>
            </a:pPr>
            <a:endParaRPr lang="en-US" altLang="ko-KR" dirty="0" smtClean="0"/>
          </a:p>
          <a:p>
            <a:pPr>
              <a:lnSpc>
                <a:spcPct val="120000"/>
              </a:lnSpc>
            </a:pPr>
            <a:r>
              <a:rPr lang="en-US" altLang="ko-KR" dirty="0"/>
              <a:t> </a:t>
            </a:r>
            <a:r>
              <a:rPr lang="en-US" altLang="ko-KR" dirty="0" smtClean="0"/>
              <a:t>   How many cases of H(X) is possible?      3bits</a:t>
            </a:r>
          </a:p>
          <a:p>
            <a:pPr lvl="1">
              <a:lnSpc>
                <a:spcPct val="120000"/>
              </a:lnSpc>
            </a:pPr>
            <a:r>
              <a:rPr lang="en-US" altLang="ko-KR" dirty="0" smtClean="0"/>
              <a:t>What is probability that parity of 3 different m(X) are different?</a:t>
            </a:r>
          </a:p>
          <a:p>
            <a:pPr>
              <a:lnSpc>
                <a:spcPct val="120000"/>
              </a:lnSpc>
            </a:pPr>
            <a:r>
              <a:rPr lang="en-US" altLang="ko-KR" dirty="0"/>
              <a:t> </a:t>
            </a:r>
            <a:r>
              <a:rPr lang="en-US" altLang="ko-KR" dirty="0" smtClean="0"/>
              <a:t>   Note that P(X) is a prime number, 11.</a:t>
            </a:r>
          </a:p>
          <a:p>
            <a:pPr>
              <a:lnSpc>
                <a:spcPct val="120000"/>
              </a:lnSpc>
            </a:pPr>
            <a:r>
              <a:rPr lang="en-US" altLang="ko-KR" dirty="0"/>
              <a:t> </a:t>
            </a:r>
            <a:r>
              <a:rPr lang="en-US" altLang="ko-KR" dirty="0" smtClean="0"/>
              <a:t>   What happen if it is not prime number?       </a:t>
            </a:r>
          </a:p>
        </p:txBody>
      </p:sp>
      <p:grpSp>
        <p:nvGrpSpPr>
          <p:cNvPr id="5" name="그룹 4"/>
          <p:cNvGrpSpPr/>
          <p:nvPr/>
        </p:nvGrpSpPr>
        <p:grpSpPr>
          <a:xfrm>
            <a:off x="8773364" y="2177120"/>
            <a:ext cx="1673352" cy="1477328"/>
            <a:chOff x="9343949" y="1855251"/>
            <a:chExt cx="1673352" cy="1477328"/>
          </a:xfrm>
        </p:grpSpPr>
        <p:sp>
          <p:nvSpPr>
            <p:cNvPr id="4" name="TextBox 3"/>
            <p:cNvSpPr txBox="1"/>
            <p:nvPr/>
          </p:nvSpPr>
          <p:spPr>
            <a:xfrm>
              <a:off x="9343949" y="1855251"/>
              <a:ext cx="1673352" cy="1477328"/>
            </a:xfrm>
            <a:prstGeom prst="rect">
              <a:avLst/>
            </a:prstGeom>
            <a:solidFill>
              <a:schemeClr val="bg2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ko-KR" dirty="0" smtClean="0"/>
                <a:t>1001000</a:t>
              </a:r>
            </a:p>
            <a:p>
              <a:r>
                <a:rPr lang="en-US" altLang="ko-KR" dirty="0" smtClean="0"/>
                <a:t>1011</a:t>
              </a:r>
            </a:p>
            <a:p>
              <a:r>
                <a:rPr lang="en-US" altLang="ko-KR" dirty="0"/>
                <a:t> </a:t>
              </a:r>
              <a:r>
                <a:rPr lang="en-US" altLang="ko-KR" dirty="0" smtClean="0"/>
                <a:t>  10000</a:t>
              </a:r>
            </a:p>
            <a:p>
              <a:r>
                <a:rPr lang="en-US" altLang="ko-KR" dirty="0"/>
                <a:t> </a:t>
              </a:r>
              <a:r>
                <a:rPr lang="en-US" altLang="ko-KR" dirty="0" smtClean="0"/>
                <a:t>  1011</a:t>
              </a:r>
            </a:p>
            <a:p>
              <a:r>
                <a:rPr lang="en-US" altLang="ko-KR" dirty="0"/>
                <a:t> </a:t>
              </a:r>
              <a:r>
                <a:rPr lang="en-US" altLang="ko-KR" dirty="0" smtClean="0"/>
                <a:t>     110    </a:t>
              </a:r>
              <a:endParaRPr lang="ko-KR" altLang="en-US" dirty="0"/>
            </a:p>
          </p:txBody>
        </p:sp>
        <p:cxnSp>
          <p:nvCxnSpPr>
            <p:cNvPr id="8" name="직선 연결선 7"/>
            <p:cNvCxnSpPr/>
            <p:nvPr/>
          </p:nvCxnSpPr>
          <p:spPr>
            <a:xfrm>
              <a:off x="9343949" y="2458755"/>
              <a:ext cx="1133856" cy="0"/>
            </a:xfrm>
            <a:prstGeom prst="line">
              <a:avLst/>
            </a:prstGeom>
            <a:solidFill>
              <a:schemeClr val="bg2"/>
            </a:solidFill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/>
            <p:cNvCxnSpPr/>
            <p:nvPr/>
          </p:nvCxnSpPr>
          <p:spPr>
            <a:xfrm>
              <a:off x="9386621" y="3004347"/>
              <a:ext cx="1133856" cy="0"/>
            </a:xfrm>
            <a:prstGeom prst="line">
              <a:avLst/>
            </a:prstGeom>
            <a:solidFill>
              <a:schemeClr val="bg2"/>
            </a:solidFill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07211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45174"/>
            <a:ext cx="10515600" cy="757093"/>
          </a:xfrm>
        </p:spPr>
        <p:txBody>
          <a:bodyPr/>
          <a:lstStyle/>
          <a:p>
            <a:r>
              <a:rPr lang="en-US" altLang="ko-KR" dirty="0" smtClean="0"/>
              <a:t>Assignment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89304"/>
                <a:ext cx="10515600" cy="5067046"/>
              </a:xfrm>
            </p:spPr>
            <p:txBody>
              <a:bodyPr/>
              <a:lstStyle/>
              <a:p>
                <a:pPr>
                  <a:lnSpc>
                    <a:spcPct val="120000"/>
                  </a:lnSpc>
                </a:pPr>
                <a:r>
                  <a:rPr lang="en-US" altLang="ko-KR" dirty="0" smtClean="0"/>
                  <a:t>Implement a hash algorithm of division method for GF(256).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altLang="ko-KR" dirty="0" smtClean="0"/>
                  <a:t>Let P(X)=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p>
                        </m:s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ko-KR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altLang="ko-KR" dirty="0" smtClean="0"/>
                  <a:t>. = (100011101)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altLang="ko-KR" dirty="0" smtClean="0"/>
                  <a:t>Calculate H(X) for 3 files with the sizes of N</a:t>
                </a:r>
                <a:r>
                  <a:rPr lang="en-US" altLang="ko-KR" baseline="-25000" dirty="0" smtClean="0"/>
                  <a:t>1</a:t>
                </a:r>
                <a:r>
                  <a:rPr lang="en-US" altLang="ko-KR" dirty="0" smtClean="0"/>
                  <a:t>, N</a:t>
                </a:r>
                <a:r>
                  <a:rPr lang="en-US" altLang="ko-KR" baseline="-25000" dirty="0" smtClean="0"/>
                  <a:t>2</a:t>
                </a:r>
                <a:r>
                  <a:rPr lang="en-US" altLang="ko-KR" dirty="0" smtClean="0"/>
                  <a:t>, and N</a:t>
                </a:r>
                <a:r>
                  <a:rPr lang="en-US" altLang="ko-KR" baseline="-25000" dirty="0" smtClean="0"/>
                  <a:t>3</a:t>
                </a:r>
                <a:r>
                  <a:rPr lang="en-US" altLang="ko-KR" dirty="0" smtClean="0"/>
                  <a:t>, respectively.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altLang="ko-KR" dirty="0" smtClean="0"/>
                  <a:t>Make sure to search a file by using the hash code of 8 bytes.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altLang="ko-KR" dirty="0" smtClean="0"/>
                  <a:t>How many different hash codes are possible?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89304"/>
                <a:ext cx="10515600" cy="5067046"/>
              </a:xfrm>
              <a:blipFill rotWithShape="0">
                <a:blip r:embed="rId2"/>
                <a:stretch>
                  <a:fillRect l="-1043" t="-60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74715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>
                <a:solidFill>
                  <a:srgbClr val="00B0F0"/>
                </a:solidFill>
              </a:rPr>
              <a:t>“</a:t>
            </a:r>
            <a:r>
              <a:rPr lang="en-US" altLang="ko-KR" dirty="0" err="1" smtClean="0">
                <a:solidFill>
                  <a:srgbClr val="00B0F0"/>
                </a:solidFill>
              </a:rPr>
              <a:t>hash.h</a:t>
            </a:r>
            <a:r>
              <a:rPr lang="en-US" altLang="ko-KR" dirty="0" smtClean="0">
                <a:solidFill>
                  <a:srgbClr val="00B0F0"/>
                </a:solidFill>
              </a:rPr>
              <a:t>”</a:t>
            </a:r>
            <a:endParaRPr lang="ko-KR" altLang="en-US" dirty="0">
              <a:solidFill>
                <a:srgbClr val="00B0F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085278" y="1422000"/>
            <a:ext cx="14942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dirty="0" smtClean="0"/>
              <a:t>n bytes</a:t>
            </a:r>
          </a:p>
          <a:p>
            <a:pPr algn="r"/>
            <a:r>
              <a:rPr lang="en-US" altLang="ko-KR" dirty="0" smtClean="0"/>
              <a:t>contents[ ] </a:t>
            </a:r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4458622" y="1248937"/>
            <a:ext cx="2466286" cy="992458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>
                <a:solidFill>
                  <a:schemeClr val="tx1"/>
                </a:solidFill>
              </a:rPr>
              <a:t>ContentHash</a:t>
            </a:r>
            <a:r>
              <a:rPr lang="en-US" altLang="ko-KR" dirty="0" smtClean="0">
                <a:solidFill>
                  <a:schemeClr val="tx1"/>
                </a:solidFill>
              </a:rPr>
              <a:t>( )</a:t>
            </a:r>
          </a:p>
          <a:p>
            <a:pPr algn="ctr"/>
            <a:r>
              <a:rPr lang="en-US" altLang="ko-KR" sz="1400" dirty="0" smtClean="0">
                <a:solidFill>
                  <a:schemeClr val="tx1"/>
                </a:solidFill>
              </a:rPr>
              <a:t>Update H[M+1] n times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cxnSp>
        <p:nvCxnSpPr>
          <p:cNvPr id="7" name="직선 화살표 연결선 6"/>
          <p:cNvCxnSpPr>
            <a:stCxn id="4" idx="3"/>
            <a:endCxn id="5" idx="1"/>
          </p:cNvCxnSpPr>
          <p:nvPr/>
        </p:nvCxnSpPr>
        <p:spPr>
          <a:xfrm>
            <a:off x="3579542" y="1745166"/>
            <a:ext cx="8790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화살표 연결선 9"/>
          <p:cNvCxnSpPr/>
          <p:nvPr/>
        </p:nvCxnSpPr>
        <p:spPr>
          <a:xfrm flipV="1">
            <a:off x="6924907" y="1785537"/>
            <a:ext cx="669073" cy="167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705493" y="1408205"/>
            <a:ext cx="12043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M bytes</a:t>
            </a:r>
          </a:p>
          <a:p>
            <a:r>
              <a:rPr lang="en-US" altLang="ko-KR" dirty="0" smtClean="0"/>
              <a:t>Hash[ ]</a:t>
            </a:r>
            <a:endParaRPr lang="ko-KR" altLang="en-US" dirty="0"/>
          </a:p>
        </p:txBody>
      </p:sp>
      <p:graphicFrame>
        <p:nvGraphicFramePr>
          <p:cNvPr id="14" name="내용 개체 틀 1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52544726"/>
              </p:ext>
            </p:extLst>
          </p:nvPr>
        </p:nvGraphicFramePr>
        <p:xfrm>
          <a:off x="1172734" y="2368209"/>
          <a:ext cx="382301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1228"/>
                <a:gridCol w="361228"/>
                <a:gridCol w="361228"/>
                <a:gridCol w="361228"/>
                <a:gridCol w="361228"/>
                <a:gridCol w="361228"/>
                <a:gridCol w="361228"/>
                <a:gridCol w="361228"/>
                <a:gridCol w="361228"/>
                <a:gridCol w="571960"/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n-1</a:t>
                      </a:r>
                      <a:endParaRPr lang="ko-KR" altLang="en-US" sz="14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5" name="모서리가 둥근 직사각형 14"/>
          <p:cNvSpPr/>
          <p:nvPr/>
        </p:nvSpPr>
        <p:spPr>
          <a:xfrm>
            <a:off x="2754351" y="2241395"/>
            <a:ext cx="691376" cy="497654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…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1083526" y="2807423"/>
            <a:ext cx="5613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smtClean="0"/>
              <a:t>X</a:t>
            </a:r>
            <a:r>
              <a:rPr lang="en-US" altLang="ko-KR" baseline="30000" dirty="0" smtClean="0"/>
              <a:t>n-1</a:t>
            </a:r>
            <a:endParaRPr lang="ko-KR" altLang="en-US" dirty="0"/>
          </a:p>
        </p:txBody>
      </p:sp>
      <p:sp>
        <p:nvSpPr>
          <p:cNvPr id="17" name="직사각형 16"/>
          <p:cNvSpPr/>
          <p:nvPr/>
        </p:nvSpPr>
        <p:spPr>
          <a:xfrm>
            <a:off x="4458621" y="2804807"/>
            <a:ext cx="4090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smtClean="0"/>
              <a:t>X</a:t>
            </a:r>
            <a:r>
              <a:rPr lang="en-US" altLang="ko-KR" baseline="30000" dirty="0" smtClean="0"/>
              <a:t>0</a:t>
            </a:r>
            <a:endParaRPr lang="ko-KR" altLang="en-US" dirty="0"/>
          </a:p>
        </p:txBody>
      </p:sp>
      <p:sp>
        <p:nvSpPr>
          <p:cNvPr id="18" name="직사각형 17"/>
          <p:cNvSpPr/>
          <p:nvPr/>
        </p:nvSpPr>
        <p:spPr>
          <a:xfrm>
            <a:off x="4122130" y="2808520"/>
            <a:ext cx="4090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smtClean="0"/>
              <a:t>X</a:t>
            </a:r>
            <a:r>
              <a:rPr lang="en-US" altLang="ko-KR" baseline="30000" dirty="0" smtClean="0"/>
              <a:t>1</a:t>
            </a:r>
            <a:endParaRPr lang="ko-KR" altLang="en-US" dirty="0"/>
          </a:p>
        </p:txBody>
      </p:sp>
      <p:sp>
        <p:nvSpPr>
          <p:cNvPr id="19" name="직사각형 18"/>
          <p:cNvSpPr/>
          <p:nvPr/>
        </p:nvSpPr>
        <p:spPr>
          <a:xfrm>
            <a:off x="3713044" y="2807423"/>
            <a:ext cx="4090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smtClean="0"/>
              <a:t>X</a:t>
            </a:r>
            <a:r>
              <a:rPr lang="en-US" altLang="ko-KR" baseline="30000" dirty="0" smtClean="0"/>
              <a:t>2</a:t>
            </a:r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1172734" y="3382449"/>
            <a:ext cx="10826362" cy="241912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dirty="0" err="1" smtClean="0"/>
              <a:t>newHX</a:t>
            </a:r>
            <a:r>
              <a:rPr lang="en-US" altLang="ko-KR" dirty="0" smtClean="0"/>
              <a:t>( ): contents[ ]</a:t>
            </a:r>
            <a:r>
              <a:rPr lang="ko-KR" altLang="en-US" dirty="0" smtClean="0"/>
              <a:t>의 첫 </a:t>
            </a:r>
            <a:r>
              <a:rPr lang="en-US" altLang="ko-KR" dirty="0" smtClean="0"/>
              <a:t>M+1 bytes</a:t>
            </a:r>
            <a:r>
              <a:rPr lang="ko-KR" altLang="en-US" dirty="0" smtClean="0"/>
              <a:t>에서 </a:t>
            </a:r>
            <a:r>
              <a:rPr lang="en-US" altLang="ko-KR" dirty="0" err="1" smtClean="0"/>
              <a:t>aP</a:t>
            </a:r>
            <a:r>
              <a:rPr lang="en-US" altLang="ko-KR" dirty="0" smtClean="0"/>
              <a:t>(X)</a:t>
            </a:r>
            <a:r>
              <a:rPr lang="ko-KR" altLang="en-US" dirty="0" smtClean="0"/>
              <a:t>를 뺀다</a:t>
            </a:r>
            <a:r>
              <a:rPr lang="en-US" altLang="ko-KR" dirty="0" smtClean="0"/>
              <a:t>. </a:t>
            </a:r>
            <a:r>
              <a:rPr lang="ko-KR" altLang="en-US" dirty="0" smtClean="0"/>
              <a:t>여기서 </a:t>
            </a:r>
            <a:r>
              <a:rPr lang="en-US" altLang="ko-KR" dirty="0" smtClean="0"/>
              <a:t>a</a:t>
            </a:r>
            <a:r>
              <a:rPr lang="ko-KR" altLang="en-US" dirty="0" smtClean="0"/>
              <a:t>는 </a:t>
            </a:r>
            <a:r>
              <a:rPr lang="en-US" altLang="ko-KR" dirty="0" smtClean="0"/>
              <a:t>contents</a:t>
            </a:r>
            <a:r>
              <a:rPr lang="ko-KR" altLang="en-US" dirty="0" smtClean="0"/>
              <a:t>의 첫 바이트</a:t>
            </a:r>
            <a:r>
              <a:rPr lang="en-US" altLang="ko-KR" dirty="0" smtClean="0"/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dirty="0"/>
              <a:t> </a:t>
            </a:r>
            <a:r>
              <a:rPr lang="en-US" altLang="ko-KR" dirty="0" smtClean="0"/>
              <a:t>            </a:t>
            </a:r>
            <a:r>
              <a:rPr lang="ko-KR" altLang="en-US" dirty="0" smtClean="0"/>
              <a:t>즉</a:t>
            </a:r>
            <a:r>
              <a:rPr lang="en-US" altLang="ko-KR" dirty="0" smtClean="0"/>
              <a:t>, </a:t>
            </a:r>
            <a:r>
              <a:rPr lang="ko-KR" altLang="en-US" dirty="0" err="1" smtClean="0"/>
              <a:t>첫번째</a:t>
            </a:r>
            <a:r>
              <a:rPr lang="ko-KR" altLang="en-US" dirty="0" smtClean="0"/>
              <a:t> </a:t>
            </a:r>
            <a:r>
              <a:rPr lang="en-US" altLang="ko-KR" dirty="0" smtClean="0"/>
              <a:t>digit</a:t>
            </a:r>
            <a:r>
              <a:rPr lang="ko-KR" altLang="en-US" dirty="0" smtClean="0"/>
              <a:t>에 대해서 나눗셈을 실시한다</a:t>
            </a:r>
            <a:r>
              <a:rPr lang="en-US" altLang="ko-KR" dirty="0" smtClean="0"/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dirty="0"/>
              <a:t> </a:t>
            </a:r>
            <a:r>
              <a:rPr lang="en-US" altLang="ko-KR" dirty="0" smtClean="0"/>
              <a:t>            </a:t>
            </a:r>
            <a:r>
              <a:rPr lang="ko-KR" altLang="en-US" dirty="0" smtClean="0"/>
              <a:t>만일 첫 </a:t>
            </a:r>
            <a:r>
              <a:rPr lang="en-US" altLang="ko-KR" dirty="0" smtClean="0"/>
              <a:t>M+1 byte</a:t>
            </a:r>
            <a:r>
              <a:rPr lang="ko-KR" altLang="en-US" dirty="0" smtClean="0"/>
              <a:t>가 </a:t>
            </a:r>
            <a:r>
              <a:rPr lang="en-US" altLang="ko-KR" dirty="0" err="1" smtClean="0"/>
              <a:t>abcd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efgh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i</a:t>
            </a:r>
            <a:r>
              <a:rPr lang="ko-KR" altLang="en-US" dirty="0" smtClean="0"/>
              <a:t>라면</a:t>
            </a:r>
            <a:r>
              <a:rPr lang="en-US" altLang="ko-KR" dirty="0" smtClean="0"/>
              <a:t>, H(X)=</a:t>
            </a:r>
            <a:r>
              <a:rPr lang="en-US" altLang="ko-KR" dirty="0" err="1" smtClean="0"/>
              <a:t>abcd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efgh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i</a:t>
            </a:r>
            <a:r>
              <a:rPr lang="en-US" altLang="ko-KR" dirty="0" smtClean="0"/>
              <a:t> + a000 aaa0 a</a:t>
            </a:r>
            <a:r>
              <a:rPr lang="ko-KR" altLang="en-US" dirty="0" smtClean="0"/>
              <a:t>가 된다</a:t>
            </a:r>
            <a:r>
              <a:rPr lang="en-US" altLang="ko-KR" dirty="0" smtClean="0"/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dirty="0"/>
              <a:t> </a:t>
            </a:r>
            <a:r>
              <a:rPr lang="en-US" altLang="ko-KR" dirty="0" smtClean="0"/>
              <a:t>            </a:t>
            </a:r>
            <a:r>
              <a:rPr lang="ko-KR" altLang="en-US" dirty="0" smtClean="0"/>
              <a:t>즉</a:t>
            </a:r>
            <a:r>
              <a:rPr lang="en-US" altLang="ko-KR" dirty="0" smtClean="0"/>
              <a:t>, H(X) = 0bcd (</a:t>
            </a:r>
            <a:r>
              <a:rPr lang="en-US" altLang="ko-KR" dirty="0" err="1" smtClean="0"/>
              <a:t>e+a</a:t>
            </a:r>
            <a:r>
              <a:rPr lang="en-US" altLang="ko-KR" dirty="0" smtClean="0"/>
              <a:t>)(</a:t>
            </a:r>
            <a:r>
              <a:rPr lang="en-US" altLang="ko-KR" dirty="0" err="1" smtClean="0"/>
              <a:t>f+a</a:t>
            </a:r>
            <a:r>
              <a:rPr lang="en-US" altLang="ko-KR" dirty="0" smtClean="0"/>
              <a:t>)(</a:t>
            </a:r>
            <a:r>
              <a:rPr lang="en-US" altLang="ko-KR" dirty="0" err="1" smtClean="0"/>
              <a:t>g+a</a:t>
            </a:r>
            <a:r>
              <a:rPr lang="en-US" altLang="ko-KR" dirty="0" smtClean="0"/>
              <a:t>) h(</a:t>
            </a:r>
            <a:r>
              <a:rPr lang="en-US" altLang="ko-KR" dirty="0" err="1" smtClean="0"/>
              <a:t>i+a</a:t>
            </a:r>
            <a:r>
              <a:rPr lang="en-US" altLang="ko-KR" dirty="0" smtClean="0"/>
              <a:t>)</a:t>
            </a:r>
            <a:r>
              <a:rPr lang="ko-KR" altLang="en-US" dirty="0" smtClean="0"/>
              <a:t>가 된다</a:t>
            </a:r>
            <a:r>
              <a:rPr lang="en-US" altLang="ko-KR" dirty="0" smtClean="0"/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dirty="0" err="1" smtClean="0"/>
              <a:t>nextByte</a:t>
            </a:r>
            <a:r>
              <a:rPr lang="en-US" altLang="ko-KR" dirty="0" smtClean="0"/>
              <a:t>( ): </a:t>
            </a:r>
            <a:r>
              <a:rPr lang="ko-KR" altLang="en-US" dirty="0" smtClean="0"/>
              <a:t>그 다음부터는 한 </a:t>
            </a:r>
            <a:r>
              <a:rPr lang="en-US" altLang="ko-KR" dirty="0" smtClean="0"/>
              <a:t>digit</a:t>
            </a:r>
            <a:r>
              <a:rPr lang="ko-KR" altLang="en-US" dirty="0" smtClean="0"/>
              <a:t>씩 내려가면서</a:t>
            </a:r>
            <a:r>
              <a:rPr lang="en-US" altLang="ko-KR" dirty="0" smtClean="0"/>
              <a:t>, contents</a:t>
            </a:r>
            <a:r>
              <a:rPr lang="ko-KR" altLang="en-US" dirty="0" smtClean="0"/>
              <a:t>에서 다음 </a:t>
            </a:r>
            <a:r>
              <a:rPr lang="en-US" altLang="ko-KR" dirty="0" smtClean="0"/>
              <a:t>digit</a:t>
            </a:r>
            <a:r>
              <a:rPr lang="ko-KR" altLang="en-US" dirty="0" smtClean="0"/>
              <a:t>을 받아 나눗셈을 실시한다</a:t>
            </a:r>
            <a:r>
              <a:rPr lang="en-US" altLang="ko-KR" dirty="0" smtClean="0"/>
              <a:t>.</a:t>
            </a:r>
            <a:endParaRPr lang="en-US" altLang="ko-KR" dirty="0"/>
          </a:p>
          <a:p>
            <a:pPr>
              <a:lnSpc>
                <a:spcPct val="120000"/>
              </a:lnSpc>
            </a:pPr>
            <a:r>
              <a:rPr lang="en-US" altLang="ko-KR" dirty="0"/>
              <a:t>              </a:t>
            </a:r>
            <a:r>
              <a:rPr lang="ko-KR" altLang="en-US" dirty="0" err="1"/>
              <a:t>두번째는</a:t>
            </a:r>
            <a:r>
              <a:rPr lang="ko-KR" altLang="en-US" dirty="0"/>
              <a:t> </a:t>
            </a:r>
            <a:r>
              <a:rPr lang="en-US" altLang="ko-KR" dirty="0"/>
              <a:t>H(X) = </a:t>
            </a:r>
            <a:r>
              <a:rPr lang="en-US" altLang="ko-KR" dirty="0" err="1"/>
              <a:t>bcd</a:t>
            </a:r>
            <a:r>
              <a:rPr lang="en-US" altLang="ko-KR" dirty="0"/>
              <a:t>(</a:t>
            </a:r>
            <a:r>
              <a:rPr lang="en-US" altLang="ko-KR" dirty="0" err="1"/>
              <a:t>e+a</a:t>
            </a:r>
            <a:r>
              <a:rPr lang="en-US" altLang="ko-KR" dirty="0"/>
              <a:t>) (</a:t>
            </a:r>
            <a:r>
              <a:rPr lang="en-US" altLang="ko-KR" dirty="0" err="1"/>
              <a:t>f+a</a:t>
            </a:r>
            <a:r>
              <a:rPr lang="en-US" altLang="ko-KR" dirty="0"/>
              <a:t>)(</a:t>
            </a:r>
            <a:r>
              <a:rPr lang="en-US" altLang="ko-KR" dirty="0" err="1"/>
              <a:t>g+a</a:t>
            </a:r>
            <a:r>
              <a:rPr lang="en-US" altLang="ko-KR" dirty="0"/>
              <a:t>)h(</a:t>
            </a:r>
            <a:r>
              <a:rPr lang="en-US" altLang="ko-KR" dirty="0" err="1"/>
              <a:t>i+a</a:t>
            </a:r>
            <a:r>
              <a:rPr lang="en-US" altLang="ko-KR" dirty="0"/>
              <a:t>) j + b000 bbb0 b</a:t>
            </a:r>
            <a:endParaRPr lang="ko-KR" altLang="en-US" dirty="0"/>
          </a:p>
          <a:p>
            <a:pPr>
              <a:lnSpc>
                <a:spcPct val="120000"/>
              </a:lnSpc>
            </a:pPr>
            <a:r>
              <a:rPr lang="en-US" altLang="ko-KR" dirty="0" smtClean="0"/>
              <a:t>              </a:t>
            </a:r>
            <a:r>
              <a:rPr lang="ko-KR" altLang="en-US" dirty="0" smtClean="0"/>
              <a:t>다음 </a:t>
            </a:r>
            <a:r>
              <a:rPr lang="en-US" altLang="ko-KR" dirty="0" smtClean="0"/>
              <a:t>digit</a:t>
            </a:r>
            <a:r>
              <a:rPr lang="ko-KR" altLang="en-US" dirty="0" smtClean="0"/>
              <a:t>은</a:t>
            </a:r>
            <a:r>
              <a:rPr lang="en-US" altLang="ko-KR" dirty="0" smtClean="0"/>
              <a:t> content[</a:t>
            </a:r>
            <a:r>
              <a:rPr lang="en-US" altLang="ko-KR" dirty="0" err="1" smtClean="0"/>
              <a:t>i+M</a:t>
            </a:r>
            <a:r>
              <a:rPr lang="en-US" altLang="ko-KR" dirty="0" smtClean="0"/>
              <a:t>]</a:t>
            </a:r>
            <a:r>
              <a:rPr lang="ko-KR" altLang="en-US" dirty="0" smtClean="0"/>
              <a:t>이다</a:t>
            </a:r>
            <a:r>
              <a:rPr lang="en-US" altLang="ko-KR" dirty="0" smtClean="0"/>
              <a:t>. </a:t>
            </a:r>
            <a:r>
              <a:rPr lang="en-US" altLang="ko-KR" dirty="0" err="1" smtClean="0"/>
              <a:t>i</a:t>
            </a:r>
            <a:r>
              <a:rPr lang="en-US" altLang="ko-KR" dirty="0" smtClean="0"/>
              <a:t>=n-M</a:t>
            </a:r>
            <a:r>
              <a:rPr lang="ko-KR" altLang="en-US" dirty="0" smtClean="0"/>
              <a:t>부터는 </a:t>
            </a:r>
            <a:r>
              <a:rPr lang="en-US" altLang="ko-KR" dirty="0" smtClean="0"/>
              <a:t>contents</a:t>
            </a:r>
            <a:r>
              <a:rPr lang="ko-KR" altLang="en-US" dirty="0" smtClean="0"/>
              <a:t>의 끝을 지났으므로 </a:t>
            </a:r>
            <a:r>
              <a:rPr lang="en-US" altLang="ko-KR" dirty="0" smtClean="0"/>
              <a:t>0</a:t>
            </a:r>
            <a:r>
              <a:rPr lang="ko-KR" altLang="en-US" dirty="0" smtClean="0"/>
              <a:t>을 받는다</a:t>
            </a:r>
            <a:r>
              <a:rPr lang="en-US" altLang="ko-KR" dirty="0" smtClean="0"/>
              <a:t>. </a:t>
            </a:r>
            <a:r>
              <a:rPr lang="ko-KR" altLang="en-US" dirty="0" smtClean="0"/>
              <a:t> </a:t>
            </a:r>
            <a:r>
              <a:rPr lang="en-US" altLang="ko-KR" dirty="0" smtClean="0"/>
              <a:t>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30846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raptor dinosaur에 대한 이미지 검색결과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207" y="2494066"/>
            <a:ext cx="4438650" cy="3743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179679"/>
          </a:xfrm>
        </p:spPr>
        <p:txBody>
          <a:bodyPr/>
          <a:lstStyle/>
          <a:p>
            <a:r>
              <a:rPr lang="en-US" altLang="ko-KR" dirty="0" smtClean="0"/>
              <a:t>Raptor code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 smtClean="0"/>
              <a:t>Doug Young Suh</a:t>
            </a:r>
          </a:p>
          <a:p>
            <a:r>
              <a:rPr lang="en-US" altLang="ko-KR" dirty="0" smtClean="0"/>
              <a:t>2016. 9. 1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05986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Erasure recovery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Reliable storage </a:t>
            </a:r>
            <a:endParaRPr lang="en-US" altLang="ko-KR" dirty="0"/>
          </a:p>
          <a:p>
            <a:r>
              <a:rPr lang="en-US" altLang="ko-KR" dirty="0" smtClean="0"/>
              <a:t>Reliable transmission (real-time service, multicast service)</a:t>
            </a:r>
            <a:endParaRPr lang="ko-KR" altLang="en-US" dirty="0"/>
          </a:p>
        </p:txBody>
      </p:sp>
      <p:pic>
        <p:nvPicPr>
          <p:cNvPr id="13316" name="Picture 4" descr="erasure coding에 대한 이미지 검색결과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0759" y="2364455"/>
            <a:ext cx="6153786" cy="3926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직사각형 3"/>
          <p:cNvSpPr/>
          <p:nvPr/>
        </p:nvSpPr>
        <p:spPr>
          <a:xfrm>
            <a:off x="3169920" y="5212723"/>
            <a:ext cx="496824" cy="4001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ko-KR" sz="2000" dirty="0"/>
              <a:t>N</a:t>
            </a:r>
            <a:endParaRPr lang="ko-KR" altLang="en-US" sz="2000" dirty="0"/>
          </a:p>
        </p:txBody>
      </p:sp>
      <p:sp>
        <p:nvSpPr>
          <p:cNvPr id="7" name="직사각형 6"/>
          <p:cNvSpPr/>
          <p:nvPr/>
        </p:nvSpPr>
        <p:spPr>
          <a:xfrm>
            <a:off x="8068056" y="5230541"/>
            <a:ext cx="496824" cy="4001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ko-KR" sz="2000" dirty="0"/>
              <a:t>N</a:t>
            </a:r>
            <a:endParaRPr lang="ko-KR" altLang="en-US" sz="2000" dirty="0"/>
          </a:p>
        </p:txBody>
      </p:sp>
      <p:sp>
        <p:nvSpPr>
          <p:cNvPr id="8" name="직사각형 7"/>
          <p:cNvSpPr/>
          <p:nvPr/>
        </p:nvSpPr>
        <p:spPr>
          <a:xfrm>
            <a:off x="4319016" y="5923379"/>
            <a:ext cx="893064" cy="4001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ko-KR" sz="2000" dirty="0" smtClean="0"/>
              <a:t>N+K</a:t>
            </a:r>
            <a:endParaRPr lang="ko-KR" alt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직사각형 4"/>
              <p:cNvSpPr/>
              <p:nvPr/>
            </p:nvSpPr>
            <p:spPr>
              <a:xfrm>
                <a:off x="4211440" y="5921296"/>
                <a:ext cx="945772" cy="4001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𝑁</m:t>
                      </m:r>
                      <m:r>
                        <a:rPr lang="en-US" altLang="ko-KR" sz="200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=9</m:t>
                      </m:r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5" name="직사각형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1440" y="5921296"/>
                <a:ext cx="945772" cy="400110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직사각형 8"/>
              <p:cNvSpPr/>
              <p:nvPr/>
            </p:nvSpPr>
            <p:spPr>
              <a:xfrm>
                <a:off x="2945446" y="5245584"/>
                <a:ext cx="741613" cy="4001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r>
                  <a:rPr lang="en-US" altLang="ko-KR" sz="2000" dirty="0" smtClean="0">
                    <a:solidFill>
                      <a:srgbClr val="FF0000"/>
                    </a:solidFill>
                  </a:rPr>
                  <a:t>K</a:t>
                </a:r>
                <a14:m>
                  <m:oMath xmlns:m="http://schemas.openxmlformats.org/officeDocument/2006/math">
                    <m:r>
                      <a:rPr lang="en-US" altLang="ko-KR" sz="2000" i="1" dirty="0">
                        <a:solidFill>
                          <a:srgbClr val="FF0000"/>
                        </a:solidFill>
                        <a:latin typeface="Cambria Math"/>
                      </a:rPr>
                      <m:t>=</m:t>
                    </m:r>
                    <m:r>
                      <a:rPr lang="en-US" altLang="ko-KR" sz="20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9" name="직사각형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5446" y="5245584"/>
                <a:ext cx="741613" cy="400110"/>
              </a:xfrm>
              <a:prstGeom prst="rect">
                <a:avLst/>
              </a:prstGeom>
              <a:blipFill rotWithShape="0">
                <a:blip r:embed="rId4"/>
                <a:stretch>
                  <a:fillRect l="-8197" t="-7576" b="-2575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직사각형 9"/>
              <p:cNvSpPr/>
              <p:nvPr/>
            </p:nvSpPr>
            <p:spPr>
              <a:xfrm>
                <a:off x="6232750" y="5948287"/>
                <a:ext cx="1498359" cy="4001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altLang="ko-KR" sz="20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=6≥</m:t>
                      </m:r>
                      <m:r>
                        <a:rPr lang="en-US" altLang="ko-KR" sz="20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10" name="직사각형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2750" y="5948287"/>
                <a:ext cx="1498359" cy="400110"/>
              </a:xfrm>
              <a:prstGeom prst="rect">
                <a:avLst/>
              </a:prstGeom>
              <a:blipFill rotWithShape="0">
                <a:blip r:embed="rId5"/>
                <a:stretch>
                  <a:fillRect b="-153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직사각형 10"/>
              <p:cNvSpPr/>
              <p:nvPr/>
            </p:nvSpPr>
            <p:spPr>
              <a:xfrm>
                <a:off x="2945446" y="5278445"/>
                <a:ext cx="741613" cy="4001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r>
                  <a:rPr lang="en-US" altLang="ko-KR" sz="2000" dirty="0" smtClean="0">
                    <a:solidFill>
                      <a:srgbClr val="FF0000"/>
                    </a:solidFill>
                  </a:rPr>
                  <a:t>K</a:t>
                </a:r>
                <a14:m>
                  <m:oMath xmlns:m="http://schemas.openxmlformats.org/officeDocument/2006/math">
                    <m:r>
                      <a:rPr lang="en-US" altLang="ko-KR" sz="2000" i="1" dirty="0">
                        <a:solidFill>
                          <a:srgbClr val="FF0000"/>
                        </a:solidFill>
                        <a:latin typeface="Cambria Math"/>
                      </a:rPr>
                      <m:t>=</m:t>
                    </m:r>
                    <m:r>
                      <a:rPr lang="en-US" altLang="ko-KR" sz="20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11" name="직사각형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5446" y="5278445"/>
                <a:ext cx="741613" cy="400110"/>
              </a:xfrm>
              <a:prstGeom prst="rect">
                <a:avLst/>
              </a:prstGeom>
              <a:blipFill rotWithShape="0">
                <a:blip r:embed="rId6"/>
                <a:stretch>
                  <a:fillRect l="-8197" t="-9091" b="-2575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직사각형 11"/>
              <p:cNvSpPr/>
              <p:nvPr/>
            </p:nvSpPr>
            <p:spPr>
              <a:xfrm>
                <a:off x="7945661" y="5172772"/>
                <a:ext cx="741613" cy="4001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r>
                  <a:rPr lang="en-US" altLang="ko-KR" sz="2000" dirty="0" smtClean="0">
                    <a:solidFill>
                      <a:srgbClr val="FF0000"/>
                    </a:solidFill>
                  </a:rPr>
                  <a:t>K</a:t>
                </a:r>
                <a14:m>
                  <m:oMath xmlns:m="http://schemas.openxmlformats.org/officeDocument/2006/math">
                    <m:r>
                      <a:rPr lang="en-US" altLang="ko-KR" sz="2000" i="1" dirty="0">
                        <a:solidFill>
                          <a:srgbClr val="FF0000"/>
                        </a:solidFill>
                        <a:latin typeface="Cambria Math"/>
                      </a:rPr>
                      <m:t>=</m:t>
                    </m:r>
                    <m:r>
                      <a:rPr lang="en-US" altLang="ko-KR" sz="20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12" name="직사각형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5661" y="5172772"/>
                <a:ext cx="741613" cy="400110"/>
              </a:xfrm>
              <a:prstGeom prst="rect">
                <a:avLst/>
              </a:prstGeom>
              <a:blipFill rotWithShape="0">
                <a:blip r:embed="rId7"/>
                <a:stretch>
                  <a:fillRect l="-8197" t="-9231" b="-2769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직사각형 12"/>
          <p:cNvSpPr/>
          <p:nvPr/>
        </p:nvSpPr>
        <p:spPr>
          <a:xfrm>
            <a:off x="3666744" y="4622862"/>
            <a:ext cx="769763" cy="40011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ko-KR" sz="2000" dirty="0" smtClean="0">
                <a:solidFill>
                  <a:srgbClr val="FF0000"/>
                </a:solidFill>
              </a:rPr>
              <a:t>(9, 5)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543956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Times New Roman" pitchFamily="18" charset="0"/>
              </a:rPr>
              <a:t>Example (1)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 smtClean="0">
                    <a:latin typeface="Times New Roman" pitchFamily="18" charset="0"/>
                  </a:rPr>
                  <a:t>Let’s assume ,</a:t>
                </a:r>
              </a:p>
              <a:p>
                <a:pPr lvl="1"/>
                <a:r>
                  <a:rPr lang="en-US" dirty="0" smtClean="0">
                    <a:latin typeface="Times New Roman" pitchFamily="18" charset="0"/>
                  </a:rPr>
                  <a:t>Total number of encoded symbols ,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𝑁</m:t>
                    </m:r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/>
                      </a:rPr>
                      <m:t>=6</m:t>
                    </m:r>
                  </m:oMath>
                </a14:m>
                <a:endParaRPr lang="en-US" dirty="0" smtClean="0">
                  <a:latin typeface="Times New Roman" pitchFamily="18" charset="0"/>
                </a:endParaRPr>
              </a:p>
              <a:p>
                <a:pPr lvl="1"/>
                <a:r>
                  <a:rPr lang="en-US" dirty="0" smtClean="0">
                    <a:latin typeface="Times New Roman" pitchFamily="18" charset="0"/>
                  </a:rPr>
                  <a:t>Total number of source symbols ,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𝐾</m:t>
                    </m:r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/>
                      </a:rPr>
                      <m:t>’=3</m:t>
                    </m:r>
                  </m:oMath>
                </a14:m>
                <a:endParaRPr lang="en-US" dirty="0" smtClean="0">
                  <a:solidFill>
                    <a:srgbClr val="FF0000"/>
                  </a:solidFill>
                  <a:latin typeface="Times New Roman" pitchFamily="18" charset="0"/>
                </a:endParaRPr>
              </a:p>
              <a:p>
                <a:pPr lvl="1"/>
                <a:r>
                  <a:rPr lang="en-US" dirty="0" smtClean="0">
                    <a:latin typeface="Times New Roman" pitchFamily="18" charset="0"/>
                  </a:rPr>
                  <a:t>Symbol Size ,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𝑇</m:t>
                    </m:r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/>
                      </a:rPr>
                      <m:t>=3</m:t>
                    </m:r>
                  </m:oMath>
                </a14:m>
                <a:endParaRPr lang="en-US" dirty="0" smtClean="0">
                  <a:latin typeface="Times New Roman" pitchFamily="18" charset="0"/>
                </a:endParaRPr>
              </a:p>
              <a:p>
                <a:pPr lvl="1"/>
                <a:r>
                  <a:rPr lang="en-US" dirty="0" smtClean="0">
                    <a:latin typeface="Times New Roman" pitchFamily="18" charset="0"/>
                  </a:rPr>
                  <a:t>Total number of received symbols ,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𝑀</m:t>
                    </m:r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/>
                      </a:rPr>
                      <m:t>=4</m:t>
                    </m:r>
                  </m:oMath>
                </a14:m>
                <a:endParaRPr lang="en-US" dirty="0" smtClean="0">
                  <a:latin typeface="Times New Roman" pitchFamily="18" charset="0"/>
                </a:endParaRPr>
              </a:p>
              <a:p>
                <a:pPr lvl="1"/>
                <a:endParaRPr lang="en-US" dirty="0">
                  <a:latin typeface="Times New Roman" pitchFamily="18" charset="0"/>
                </a:endParaRPr>
              </a:p>
              <a:p>
                <a:pPr lvl="1"/>
                <a:r>
                  <a:rPr lang="en-US" dirty="0" smtClean="0">
                    <a:latin typeface="Times New Roman" pitchFamily="18" charset="0"/>
                  </a:rPr>
                  <a:t>Then our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𝑄</m:t>
                    </m:r>
                    <m:r>
                      <a:rPr lang="en-US" b="0" i="1" dirty="0" smtClean="0">
                        <a:latin typeface="Cambria Math"/>
                      </a:rPr>
                      <m:t>_</m:t>
                    </m:r>
                    <m:r>
                      <a:rPr lang="en-US" i="1" dirty="0" smtClean="0">
                        <a:latin typeface="Cambria Math"/>
                      </a:rPr>
                      <m:t>𝑀𝑎𝑡𝑟𝑖𝑥</m:t>
                    </m:r>
                    <m:r>
                      <a:rPr lang="en-US" i="1" dirty="0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dirty="0" smtClean="0">
                    <a:latin typeface="Times New Roman" pitchFamily="18" charset="0"/>
                  </a:rPr>
                  <a:t>is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𝑁𝑋𝐾</m:t>
                    </m:r>
                    <m:r>
                      <a:rPr lang="en-US" i="1" dirty="0" smtClean="0">
                        <a:latin typeface="Cambria Math"/>
                      </a:rPr>
                      <m:t>’</m:t>
                    </m:r>
                  </m:oMath>
                </a14:m>
                <a:r>
                  <a:rPr lang="en-US" dirty="0" smtClean="0">
                    <a:latin typeface="Times New Roman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𝑆𝑜𝑢𝑟𝑐𝑒</m:t>
                    </m:r>
                    <m:r>
                      <a:rPr lang="en-US" i="1" dirty="0" smtClean="0">
                        <a:latin typeface="Cambria Math"/>
                      </a:rPr>
                      <m:t> </m:t>
                    </m:r>
                    <m:r>
                      <a:rPr lang="en-US" i="1" dirty="0" smtClean="0">
                        <a:latin typeface="Cambria Math"/>
                      </a:rPr>
                      <m:t>𝑆𝑦𝑚𝑏𝑜𝑙</m:t>
                    </m:r>
                    <m:r>
                      <a:rPr lang="en-US" i="1" dirty="0" smtClean="0">
                        <a:latin typeface="Cambria Math"/>
                      </a:rPr>
                      <m:t> </m:t>
                    </m:r>
                    <m:r>
                      <a:rPr lang="en-US" i="1" dirty="0" smtClean="0">
                        <a:latin typeface="Cambria Math"/>
                      </a:rPr>
                      <m:t>𝑀𝑎𝑡𝑟𝑖𝑥</m:t>
                    </m:r>
                    <m:r>
                      <a:rPr lang="en-US" i="1" dirty="0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dirty="0" smtClean="0">
                    <a:latin typeface="Times New Roman" pitchFamily="18" charset="0"/>
                  </a:rPr>
                  <a:t>is</a:t>
                </a:r>
              </a:p>
              <a:p>
                <a:endParaRPr lang="en-US" dirty="0" smtClean="0">
                  <a:latin typeface="Times New Roman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3"/>
                <a:stretch>
                  <a:fillRect l="-212" t="-3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3490332"/>
              </p:ext>
            </p:extLst>
          </p:nvPr>
        </p:nvGraphicFramePr>
        <p:xfrm>
          <a:off x="3704606" y="4384044"/>
          <a:ext cx="1167259" cy="12241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74" name="Equation" r:id="rId4" imgW="685800" imgH="711000" progId="Equation.3">
                  <p:embed/>
                </p:oleObj>
              </mc:Choice>
              <mc:Fallback>
                <p:oleObj name="Equation" r:id="rId4" imgW="685800" imgH="711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4606" y="4384044"/>
                        <a:ext cx="1167259" cy="122413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4318621"/>
              </p:ext>
            </p:extLst>
          </p:nvPr>
        </p:nvGraphicFramePr>
        <p:xfrm>
          <a:off x="8455546" y="3951995"/>
          <a:ext cx="1312863" cy="23361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75" name="Equation" r:id="rId6" imgW="685800" imgH="1371600" progId="Equation.3">
                  <p:embed/>
                </p:oleObj>
              </mc:Choice>
              <mc:Fallback>
                <p:oleObj name="Equation" r:id="rId6" imgW="685800" imgH="1371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55546" y="3951995"/>
                        <a:ext cx="1312863" cy="23361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20136" y="4960107"/>
            <a:ext cx="12961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/>
              <a:t>Q_Matrix</a:t>
            </a:r>
            <a:r>
              <a:rPr lang="en-US" sz="1600" dirty="0"/>
              <a:t>=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91544" y="4806799"/>
            <a:ext cx="20162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Source Symbols=</a:t>
            </a:r>
          </a:p>
        </p:txBody>
      </p:sp>
    </p:spTree>
    <p:extLst>
      <p:ext uri="{BB962C8B-B14F-4D97-AF65-F5344CB8AC3E}">
        <p14:creationId xmlns:p14="http://schemas.microsoft.com/office/powerpoint/2010/main" val="1382962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Times New Roman" pitchFamily="18" charset="0"/>
              </a:rPr>
              <a:t>Example (2)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𝐸𝑛𝑐𝑜𝑑𝑒𝑑</m:t>
                    </m:r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/>
                      </a:rPr>
                      <m:t> </m:t>
                    </m:r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𝑆𝑦𝑚𝑏𝑜𝑙</m:t>
                    </m:r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/>
                      </a:rPr>
                      <m:t> </m:t>
                    </m:r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𝑀𝑎𝑡𝑟𝑖𝑥</m:t>
                    </m:r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/>
                      </a:rPr>
                      <m:t> = </m:t>
                    </m:r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𝑄</m:t>
                    </m:r>
                    <m:r>
                      <a:rPr lang="en-US" b="0" i="1" dirty="0" smtClean="0">
                        <a:solidFill>
                          <a:srgbClr val="FF0000"/>
                        </a:solidFill>
                        <a:latin typeface="Cambria Math"/>
                      </a:rPr>
                      <m:t>_</m:t>
                    </m:r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𝑀𝑎𝑡𝑟𝑖𝑥</m:t>
                    </m:r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/>
                      </a:rPr>
                      <m:t> × </m:t>
                    </m:r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𝑆𝑜𝑢𝑟𝑐𝑒</m:t>
                    </m:r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/>
                      </a:rPr>
                      <m:t> </m:t>
                    </m:r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𝑆𝑦𝑚𝑏𝑜𝑙𝑠</m:t>
                    </m:r>
                  </m:oMath>
                </a14:m>
                <a:endParaRPr lang="en-US" dirty="0" smtClean="0">
                  <a:solidFill>
                    <a:srgbClr val="FF0000"/>
                  </a:solidFill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3"/>
                <a:stretch>
                  <a:fillRect l="-141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1216005"/>
              </p:ext>
            </p:extLst>
          </p:nvPr>
        </p:nvGraphicFramePr>
        <p:xfrm>
          <a:off x="3660684" y="1711100"/>
          <a:ext cx="1715236" cy="22573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24" name="Equation" r:id="rId4" imgW="1041120" imgH="1371600" progId="Equation.3">
                  <p:embed/>
                </p:oleObj>
              </mc:Choice>
              <mc:Fallback>
                <p:oleObj name="Equation" r:id="rId4" imgW="1041120" imgH="1371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60684" y="1711100"/>
                        <a:ext cx="1715236" cy="22573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/>
          </p:nvPr>
        </p:nvGraphicFramePr>
        <p:xfrm>
          <a:off x="4534148" y="4509121"/>
          <a:ext cx="1849884" cy="18214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25" name="Equation" r:id="rId6" imgW="1041120" imgH="914400" progId="Equation.3">
                  <p:embed/>
                </p:oleObj>
              </mc:Choice>
              <mc:Fallback>
                <p:oleObj name="Equation" r:id="rId6" imgW="1041120" imgH="914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34148" y="4509121"/>
                        <a:ext cx="1849884" cy="182143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775520" y="2555319"/>
            <a:ext cx="26642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Encoded Symbols=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23592" y="5013176"/>
            <a:ext cx="24482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Received Symbols=</a:t>
            </a:r>
          </a:p>
        </p:txBody>
      </p:sp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3481992"/>
              </p:ext>
            </p:extLst>
          </p:nvPr>
        </p:nvGraphicFramePr>
        <p:xfrm>
          <a:off x="8509696" y="1710406"/>
          <a:ext cx="1906785" cy="25196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26" name="Equation" r:id="rId8" imgW="1041120" imgH="1371600" progId="Equation.3">
                  <p:embed/>
                </p:oleObj>
              </mc:Choice>
              <mc:Fallback>
                <p:oleObj name="Equation" r:id="rId8" imgW="1041120" imgH="1371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09696" y="1710406"/>
                        <a:ext cx="1906785" cy="251960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447928" y="2285798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Adding Symbol Identifier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447928" y="2573831"/>
            <a:ext cx="2664296" cy="513275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256241" y="1709734"/>
            <a:ext cx="243027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56241" y="2132490"/>
            <a:ext cx="2430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6240" y="2573830"/>
            <a:ext cx="2430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56241" y="2943162"/>
            <a:ext cx="2430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6241" y="3365918"/>
            <a:ext cx="2430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56241" y="3797966"/>
            <a:ext cx="2430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82299" y="4509120"/>
            <a:ext cx="2430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82298" y="5014501"/>
            <a:ext cx="2430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82299" y="5445224"/>
            <a:ext cx="2430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82297" y="5887454"/>
            <a:ext cx="2430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76120" y="4980910"/>
            <a:ext cx="33123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en-US" sz="1600" i="1" dirty="0">
                <a:latin typeface="Times New Roman" pitchFamily="18" charset="0"/>
                <a:cs typeface="Times New Roman" pitchFamily="18" charset="0"/>
              </a:rPr>
              <a:t>Symbols </a:t>
            </a:r>
            <a:r>
              <a:rPr lang="en-US" sz="16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sz="1600" i="1" dirty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sz="16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1600" i="1" dirty="0">
                <a:latin typeface="Times New Roman" pitchFamily="18" charset="0"/>
                <a:cs typeface="Times New Roman" pitchFamily="18" charset="0"/>
              </a:rPr>
              <a:t> are lost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44400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Times New Roman" pitchFamily="18" charset="0"/>
              </a:rPr>
              <a:t>Example (3)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06906"/>
            <a:ext cx="10515600" cy="4708357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>
                <a:latin typeface="Times New Roman" pitchFamily="18" charset="0"/>
              </a:rPr>
              <a:t>From this information, we can generate Matrix A out of Q Matrix such that</a:t>
            </a:r>
          </a:p>
          <a:p>
            <a:endParaRPr lang="en-US" dirty="0" smtClean="0">
              <a:latin typeface="Times New Roman" pitchFamily="18" charset="0"/>
            </a:endParaRPr>
          </a:p>
          <a:p>
            <a:endParaRPr lang="en-US" dirty="0">
              <a:latin typeface="Times New Roman" pitchFamily="18" charset="0"/>
            </a:endParaRPr>
          </a:p>
          <a:p>
            <a:endParaRPr lang="en-US" dirty="0" smtClean="0">
              <a:latin typeface="Times New Roman" pitchFamily="18" charset="0"/>
            </a:endParaRPr>
          </a:p>
          <a:p>
            <a:endParaRPr lang="en-US" dirty="0">
              <a:latin typeface="Times New Roman" pitchFamily="18" charset="0"/>
            </a:endParaRPr>
          </a:p>
          <a:p>
            <a:endParaRPr lang="en-US" dirty="0" smtClean="0">
              <a:latin typeface="Times New Roman" pitchFamily="18" charset="0"/>
            </a:endParaRPr>
          </a:p>
          <a:p>
            <a:endParaRPr lang="en-US" dirty="0">
              <a:latin typeface="Times New Roman" pitchFamily="18" charset="0"/>
            </a:endParaRPr>
          </a:p>
          <a:p>
            <a:endParaRPr lang="en-US" dirty="0" smtClean="0">
              <a:latin typeface="Times New Roman" pitchFamily="18" charset="0"/>
            </a:endParaRPr>
          </a:p>
          <a:p>
            <a:endParaRPr lang="en-US" dirty="0">
              <a:latin typeface="Times New Roman" pitchFamily="18" charset="0"/>
            </a:endParaRPr>
          </a:p>
          <a:p>
            <a:endParaRPr lang="en-US" dirty="0">
              <a:latin typeface="Times New Roman" pitchFamily="18" charset="0"/>
            </a:endParaRPr>
          </a:p>
          <a:p>
            <a:endParaRPr lang="en-US" dirty="0" smtClean="0">
              <a:latin typeface="Times New Roman" pitchFamily="18" charset="0"/>
            </a:endParaRPr>
          </a:p>
          <a:p>
            <a:endParaRPr lang="en-US" dirty="0">
              <a:latin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</a:rPr>
              <a:t>Matrix A will be used for decoding purpose.</a:t>
            </a:r>
            <a:endParaRPr lang="en-US" dirty="0">
              <a:latin typeface="Times New Roman" pitchFamily="18" charset="0"/>
            </a:endParaRPr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5152275"/>
              </p:ext>
            </p:extLst>
          </p:nvPr>
        </p:nvGraphicFramePr>
        <p:xfrm>
          <a:off x="8959602" y="2542471"/>
          <a:ext cx="1312862" cy="1472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22" name="Equation" r:id="rId3" imgW="685800" imgH="914400" progId="Equation.3">
                  <p:embed/>
                </p:oleObj>
              </mc:Choice>
              <mc:Fallback>
                <p:oleObj name="Equation" r:id="rId3" imgW="685800" imgH="914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59602" y="2542471"/>
                        <a:ext cx="1312862" cy="1472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896200" y="3068012"/>
            <a:ext cx="12241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Matrix A=</a:t>
            </a:r>
          </a:p>
        </p:txBody>
      </p:sp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0132977"/>
              </p:ext>
            </p:extLst>
          </p:nvPr>
        </p:nvGraphicFramePr>
        <p:xfrm>
          <a:off x="3503713" y="2038414"/>
          <a:ext cx="1312863" cy="2624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23" name="Equation" r:id="rId5" imgW="685800" imgH="1371600" progId="Equation.3">
                  <p:embed/>
                </p:oleObj>
              </mc:Choice>
              <mc:Fallback>
                <p:oleObj name="Equation" r:id="rId5" imgW="685800" imgH="1371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3713" y="2038414"/>
                        <a:ext cx="1312863" cy="2624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2207568" y="3068012"/>
            <a:ext cx="12241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Q Matrix =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3359696" y="2254438"/>
            <a:ext cx="1584176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3359696" y="2686486"/>
            <a:ext cx="1584176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6" name="Right Arrow 15"/>
          <p:cNvSpPr/>
          <p:nvPr/>
        </p:nvSpPr>
        <p:spPr>
          <a:xfrm>
            <a:off x="4943872" y="2893292"/>
            <a:ext cx="2880320" cy="513275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015880" y="2707972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Matrix A out of Q Matrix</a:t>
            </a:r>
          </a:p>
        </p:txBody>
      </p:sp>
    </p:spTree>
    <p:extLst>
      <p:ext uri="{BB962C8B-B14F-4D97-AF65-F5344CB8AC3E}">
        <p14:creationId xmlns:p14="http://schemas.microsoft.com/office/powerpoint/2010/main" val="3144380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2207568" y="3835356"/>
            <a:ext cx="1080120" cy="1152128"/>
          </a:xfrm>
          <a:prstGeom prst="rect">
            <a:avLst/>
          </a:prstGeom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3503712" y="3835356"/>
            <a:ext cx="1656184" cy="1224136"/>
          </a:xfrm>
          <a:prstGeom prst="rect">
            <a:avLst/>
          </a:prstGeom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Times New Roman" pitchFamily="18" charset="0"/>
              </a:rPr>
              <a:t>Example (4)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66800"/>
            <a:ext cx="10515600" cy="5622758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</a:rPr>
              <a:t>Gauss Jordon Elimination is performed  to both Matrix A and Received Symbol </a:t>
            </a:r>
          </a:p>
          <a:p>
            <a:endParaRPr lang="en-US" sz="2400" dirty="0" smtClean="0">
              <a:latin typeface="Times New Roman" pitchFamily="18" charset="0"/>
            </a:endParaRPr>
          </a:p>
          <a:p>
            <a:endParaRPr lang="en-US" sz="2400" dirty="0">
              <a:latin typeface="Times New Roman" pitchFamily="18" charset="0"/>
            </a:endParaRPr>
          </a:p>
          <a:p>
            <a:endParaRPr lang="en-US" sz="2400" dirty="0" smtClean="0">
              <a:latin typeface="Times New Roman" pitchFamily="18" charset="0"/>
            </a:endParaRPr>
          </a:p>
          <a:p>
            <a:endParaRPr lang="en-US" sz="2400" dirty="0">
              <a:latin typeface="Times New Roman" pitchFamily="18" charset="0"/>
            </a:endParaRPr>
          </a:p>
          <a:p>
            <a:endParaRPr lang="en-US" sz="2400" dirty="0" smtClean="0">
              <a:latin typeface="Times New Roman" pitchFamily="18" charset="0"/>
            </a:endParaRPr>
          </a:p>
          <a:p>
            <a:endParaRPr lang="en-US" sz="2400" dirty="0" smtClean="0">
              <a:latin typeface="Times New Roman" pitchFamily="18" charset="0"/>
            </a:endParaRPr>
          </a:p>
          <a:p>
            <a:endParaRPr lang="en-US" sz="2400" dirty="0">
              <a:latin typeface="Times New Roman" pitchFamily="18" charset="0"/>
            </a:endParaRPr>
          </a:p>
          <a:p>
            <a:endParaRPr lang="en-US" sz="2400" dirty="0" smtClean="0">
              <a:latin typeface="Times New Roman" pitchFamily="18" charset="0"/>
            </a:endParaRPr>
          </a:p>
          <a:p>
            <a:endParaRPr lang="en-US" sz="2400" dirty="0">
              <a:latin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</a:rPr>
              <a:t>Gauss Jordon Elimination must provide identity matrix to Matrix A in order to recover the symbols.</a:t>
            </a:r>
            <a:endParaRPr lang="en-US" sz="2400" dirty="0">
              <a:latin typeface="Times New Roman" pitchFamily="18" charset="0"/>
            </a:endParaRP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4480977"/>
              </p:ext>
            </p:extLst>
          </p:nvPr>
        </p:nvGraphicFramePr>
        <p:xfrm>
          <a:off x="2135560" y="3907364"/>
          <a:ext cx="3233738" cy="14401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98" name="Equation" r:id="rId3" imgW="1688760" imgH="914400" progId="Equation.3">
                  <p:embed/>
                </p:oleObj>
              </mc:Choice>
              <mc:Fallback>
                <p:oleObj name="Equation" r:id="rId3" imgW="1688760" imgH="914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5560" y="3907364"/>
                        <a:ext cx="3233738" cy="14401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2843632"/>
              </p:ext>
            </p:extLst>
          </p:nvPr>
        </p:nvGraphicFramePr>
        <p:xfrm>
          <a:off x="1775521" y="1637726"/>
          <a:ext cx="3233737" cy="15121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99" name="Equation" r:id="rId5" imgW="1689100" imgH="914400" progId="Equation.3">
                  <p:embed/>
                </p:oleObj>
              </mc:Choice>
              <mc:Fallback>
                <p:oleObj name="Equation" r:id="rId5" imgW="1689100" imgH="914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5521" y="1637726"/>
                        <a:ext cx="3233737" cy="151216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847528" y="3149894"/>
            <a:ext cx="1080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Matrix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93642" y="3091454"/>
            <a:ext cx="22322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Received Symbol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68515" y="5379264"/>
            <a:ext cx="1080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Matrix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99003" y="5379264"/>
            <a:ext cx="22322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Received Symbol</a:t>
            </a:r>
          </a:p>
        </p:txBody>
      </p:sp>
      <p:graphicFrame>
        <p:nvGraphicFramePr>
          <p:cNvPr id="13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2657435"/>
              </p:ext>
            </p:extLst>
          </p:nvPr>
        </p:nvGraphicFramePr>
        <p:xfrm>
          <a:off x="7320137" y="1637727"/>
          <a:ext cx="3233737" cy="1439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0" name="Equation" r:id="rId7" imgW="1689100" imgH="914400" progId="Equation.3">
                  <p:embed/>
                </p:oleObj>
              </mc:Choice>
              <mc:Fallback>
                <p:oleObj name="Equation" r:id="rId7" imgW="1689100" imgH="914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20137" y="1637727"/>
                        <a:ext cx="3233737" cy="1439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7356140" y="2934088"/>
            <a:ext cx="1080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Matrix 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86290" y="2969182"/>
            <a:ext cx="22322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Received Symbol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068362" y="2140530"/>
            <a:ext cx="2179767" cy="513275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343218" y="1772450"/>
            <a:ext cx="16168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Gauss Jordon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631252" y="4190787"/>
            <a:ext cx="1904909" cy="513275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graphicFrame>
        <p:nvGraphicFramePr>
          <p:cNvPr id="19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0333730"/>
              </p:ext>
            </p:extLst>
          </p:nvPr>
        </p:nvGraphicFramePr>
        <p:xfrm>
          <a:off x="7780623" y="3835356"/>
          <a:ext cx="1311275" cy="12241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1" name="Equation" r:id="rId8" imgW="685800" imgH="711200" progId="Equation.3">
                  <p:embed/>
                </p:oleObj>
              </mc:Choice>
              <mc:Fallback>
                <p:oleObj name="Equation" r:id="rId8" imgW="685800" imgH="71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80623" y="3835356"/>
                        <a:ext cx="1311275" cy="122413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Curved Down Arrow 20"/>
          <p:cNvSpPr/>
          <p:nvPr/>
        </p:nvSpPr>
        <p:spPr>
          <a:xfrm>
            <a:off x="4223792" y="3115276"/>
            <a:ext cx="4464496" cy="648072"/>
          </a:xfrm>
          <a:prstGeom prst="curvedDown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176120" y="5157142"/>
            <a:ext cx="34918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Original Source Symbols Decoded</a:t>
            </a:r>
          </a:p>
        </p:txBody>
      </p:sp>
    </p:spTree>
    <p:extLst>
      <p:ext uri="{BB962C8B-B14F-4D97-AF65-F5344CB8AC3E}">
        <p14:creationId xmlns:p14="http://schemas.microsoft.com/office/powerpoint/2010/main" val="3766899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Times New Roman" pitchFamily="18" charset="0"/>
              </a:rPr>
              <a:t>Example </a:t>
            </a:r>
            <a:r>
              <a:rPr lang="en-US" sz="2400" dirty="0" smtClean="0">
                <a:latin typeface="Times New Roman" pitchFamily="18" charset="0"/>
              </a:rPr>
              <a:t>(2)</a:t>
            </a:r>
            <a:endParaRPr lang="en-US" sz="2400" dirty="0">
              <a:latin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 smtClean="0">
                    <a:latin typeface="Times New Roman" pitchFamily="18" charset="0"/>
                  </a:rPr>
                  <a:t>Let’s assume ,</a:t>
                </a:r>
              </a:p>
              <a:p>
                <a:pPr lvl="1"/>
                <a:r>
                  <a:rPr lang="en-US" dirty="0" smtClean="0">
                    <a:latin typeface="Times New Roman" pitchFamily="18" charset="0"/>
                  </a:rPr>
                  <a:t>Total number of encoded symbols ,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𝑁</m:t>
                    </m:r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/>
                      </a:rPr>
                      <m:t>=5</m:t>
                    </m:r>
                  </m:oMath>
                </a14:m>
                <a:endParaRPr lang="en-US" dirty="0" smtClean="0">
                  <a:latin typeface="Times New Roman" pitchFamily="18" charset="0"/>
                </a:endParaRPr>
              </a:p>
              <a:p>
                <a:pPr lvl="1"/>
                <a:r>
                  <a:rPr lang="en-US" dirty="0" smtClean="0">
                    <a:latin typeface="Times New Roman" pitchFamily="18" charset="0"/>
                  </a:rPr>
                  <a:t>Total number of source symbols ,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𝐾</m:t>
                    </m:r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/>
                      </a:rPr>
                      <m:t>’=3</m:t>
                    </m:r>
                  </m:oMath>
                </a14:m>
                <a:endParaRPr lang="en-US" dirty="0" smtClean="0">
                  <a:solidFill>
                    <a:srgbClr val="FF0000"/>
                  </a:solidFill>
                  <a:latin typeface="Times New Roman" pitchFamily="18" charset="0"/>
                </a:endParaRPr>
              </a:p>
              <a:p>
                <a:pPr lvl="1"/>
                <a:r>
                  <a:rPr lang="en-US" dirty="0" smtClean="0">
                    <a:latin typeface="Times New Roman" pitchFamily="18" charset="0"/>
                  </a:rPr>
                  <a:t>Symbol Size ,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𝑇</m:t>
                    </m:r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/>
                      </a:rPr>
                      <m:t>=5</m:t>
                    </m:r>
                  </m:oMath>
                </a14:m>
                <a:endParaRPr lang="en-US" dirty="0" smtClean="0">
                  <a:latin typeface="Times New Roman" pitchFamily="18" charset="0"/>
                </a:endParaRPr>
              </a:p>
              <a:p>
                <a:pPr lvl="1"/>
                <a:r>
                  <a:rPr lang="en-US" dirty="0" smtClean="0">
                    <a:latin typeface="Times New Roman" pitchFamily="18" charset="0"/>
                  </a:rPr>
                  <a:t>Total number of received symbols ,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𝑀</m:t>
                    </m:r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/>
                      </a:rPr>
                      <m:t>=3</m:t>
                    </m:r>
                  </m:oMath>
                </a14:m>
                <a:endParaRPr lang="en-US" dirty="0" smtClean="0">
                  <a:latin typeface="Times New Roman" pitchFamily="18" charset="0"/>
                </a:endParaRPr>
              </a:p>
              <a:p>
                <a:pPr lvl="1"/>
                <a:endParaRPr lang="en-US" dirty="0">
                  <a:latin typeface="Times New Roman" pitchFamily="18" charset="0"/>
                </a:endParaRPr>
              </a:p>
              <a:p>
                <a:pPr lvl="1"/>
                <a:r>
                  <a:rPr lang="en-US" dirty="0" smtClean="0">
                    <a:latin typeface="Times New Roman" pitchFamily="18" charset="0"/>
                  </a:rPr>
                  <a:t>Then our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𝑄</m:t>
                    </m:r>
                    <m:r>
                      <a:rPr lang="en-US" b="0" i="1" dirty="0" smtClean="0">
                        <a:latin typeface="Cambria Math"/>
                      </a:rPr>
                      <m:t>_</m:t>
                    </m:r>
                    <m:r>
                      <a:rPr lang="en-US" i="1" dirty="0" smtClean="0">
                        <a:latin typeface="Cambria Math"/>
                      </a:rPr>
                      <m:t>𝑀𝑎𝑡𝑟𝑖𝑥</m:t>
                    </m:r>
                    <m:r>
                      <a:rPr lang="en-US" i="1" dirty="0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dirty="0" smtClean="0">
                    <a:latin typeface="Times New Roman" pitchFamily="18" charset="0"/>
                  </a:rPr>
                  <a:t>is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𝑁𝑋𝐾</m:t>
                    </m:r>
                    <m:r>
                      <a:rPr lang="en-US" i="1" dirty="0" smtClean="0">
                        <a:latin typeface="Cambria Math"/>
                      </a:rPr>
                      <m:t>’</m:t>
                    </m:r>
                  </m:oMath>
                </a14:m>
                <a:r>
                  <a:rPr lang="en-US" dirty="0" smtClean="0">
                    <a:latin typeface="Times New Roman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𝑆𝑜𝑢𝑟𝑐𝑒</m:t>
                    </m:r>
                    <m:r>
                      <a:rPr lang="en-US" i="1" dirty="0" smtClean="0">
                        <a:latin typeface="Cambria Math"/>
                      </a:rPr>
                      <m:t> </m:t>
                    </m:r>
                    <m:r>
                      <a:rPr lang="en-US" i="1" dirty="0" smtClean="0">
                        <a:latin typeface="Cambria Math"/>
                      </a:rPr>
                      <m:t>𝑆𝑦𝑚𝑏𝑜𝑙</m:t>
                    </m:r>
                    <m:r>
                      <a:rPr lang="en-US" i="1" dirty="0" smtClean="0">
                        <a:latin typeface="Cambria Math"/>
                      </a:rPr>
                      <m:t> </m:t>
                    </m:r>
                    <m:r>
                      <a:rPr lang="en-US" i="1" dirty="0" smtClean="0">
                        <a:latin typeface="Cambria Math"/>
                      </a:rPr>
                      <m:t>𝑀𝑎𝑡𝑟𝑖𝑥</m:t>
                    </m:r>
                    <m:r>
                      <a:rPr lang="en-US" i="1" dirty="0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dirty="0" smtClean="0">
                    <a:latin typeface="Times New Roman" pitchFamily="18" charset="0"/>
                  </a:rPr>
                  <a:t>is</a:t>
                </a:r>
              </a:p>
              <a:p>
                <a:endParaRPr lang="en-US" dirty="0" smtClean="0">
                  <a:latin typeface="Times New Roman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 t="-195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7320136" y="4960107"/>
            <a:ext cx="12961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/>
              <a:t>Q_Matrix</a:t>
            </a:r>
            <a:r>
              <a:rPr lang="en-US" sz="1600" dirty="0"/>
              <a:t>=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0032" y="4790830"/>
            <a:ext cx="20162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Source Symbols=</a:t>
            </a: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6497" y="4496751"/>
            <a:ext cx="3231607" cy="926711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6280" y="4280473"/>
            <a:ext cx="1933823" cy="1648840"/>
          </a:xfrm>
          <a:prstGeom prst="rect">
            <a:avLst/>
          </a:prstGeom>
        </p:spPr>
      </p:pic>
      <p:sp>
        <p:nvSpPr>
          <p:cNvPr id="10" name="직사각형 9"/>
          <p:cNvSpPr/>
          <p:nvPr/>
        </p:nvSpPr>
        <p:spPr>
          <a:xfrm>
            <a:off x="8111594" y="642050"/>
            <a:ext cx="273261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800" dirty="0" smtClean="0">
                <a:solidFill>
                  <a:srgbClr val="00B0F0"/>
                </a:solidFill>
                <a:latin typeface="Times New Roman" pitchFamily="18" charset="0"/>
              </a:rPr>
              <a:t>“assign3FEC.cpp”</a:t>
            </a:r>
            <a:endParaRPr lang="ko-KR" altLang="en-US" sz="28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9392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Encoded packets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066800"/>
            <a:ext cx="10248900" cy="1079788"/>
          </a:xfrm>
        </p:spPr>
        <p:txBody>
          <a:bodyPr/>
          <a:lstStyle/>
          <a:p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5115" y="2688188"/>
            <a:ext cx="3514822" cy="1564817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0809" y="2784864"/>
            <a:ext cx="3231607" cy="926711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387" y="2323086"/>
            <a:ext cx="1933823" cy="1648840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2933470" y="3129789"/>
            <a:ext cx="36901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400" dirty="0" smtClean="0"/>
              <a:t>X</a:t>
            </a:r>
            <a:endParaRPr lang="ko-KR" altLang="en-US" sz="2400" dirty="0"/>
          </a:p>
        </p:txBody>
      </p:sp>
      <p:sp>
        <p:nvSpPr>
          <p:cNvPr id="8" name="직사각형 7"/>
          <p:cNvSpPr/>
          <p:nvPr/>
        </p:nvSpPr>
        <p:spPr>
          <a:xfrm>
            <a:off x="6797251" y="2955831"/>
            <a:ext cx="47160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3200" dirty="0" smtClean="0"/>
              <a:t>=</a:t>
            </a:r>
            <a:endParaRPr lang="ko-KR" altLang="en-US" sz="3200" dirty="0"/>
          </a:p>
        </p:txBody>
      </p:sp>
      <p:sp>
        <p:nvSpPr>
          <p:cNvPr id="9" name="직사각형 8"/>
          <p:cNvSpPr/>
          <p:nvPr/>
        </p:nvSpPr>
        <p:spPr>
          <a:xfrm>
            <a:off x="7572374" y="2716713"/>
            <a:ext cx="3357563" cy="874741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7591765" y="2138075"/>
            <a:ext cx="255877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800" dirty="0" smtClean="0">
                <a:solidFill>
                  <a:srgbClr val="00B0F0"/>
                </a:solidFill>
              </a:rPr>
              <a:t>3 data packets</a:t>
            </a:r>
            <a:endParaRPr lang="ko-KR" altLang="en-US" sz="2800" dirty="0">
              <a:solidFill>
                <a:srgbClr val="00B0F0"/>
              </a:solidFill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7567609" y="3579064"/>
            <a:ext cx="3357563" cy="67394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7572374" y="4429503"/>
            <a:ext cx="277306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800" dirty="0" smtClean="0">
                <a:solidFill>
                  <a:srgbClr val="FF0000"/>
                </a:solidFill>
              </a:rPr>
              <a:t>2 repair packets</a:t>
            </a:r>
            <a:endParaRPr lang="ko-KR" altLang="en-US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6063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If the 1</a:t>
            </a:r>
            <a:r>
              <a:rPr lang="en-US" altLang="ko-KR" baseline="30000" dirty="0" smtClean="0"/>
              <a:t>st</a:t>
            </a:r>
            <a:r>
              <a:rPr lang="en-US" altLang="ko-KR" dirty="0" smtClean="0"/>
              <a:t> packet is lost,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3199982"/>
            <a:ext cx="10515600" cy="3156367"/>
          </a:xfrm>
        </p:spPr>
        <p:txBody>
          <a:bodyPr/>
          <a:lstStyle/>
          <a:p>
            <a:r>
              <a:rPr lang="en-US" altLang="ko-KR" dirty="0" smtClean="0"/>
              <a:t>165 = 41x + 35·6 + 190·11   </a:t>
            </a:r>
          </a:p>
          <a:p>
            <a:pPr marL="0" indent="0">
              <a:buNone/>
            </a:pPr>
            <a:r>
              <a:rPr lang="en-US" altLang="ko-KR" dirty="0" smtClean="0">
                <a:sym typeface="Wingdings" panose="05000000000000000000" pitchFamily="2" charset="2"/>
              </a:rPr>
              <a:t>   x = (</a:t>
            </a:r>
            <a:r>
              <a:rPr lang="en-US" altLang="ko-KR" dirty="0" smtClean="0"/>
              <a:t>165 + </a:t>
            </a:r>
            <a:r>
              <a:rPr lang="en-US" altLang="ko-KR" dirty="0"/>
              <a:t>35·6 + </a:t>
            </a:r>
            <a:r>
              <a:rPr lang="en-US" altLang="ko-KR" dirty="0" smtClean="0"/>
              <a:t>190·11)/41 </a:t>
            </a:r>
          </a:p>
          <a:p>
            <a:r>
              <a:rPr lang="en-US" altLang="ko-KR" dirty="0" smtClean="0"/>
              <a:t>224 </a:t>
            </a:r>
            <a:r>
              <a:rPr lang="en-US" altLang="ko-KR" dirty="0"/>
              <a:t>= 41x + </a:t>
            </a:r>
            <a:r>
              <a:rPr lang="en-US" altLang="ko-KR" dirty="0" smtClean="0"/>
              <a:t>35·7 </a:t>
            </a:r>
            <a:r>
              <a:rPr lang="en-US" altLang="ko-KR" dirty="0"/>
              <a:t>+ </a:t>
            </a:r>
            <a:r>
              <a:rPr lang="en-US" altLang="ko-KR" dirty="0" smtClean="0"/>
              <a:t>190·12   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>
                <a:sym typeface="Wingdings" panose="05000000000000000000" pitchFamily="2" charset="2"/>
              </a:rPr>
              <a:t>   x = </a:t>
            </a:r>
            <a:r>
              <a:rPr lang="en-US" altLang="ko-KR" dirty="0" smtClean="0">
                <a:sym typeface="Wingdings" panose="05000000000000000000" pitchFamily="2" charset="2"/>
              </a:rPr>
              <a:t>(224</a:t>
            </a:r>
            <a:r>
              <a:rPr lang="en-US" altLang="ko-KR" dirty="0" smtClean="0"/>
              <a:t> </a:t>
            </a:r>
            <a:r>
              <a:rPr lang="en-US" altLang="ko-KR" dirty="0"/>
              <a:t>+ </a:t>
            </a:r>
            <a:r>
              <a:rPr lang="en-US" altLang="ko-KR" dirty="0" smtClean="0"/>
              <a:t>35·7 </a:t>
            </a:r>
            <a:r>
              <a:rPr lang="en-US" altLang="ko-KR" dirty="0"/>
              <a:t>+ </a:t>
            </a:r>
            <a:r>
              <a:rPr lang="en-US" altLang="ko-KR" dirty="0" smtClean="0"/>
              <a:t>190·12)/</a:t>
            </a:r>
            <a:r>
              <a:rPr lang="en-US" altLang="ko-KR" dirty="0"/>
              <a:t>41 </a:t>
            </a:r>
          </a:p>
          <a:p>
            <a:endParaRPr lang="ko-KR" altLang="en-US" dirty="0"/>
          </a:p>
          <a:p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8402" y="1273725"/>
            <a:ext cx="3514822" cy="1564817"/>
          </a:xfrm>
          <a:prstGeom prst="rect">
            <a:avLst/>
          </a:prstGeom>
        </p:spPr>
      </p:pic>
      <p:cxnSp>
        <p:nvCxnSpPr>
          <p:cNvPr id="6" name="직선 연결선 5"/>
          <p:cNvCxnSpPr/>
          <p:nvPr/>
        </p:nvCxnSpPr>
        <p:spPr>
          <a:xfrm>
            <a:off x="3509962" y="1385887"/>
            <a:ext cx="324326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437" y="1317403"/>
            <a:ext cx="1933823" cy="1648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90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If the 2</a:t>
            </a:r>
            <a:r>
              <a:rPr lang="en-US" altLang="ko-KR" baseline="30000" dirty="0" smtClean="0"/>
              <a:t>nd</a:t>
            </a:r>
            <a:r>
              <a:rPr lang="en-US" altLang="ko-KR" dirty="0" smtClean="0"/>
              <a:t> packet is lost,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3199982"/>
            <a:ext cx="10515600" cy="3156367"/>
          </a:xfrm>
        </p:spPr>
        <p:txBody>
          <a:bodyPr/>
          <a:lstStyle/>
          <a:p>
            <a:r>
              <a:rPr lang="en-US" altLang="ko-KR" dirty="0" smtClean="0"/>
              <a:t>165 = 41·1 + 35·x + 190·11   </a:t>
            </a:r>
          </a:p>
          <a:p>
            <a:pPr marL="0" indent="0">
              <a:buNone/>
            </a:pPr>
            <a:r>
              <a:rPr lang="en-US" altLang="ko-KR" dirty="0" smtClean="0">
                <a:sym typeface="Wingdings" panose="05000000000000000000" pitchFamily="2" charset="2"/>
              </a:rPr>
              <a:t>   x = (</a:t>
            </a:r>
            <a:r>
              <a:rPr lang="en-US" altLang="ko-KR" dirty="0" smtClean="0"/>
              <a:t>165 + 41</a:t>
            </a:r>
            <a:r>
              <a:rPr lang="en-US" altLang="ko-KR" dirty="0"/>
              <a:t>·1</a:t>
            </a:r>
            <a:r>
              <a:rPr lang="en-US" altLang="ko-KR" dirty="0" smtClean="0"/>
              <a:t> </a:t>
            </a:r>
            <a:r>
              <a:rPr lang="en-US" altLang="ko-KR" dirty="0"/>
              <a:t>+ </a:t>
            </a:r>
            <a:r>
              <a:rPr lang="en-US" altLang="ko-KR" dirty="0" smtClean="0"/>
              <a:t>190·11)/35 </a:t>
            </a:r>
          </a:p>
          <a:p>
            <a:r>
              <a:rPr lang="en-US" altLang="ko-KR" dirty="0" smtClean="0"/>
              <a:t>224 </a:t>
            </a:r>
            <a:r>
              <a:rPr lang="en-US" altLang="ko-KR" dirty="0"/>
              <a:t>= </a:t>
            </a:r>
            <a:r>
              <a:rPr lang="en-US" altLang="ko-KR" dirty="0" smtClean="0"/>
              <a:t>41·2 </a:t>
            </a:r>
            <a:r>
              <a:rPr lang="en-US" altLang="ko-KR" dirty="0"/>
              <a:t>+ </a:t>
            </a:r>
            <a:r>
              <a:rPr lang="en-US" altLang="ko-KR" dirty="0" smtClean="0"/>
              <a:t>35·x </a:t>
            </a:r>
            <a:r>
              <a:rPr lang="en-US" altLang="ko-KR" dirty="0"/>
              <a:t>+ </a:t>
            </a:r>
            <a:r>
              <a:rPr lang="en-US" altLang="ko-KR" dirty="0" smtClean="0"/>
              <a:t>190·12   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>
                <a:sym typeface="Wingdings" panose="05000000000000000000" pitchFamily="2" charset="2"/>
              </a:rPr>
              <a:t>   x = </a:t>
            </a:r>
            <a:r>
              <a:rPr lang="en-US" altLang="ko-KR" dirty="0" smtClean="0">
                <a:sym typeface="Wingdings" panose="05000000000000000000" pitchFamily="2" charset="2"/>
              </a:rPr>
              <a:t>(224</a:t>
            </a:r>
            <a:r>
              <a:rPr lang="en-US" altLang="ko-KR" dirty="0" smtClean="0"/>
              <a:t> </a:t>
            </a:r>
            <a:r>
              <a:rPr lang="en-US" altLang="ko-KR" dirty="0"/>
              <a:t>+ </a:t>
            </a:r>
            <a:r>
              <a:rPr lang="en-US" altLang="ko-KR" dirty="0" smtClean="0"/>
              <a:t>41·2 </a:t>
            </a:r>
            <a:r>
              <a:rPr lang="en-US" altLang="ko-KR" dirty="0"/>
              <a:t>+ </a:t>
            </a:r>
            <a:r>
              <a:rPr lang="en-US" altLang="ko-KR" dirty="0" smtClean="0"/>
              <a:t>190·12)/35 </a:t>
            </a:r>
            <a:endParaRPr lang="en-US" altLang="ko-KR" dirty="0"/>
          </a:p>
          <a:p>
            <a:endParaRPr lang="ko-KR" altLang="en-US" dirty="0"/>
          </a:p>
          <a:p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8402" y="1273725"/>
            <a:ext cx="3514822" cy="1564817"/>
          </a:xfrm>
          <a:prstGeom prst="rect">
            <a:avLst/>
          </a:prstGeom>
        </p:spPr>
      </p:pic>
      <p:cxnSp>
        <p:nvCxnSpPr>
          <p:cNvPr id="6" name="직선 연결선 5"/>
          <p:cNvCxnSpPr/>
          <p:nvPr/>
        </p:nvCxnSpPr>
        <p:spPr>
          <a:xfrm>
            <a:off x="3509962" y="1757362"/>
            <a:ext cx="324326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437" y="1317403"/>
            <a:ext cx="1933823" cy="1648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772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If 1</a:t>
            </a:r>
            <a:r>
              <a:rPr lang="en-US" altLang="ko-KR" baseline="30000" dirty="0" smtClean="0"/>
              <a:t>st</a:t>
            </a:r>
            <a:r>
              <a:rPr lang="en-US" altLang="ko-KR" dirty="0" smtClean="0"/>
              <a:t> and 2</a:t>
            </a:r>
            <a:r>
              <a:rPr lang="en-US" altLang="ko-KR" baseline="30000" dirty="0" smtClean="0"/>
              <a:t>nd</a:t>
            </a:r>
            <a:r>
              <a:rPr lang="en-US" altLang="ko-KR" dirty="0" smtClean="0"/>
              <a:t> packets are lost,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>
              <a:xfrm>
                <a:off x="838199" y="3529005"/>
                <a:ext cx="11191875" cy="2728919"/>
              </a:xfrm>
            </p:spPr>
            <p:txBody>
              <a:bodyPr>
                <a:normAutofit fontScale="92500" lnSpcReduction="10000"/>
              </a:bodyPr>
              <a:lstStyle/>
              <a:p>
                <a:pPr>
                  <a:lnSpc>
                    <a:spcPct val="110000"/>
                  </a:lnSpc>
                </a:pPr>
                <a:r>
                  <a:rPr lang="en-US" altLang="ko-KR" dirty="0" smtClean="0"/>
                  <a:t>              </a:t>
                </a:r>
                <a:r>
                  <a:rPr lang="en-US" altLang="ko-KR" dirty="0" smtClean="0"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𝐴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−1</m:t>
                        </m:r>
                      </m:sup>
                    </m:sSup>
                    <m:r>
                      <a:rPr lang="en-US" altLang="ko-KR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ko-KR" b="0" i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det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⁡(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𝐴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)</m:t>
                        </m:r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en-US" altLang="ko-KR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ko-KR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𝑑</m:t>
                              </m:r>
                            </m:e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−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𝑏</m:t>
                              </m:r>
                            </m:e>
                          </m:mr>
                          <m:m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−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𝑐</m:t>
                              </m:r>
                            </m:e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𝑎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ko-KR" dirty="0" smtClean="0">
                    <a:sym typeface="Wingdings" panose="05000000000000000000" pitchFamily="2" charset="2"/>
                  </a:rPr>
                  <a:t> </a:t>
                </a:r>
              </a:p>
              <a:p>
                <a:pPr>
                  <a:lnSpc>
                    <a:spcPct val="110000"/>
                  </a:lnSpc>
                </a:pPr>
                <a:endParaRPr lang="en-US" altLang="ko-KR" dirty="0">
                  <a:sym typeface="Wingdings" panose="05000000000000000000" pitchFamily="2" charset="2"/>
                </a:endParaRPr>
              </a:p>
              <a:p>
                <a:pPr>
                  <a:lnSpc>
                    <a:spcPct val="110000"/>
                  </a:lnSpc>
                </a:pP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ko-KR" sz="240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ko-KR" sz="240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ko-KR" sz="24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4</m:t>
                              </m:r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35</m:t>
                              </m:r>
                            </m:e>
                          </m:mr>
                          <m:mr>
                            <m:e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32</m:t>
                              </m:r>
                            </m:e>
                            <m:e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225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ko-KR" sz="240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ko-KR" sz="240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ko-KR" sz="24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𝑏</m:t>
                              </m:r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𝑏</m:t>
                              </m:r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US" altLang="ko-KR" sz="24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ko-KR" sz="24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1</m:t>
                              </m:r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65+190·11</m:t>
                              </m:r>
                            </m:e>
                          </m:mr>
                          <m:mr>
                            <m:e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11+108</m:t>
                              </m:r>
                              <m:r>
                                <m:rPr>
                                  <m:brk m:alnAt="7"/>
                                </m:rPr>
                                <a:rPr lang="en-US" altLang="ko-KR" sz="2400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·</m:t>
                              </m:r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11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ko-KR" sz="2400" dirty="0" smtClean="0">
                    <a:sym typeface="Wingdings" panose="05000000000000000000" pitchFamily="2" charset="2"/>
                  </a:rPr>
                  <a:t>    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ko-KR" sz="24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ko-KR" sz="2400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𝑏</m:t>
                              </m:r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𝑏</m:t>
                              </m:r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US" altLang="ko-KR" sz="24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ko-KR" sz="24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ko-KR" sz="24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2</m:t>
                              </m:r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39</m:t>
                              </m:r>
                            </m:e>
                            <m:e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246</m:t>
                              </m:r>
                            </m:e>
                          </m:mr>
                          <m:mr>
                            <m:e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2</m:t>
                              </m:r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32</m:t>
                              </m:r>
                            </m:e>
                            <m:e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4</m:t>
                              </m:r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5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ko-KR" sz="24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ko-KR" sz="2400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1</m:t>
                              </m:r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65+190·11</m:t>
                              </m:r>
                            </m:e>
                          </m:mr>
                          <m:mr>
                            <m:e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11+108</m:t>
                              </m:r>
                              <m:r>
                                <m:rPr>
                                  <m:brk m:alnAt="7"/>
                                </m:rPr>
                                <a:rPr lang="en-US" altLang="ko-KR" sz="2400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·</m:t>
                              </m:r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11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altLang="ko-KR" dirty="0" smtClean="0"/>
              </a:p>
              <a:p>
                <a:pPr>
                  <a:lnSpc>
                    <a:spcPct val="110000"/>
                  </a:lnSpc>
                </a:pP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ko-KR" sz="2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ko-KR" sz="220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ko-KR" sz="2200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4</m:t>
                              </m:r>
                              <m:r>
                                <a:rPr lang="en-US" altLang="ko-KR" sz="2200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ko-KR" sz="2200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35</m:t>
                              </m:r>
                            </m:e>
                          </m:mr>
                          <m:mr>
                            <m:e>
                              <m:r>
                                <a:rPr lang="en-US" altLang="ko-KR" sz="2200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32</m:t>
                              </m:r>
                            </m:e>
                            <m:e>
                              <m:r>
                                <a:rPr lang="en-US" altLang="ko-KR" sz="2200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225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ko-KR" sz="2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ko-KR" sz="220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ko-KR" sz="2200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𝑏</m:t>
                              </m:r>
                              <m:r>
                                <a:rPr lang="en-US" altLang="ko-KR" sz="2200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ko-KR" sz="2200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𝑏</m:t>
                              </m:r>
                              <m:r>
                                <a:rPr lang="en-US" altLang="ko-KR" sz="2200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US" altLang="ko-KR" sz="2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ko-KR" sz="2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ko-KR" sz="220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ko-KR" sz="22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2</m:t>
                              </m:r>
                              <m:r>
                                <a:rPr lang="en-US" altLang="ko-KR" sz="22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24</m:t>
                              </m:r>
                              <m:r>
                                <a:rPr lang="en-US" altLang="ko-KR" sz="2200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+190·1</m:t>
                              </m:r>
                              <m:r>
                                <a:rPr lang="en-US" altLang="ko-KR" sz="22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US" altLang="ko-KR" sz="22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98 </m:t>
                              </m:r>
                              <m:r>
                                <a:rPr lang="en-US" altLang="ko-KR" sz="2200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+108</m:t>
                              </m:r>
                              <m:r>
                                <m:rPr>
                                  <m:brk m:alnAt="7"/>
                                </m:rPr>
                                <a:rPr lang="en-US" altLang="ko-KR" sz="2200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·</m:t>
                              </m:r>
                              <m:r>
                                <a:rPr lang="en-US" altLang="ko-KR" sz="2200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1</m:t>
                              </m:r>
                              <m:r>
                                <a:rPr lang="en-US" altLang="ko-KR" sz="22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ko-KR" sz="2200" dirty="0">
                    <a:sym typeface="Wingdings" panose="05000000000000000000" pitchFamily="2" charset="2"/>
                  </a:rPr>
                  <a:t>    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ko-KR" sz="2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ko-KR" sz="220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ko-KR" sz="2200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𝑏</m:t>
                              </m:r>
                              <m:r>
                                <a:rPr lang="en-US" altLang="ko-KR" sz="2200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ko-KR" sz="2200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𝑏</m:t>
                              </m:r>
                              <m:r>
                                <a:rPr lang="en-US" altLang="ko-KR" sz="2200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US" altLang="ko-KR" sz="2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ko-KR" sz="2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ko-KR" sz="220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ko-KR" sz="2200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2</m:t>
                              </m:r>
                              <m:r>
                                <a:rPr lang="en-US" altLang="ko-KR" sz="2200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39</m:t>
                              </m:r>
                            </m:e>
                            <m:e>
                              <m:r>
                                <a:rPr lang="en-US" altLang="ko-KR" sz="2200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246</m:t>
                              </m:r>
                            </m:e>
                          </m:mr>
                          <m:mr>
                            <m:e>
                              <m:r>
                                <a:rPr lang="en-US" altLang="ko-KR" sz="2200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232</m:t>
                              </m:r>
                            </m:e>
                            <m:e>
                              <m:r>
                                <a:rPr lang="en-US" altLang="ko-KR" sz="2200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45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ko-KR" sz="2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ko-KR" sz="220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ko-KR" sz="22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2</m:t>
                              </m:r>
                              <m:r>
                                <a:rPr lang="en-US" altLang="ko-KR" sz="22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24</m:t>
                              </m:r>
                              <m:r>
                                <a:rPr lang="en-US" altLang="ko-KR" sz="2200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+190·1</m:t>
                              </m:r>
                              <m:r>
                                <a:rPr lang="en-US" altLang="ko-KR" sz="22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US" altLang="ko-KR" sz="22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98</m:t>
                              </m:r>
                              <m:r>
                                <a:rPr lang="en-US" altLang="ko-KR" sz="2200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+108</m:t>
                              </m:r>
                              <m:r>
                                <m:rPr>
                                  <m:brk m:alnAt="7"/>
                                </m:rPr>
                                <a:rPr lang="en-US" altLang="ko-KR" sz="2200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·</m:t>
                              </m:r>
                              <m:r>
                                <a:rPr lang="en-US" altLang="ko-KR" sz="2200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1</m:t>
                              </m:r>
                              <m:r>
                                <a:rPr lang="en-US" altLang="ko-KR" sz="22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3529005"/>
                <a:ext cx="11191875" cy="2728919"/>
              </a:xfrm>
              <a:blipFill rotWithShape="0">
                <a:blip r:embed="rId2"/>
                <a:stretch>
                  <a:fillRect l="-81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8402" y="1273725"/>
            <a:ext cx="3514822" cy="1564817"/>
          </a:xfrm>
          <a:prstGeom prst="rect">
            <a:avLst/>
          </a:prstGeom>
        </p:spPr>
      </p:pic>
      <p:cxnSp>
        <p:nvCxnSpPr>
          <p:cNvPr id="5" name="직선 연결선 4"/>
          <p:cNvCxnSpPr/>
          <p:nvPr/>
        </p:nvCxnSpPr>
        <p:spPr>
          <a:xfrm>
            <a:off x="3509962" y="1385887"/>
            <a:ext cx="324326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437" y="1317403"/>
            <a:ext cx="1933823" cy="1648840"/>
          </a:xfrm>
          <a:prstGeom prst="rect">
            <a:avLst/>
          </a:prstGeom>
        </p:spPr>
      </p:pic>
      <p:cxnSp>
        <p:nvCxnSpPr>
          <p:cNvPr id="7" name="직선 연결선 6"/>
          <p:cNvCxnSpPr/>
          <p:nvPr/>
        </p:nvCxnSpPr>
        <p:spPr>
          <a:xfrm>
            <a:off x="3509962" y="1681162"/>
            <a:ext cx="324326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/>
          <p:cNvSpPr/>
          <p:nvPr/>
        </p:nvSpPr>
        <p:spPr>
          <a:xfrm>
            <a:off x="991410" y="2321790"/>
            <a:ext cx="990604" cy="64445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8630" y="3184801"/>
            <a:ext cx="2521938" cy="1144212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3437" y="3184801"/>
            <a:ext cx="1366838" cy="1046485"/>
          </a:xfrm>
          <a:prstGeom prst="rect">
            <a:avLst/>
          </a:prstGeom>
        </p:spPr>
      </p:pic>
      <p:sp>
        <p:nvSpPr>
          <p:cNvPr id="14" name="자유형 13"/>
          <p:cNvSpPr/>
          <p:nvPr/>
        </p:nvSpPr>
        <p:spPr>
          <a:xfrm>
            <a:off x="3076394" y="2116182"/>
            <a:ext cx="901405" cy="3507283"/>
          </a:xfrm>
          <a:custGeom>
            <a:avLst/>
            <a:gdLst>
              <a:gd name="connsiteX0" fmla="*/ 381181 w 901405"/>
              <a:gd name="connsiteY0" fmla="*/ 2712993 h 3507283"/>
              <a:gd name="connsiteX1" fmla="*/ 309744 w 901405"/>
              <a:gd name="connsiteY1" fmla="*/ 3213056 h 3507283"/>
              <a:gd name="connsiteX2" fmla="*/ 524056 w 901405"/>
              <a:gd name="connsiteY2" fmla="*/ 3484518 h 3507283"/>
              <a:gd name="connsiteX3" fmla="*/ 809806 w 901405"/>
              <a:gd name="connsiteY3" fmla="*/ 3427368 h 3507283"/>
              <a:gd name="connsiteX4" fmla="*/ 838381 w 901405"/>
              <a:gd name="connsiteY4" fmla="*/ 2913018 h 3507283"/>
              <a:gd name="connsiteX5" fmla="*/ 895531 w 901405"/>
              <a:gd name="connsiteY5" fmla="*/ 2712993 h 3507283"/>
              <a:gd name="connsiteX6" fmla="*/ 681219 w 901405"/>
              <a:gd name="connsiteY6" fmla="*/ 2641556 h 3507283"/>
              <a:gd name="connsiteX7" fmla="*/ 466906 w 901405"/>
              <a:gd name="connsiteY7" fmla="*/ 2698706 h 3507283"/>
              <a:gd name="connsiteX8" fmla="*/ 438331 w 901405"/>
              <a:gd name="connsiteY8" fmla="*/ 2712993 h 3507283"/>
              <a:gd name="connsiteX9" fmla="*/ 9706 w 901405"/>
              <a:gd name="connsiteY9" fmla="*/ 2212931 h 3507283"/>
              <a:gd name="connsiteX10" fmla="*/ 152581 w 901405"/>
              <a:gd name="connsiteY10" fmla="*/ 1612856 h 3507283"/>
              <a:gd name="connsiteX11" fmla="*/ 309744 w 901405"/>
              <a:gd name="connsiteY11" fmla="*/ 784181 h 3507283"/>
              <a:gd name="connsiteX12" fmla="*/ 209731 w 901405"/>
              <a:gd name="connsiteY12" fmla="*/ 84093 h 3507283"/>
              <a:gd name="connsiteX13" fmla="*/ 395469 w 901405"/>
              <a:gd name="connsiteY13" fmla="*/ 12656 h 3507283"/>
              <a:gd name="connsiteX14" fmla="*/ 724081 w 901405"/>
              <a:gd name="connsiteY14" fmla="*/ 84093 h 3507283"/>
              <a:gd name="connsiteX15" fmla="*/ 766944 w 901405"/>
              <a:gd name="connsiteY15" fmla="*/ 384131 h 3507283"/>
              <a:gd name="connsiteX16" fmla="*/ 852669 w 901405"/>
              <a:gd name="connsiteY16" fmla="*/ 798468 h 3507283"/>
              <a:gd name="connsiteX17" fmla="*/ 638356 w 901405"/>
              <a:gd name="connsiteY17" fmla="*/ 884193 h 3507283"/>
              <a:gd name="connsiteX18" fmla="*/ 266881 w 901405"/>
              <a:gd name="connsiteY18" fmla="*/ 1012781 h 35072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901405" h="3507283">
                <a:moveTo>
                  <a:pt x="381181" y="2712993"/>
                </a:moveTo>
                <a:cubicBezTo>
                  <a:pt x="333556" y="2898731"/>
                  <a:pt x="285932" y="3084469"/>
                  <a:pt x="309744" y="3213056"/>
                </a:cubicBezTo>
                <a:cubicBezTo>
                  <a:pt x="333556" y="3341643"/>
                  <a:pt x="440712" y="3448799"/>
                  <a:pt x="524056" y="3484518"/>
                </a:cubicBezTo>
                <a:cubicBezTo>
                  <a:pt x="607400" y="3520237"/>
                  <a:pt x="757419" y="3522618"/>
                  <a:pt x="809806" y="3427368"/>
                </a:cubicBezTo>
                <a:cubicBezTo>
                  <a:pt x="862193" y="3332118"/>
                  <a:pt x="824094" y="3032080"/>
                  <a:pt x="838381" y="2913018"/>
                </a:cubicBezTo>
                <a:cubicBezTo>
                  <a:pt x="852668" y="2793956"/>
                  <a:pt x="921725" y="2758237"/>
                  <a:pt x="895531" y="2712993"/>
                </a:cubicBezTo>
                <a:cubicBezTo>
                  <a:pt x="869337" y="2667749"/>
                  <a:pt x="752656" y="2643937"/>
                  <a:pt x="681219" y="2641556"/>
                </a:cubicBezTo>
                <a:cubicBezTo>
                  <a:pt x="609782" y="2639175"/>
                  <a:pt x="507387" y="2686800"/>
                  <a:pt x="466906" y="2698706"/>
                </a:cubicBezTo>
                <a:cubicBezTo>
                  <a:pt x="426425" y="2710612"/>
                  <a:pt x="514531" y="2793955"/>
                  <a:pt x="438331" y="2712993"/>
                </a:cubicBezTo>
                <a:cubicBezTo>
                  <a:pt x="362131" y="2632031"/>
                  <a:pt x="57331" y="2396287"/>
                  <a:pt x="9706" y="2212931"/>
                </a:cubicBezTo>
                <a:cubicBezTo>
                  <a:pt x="-37919" y="2029575"/>
                  <a:pt x="102575" y="1850981"/>
                  <a:pt x="152581" y="1612856"/>
                </a:cubicBezTo>
                <a:cubicBezTo>
                  <a:pt x="202587" y="1374731"/>
                  <a:pt x="300219" y="1038975"/>
                  <a:pt x="309744" y="784181"/>
                </a:cubicBezTo>
                <a:cubicBezTo>
                  <a:pt x="319269" y="529387"/>
                  <a:pt x="195443" y="212680"/>
                  <a:pt x="209731" y="84093"/>
                </a:cubicBezTo>
                <a:cubicBezTo>
                  <a:pt x="224018" y="-44495"/>
                  <a:pt x="309744" y="12656"/>
                  <a:pt x="395469" y="12656"/>
                </a:cubicBezTo>
                <a:cubicBezTo>
                  <a:pt x="481194" y="12656"/>
                  <a:pt x="662169" y="22181"/>
                  <a:pt x="724081" y="84093"/>
                </a:cubicBezTo>
                <a:cubicBezTo>
                  <a:pt x="785993" y="146005"/>
                  <a:pt x="745513" y="265069"/>
                  <a:pt x="766944" y="384131"/>
                </a:cubicBezTo>
                <a:cubicBezTo>
                  <a:pt x="788375" y="503193"/>
                  <a:pt x="874100" y="715124"/>
                  <a:pt x="852669" y="798468"/>
                </a:cubicBezTo>
                <a:cubicBezTo>
                  <a:pt x="831238" y="881812"/>
                  <a:pt x="735987" y="848474"/>
                  <a:pt x="638356" y="884193"/>
                </a:cubicBezTo>
                <a:cubicBezTo>
                  <a:pt x="540725" y="919912"/>
                  <a:pt x="403803" y="966346"/>
                  <a:pt x="266881" y="1012781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자유형 15"/>
          <p:cNvSpPr/>
          <p:nvPr/>
        </p:nvSpPr>
        <p:spPr>
          <a:xfrm>
            <a:off x="2077930" y="2298942"/>
            <a:ext cx="2698628" cy="3380528"/>
          </a:xfrm>
          <a:custGeom>
            <a:avLst/>
            <a:gdLst>
              <a:gd name="connsiteX0" fmla="*/ 2365483 w 2698628"/>
              <a:gd name="connsiteY0" fmla="*/ 2444508 h 3380528"/>
              <a:gd name="connsiteX1" fmla="*/ 2208320 w 2698628"/>
              <a:gd name="connsiteY1" fmla="*/ 2644533 h 3380528"/>
              <a:gd name="connsiteX2" fmla="*/ 2108308 w 2698628"/>
              <a:gd name="connsiteY2" fmla="*/ 2915996 h 3380528"/>
              <a:gd name="connsiteX3" fmla="*/ 2065445 w 2698628"/>
              <a:gd name="connsiteY3" fmla="*/ 3216033 h 3380528"/>
              <a:gd name="connsiteX4" fmla="*/ 2365483 w 2698628"/>
              <a:gd name="connsiteY4" fmla="*/ 3373196 h 3380528"/>
              <a:gd name="connsiteX5" fmla="*/ 2665520 w 2698628"/>
              <a:gd name="connsiteY5" fmla="*/ 2987433 h 3380528"/>
              <a:gd name="connsiteX6" fmla="*/ 2679808 w 2698628"/>
              <a:gd name="connsiteY6" fmla="*/ 2715971 h 3380528"/>
              <a:gd name="connsiteX7" fmla="*/ 2565508 w 2698628"/>
              <a:gd name="connsiteY7" fmla="*/ 2358783 h 3380528"/>
              <a:gd name="connsiteX8" fmla="*/ 2422633 w 2698628"/>
              <a:gd name="connsiteY8" fmla="*/ 2401646 h 3380528"/>
              <a:gd name="connsiteX9" fmla="*/ 1779695 w 2698628"/>
              <a:gd name="connsiteY9" fmla="*/ 2173046 h 3380528"/>
              <a:gd name="connsiteX10" fmla="*/ 1393933 w 2698628"/>
              <a:gd name="connsiteY10" fmla="*/ 2101608 h 3380528"/>
              <a:gd name="connsiteX11" fmla="*/ 779570 w 2698628"/>
              <a:gd name="connsiteY11" fmla="*/ 2030171 h 3380528"/>
              <a:gd name="connsiteX12" fmla="*/ 479533 w 2698628"/>
              <a:gd name="connsiteY12" fmla="*/ 1601546 h 3380528"/>
              <a:gd name="connsiteX13" fmla="*/ 479533 w 2698628"/>
              <a:gd name="connsiteY13" fmla="*/ 1130058 h 3380528"/>
              <a:gd name="connsiteX14" fmla="*/ 650983 w 2698628"/>
              <a:gd name="connsiteY14" fmla="*/ 101358 h 3380528"/>
              <a:gd name="connsiteX15" fmla="*/ 436670 w 2698628"/>
              <a:gd name="connsiteY15" fmla="*/ 29921 h 3380528"/>
              <a:gd name="connsiteX16" fmla="*/ 193783 w 2698628"/>
              <a:gd name="connsiteY16" fmla="*/ 29921 h 3380528"/>
              <a:gd name="connsiteX17" fmla="*/ 22333 w 2698628"/>
              <a:gd name="connsiteY17" fmla="*/ 244233 h 3380528"/>
              <a:gd name="connsiteX18" fmla="*/ 22333 w 2698628"/>
              <a:gd name="connsiteY18" fmla="*/ 529983 h 3380528"/>
              <a:gd name="connsiteX19" fmla="*/ 208070 w 2698628"/>
              <a:gd name="connsiteY19" fmla="*/ 730008 h 3380528"/>
              <a:gd name="connsiteX20" fmla="*/ 465245 w 2698628"/>
              <a:gd name="connsiteY20" fmla="*/ 787158 h 3380528"/>
              <a:gd name="connsiteX21" fmla="*/ 579545 w 2698628"/>
              <a:gd name="connsiteY21" fmla="*/ 801446 h 33805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2698628" h="3380528">
                <a:moveTo>
                  <a:pt x="2365483" y="2444508"/>
                </a:moveTo>
                <a:cubicBezTo>
                  <a:pt x="2308332" y="2505230"/>
                  <a:pt x="2251182" y="2565952"/>
                  <a:pt x="2208320" y="2644533"/>
                </a:cubicBezTo>
                <a:cubicBezTo>
                  <a:pt x="2165457" y="2723114"/>
                  <a:pt x="2132120" y="2820746"/>
                  <a:pt x="2108308" y="2915996"/>
                </a:cubicBezTo>
                <a:cubicBezTo>
                  <a:pt x="2084495" y="3011246"/>
                  <a:pt x="2022582" y="3139833"/>
                  <a:pt x="2065445" y="3216033"/>
                </a:cubicBezTo>
                <a:cubicBezTo>
                  <a:pt x="2108307" y="3292233"/>
                  <a:pt x="2265471" y="3411296"/>
                  <a:pt x="2365483" y="3373196"/>
                </a:cubicBezTo>
                <a:cubicBezTo>
                  <a:pt x="2465495" y="3335096"/>
                  <a:pt x="2613133" y="3096971"/>
                  <a:pt x="2665520" y="2987433"/>
                </a:cubicBezTo>
                <a:cubicBezTo>
                  <a:pt x="2717908" y="2877896"/>
                  <a:pt x="2696477" y="2820746"/>
                  <a:pt x="2679808" y="2715971"/>
                </a:cubicBezTo>
                <a:cubicBezTo>
                  <a:pt x="2663139" y="2611196"/>
                  <a:pt x="2608370" y="2411170"/>
                  <a:pt x="2565508" y="2358783"/>
                </a:cubicBezTo>
                <a:cubicBezTo>
                  <a:pt x="2522646" y="2306396"/>
                  <a:pt x="2553602" y="2432602"/>
                  <a:pt x="2422633" y="2401646"/>
                </a:cubicBezTo>
                <a:cubicBezTo>
                  <a:pt x="2291664" y="2370690"/>
                  <a:pt x="1951145" y="2223052"/>
                  <a:pt x="1779695" y="2173046"/>
                </a:cubicBezTo>
                <a:cubicBezTo>
                  <a:pt x="1608245" y="2123040"/>
                  <a:pt x="1560620" y="2125420"/>
                  <a:pt x="1393933" y="2101608"/>
                </a:cubicBezTo>
                <a:cubicBezTo>
                  <a:pt x="1227246" y="2077796"/>
                  <a:pt x="931970" y="2113515"/>
                  <a:pt x="779570" y="2030171"/>
                </a:cubicBezTo>
                <a:cubicBezTo>
                  <a:pt x="627170" y="1946827"/>
                  <a:pt x="529539" y="1751565"/>
                  <a:pt x="479533" y="1601546"/>
                </a:cubicBezTo>
                <a:cubicBezTo>
                  <a:pt x="429527" y="1451527"/>
                  <a:pt x="450958" y="1380089"/>
                  <a:pt x="479533" y="1130058"/>
                </a:cubicBezTo>
                <a:cubicBezTo>
                  <a:pt x="508108" y="880027"/>
                  <a:pt x="658127" y="284714"/>
                  <a:pt x="650983" y="101358"/>
                </a:cubicBezTo>
                <a:cubicBezTo>
                  <a:pt x="643839" y="-81998"/>
                  <a:pt x="512870" y="41827"/>
                  <a:pt x="436670" y="29921"/>
                </a:cubicBezTo>
                <a:cubicBezTo>
                  <a:pt x="360470" y="18015"/>
                  <a:pt x="262839" y="-5798"/>
                  <a:pt x="193783" y="29921"/>
                </a:cubicBezTo>
                <a:cubicBezTo>
                  <a:pt x="124727" y="65640"/>
                  <a:pt x="50908" y="160889"/>
                  <a:pt x="22333" y="244233"/>
                </a:cubicBezTo>
                <a:cubicBezTo>
                  <a:pt x="-6242" y="327577"/>
                  <a:pt x="-8623" y="449020"/>
                  <a:pt x="22333" y="529983"/>
                </a:cubicBezTo>
                <a:cubicBezTo>
                  <a:pt x="53289" y="610946"/>
                  <a:pt x="134251" y="687145"/>
                  <a:pt x="208070" y="730008"/>
                </a:cubicBezTo>
                <a:cubicBezTo>
                  <a:pt x="281889" y="772870"/>
                  <a:pt x="403333" y="775252"/>
                  <a:pt x="465245" y="787158"/>
                </a:cubicBezTo>
                <a:cubicBezTo>
                  <a:pt x="527157" y="799064"/>
                  <a:pt x="553351" y="800255"/>
                  <a:pt x="579545" y="801446"/>
                </a:cubicBezTo>
              </a:path>
            </a:pathLst>
          </a:cu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396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Assignment: erasure recovery (1)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n-US" altLang="ko-KR" dirty="0" smtClean="0"/>
                  <a:t>Make a content of 5000bytes.</a:t>
                </a:r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n-US" altLang="ko-KR" dirty="0" smtClean="0"/>
                  <a:t>Divide into 5 1000bytes-long packets, D</a:t>
                </a:r>
                <a:r>
                  <a:rPr lang="en-US" altLang="ko-KR" baseline="-25000" dirty="0" smtClean="0"/>
                  <a:t>1</a:t>
                </a:r>
                <a:r>
                  <a:rPr lang="en-US" altLang="ko-KR" dirty="0" smtClean="0"/>
                  <a:t>, D</a:t>
                </a:r>
                <a:r>
                  <a:rPr lang="en-US" altLang="ko-KR" baseline="-25000" dirty="0" smtClean="0"/>
                  <a:t>2</a:t>
                </a:r>
                <a:r>
                  <a:rPr lang="en-US" altLang="ko-KR" dirty="0" smtClean="0"/>
                  <a:t>,…, D</a:t>
                </a:r>
                <a:r>
                  <a:rPr lang="en-US" altLang="ko-KR" baseline="-25000" dirty="0" smtClean="0"/>
                  <a:t>5</a:t>
                </a:r>
                <a:r>
                  <a:rPr lang="en-US" altLang="ko-KR" dirty="0" smtClean="0"/>
                  <a:t>.</a:t>
                </a:r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n-US" altLang="ko-KR" dirty="0" smtClean="0"/>
                  <a:t>Make 2 parity packets, P</a:t>
                </a:r>
                <a:r>
                  <a:rPr lang="en-US" altLang="ko-KR" baseline="-25000" dirty="0" smtClean="0"/>
                  <a:t>1</a:t>
                </a:r>
                <a:r>
                  <a:rPr lang="en-US" altLang="ko-KR" dirty="0"/>
                  <a:t>, </a:t>
                </a:r>
                <a:r>
                  <a:rPr lang="en-US" altLang="ko-KR" dirty="0" smtClean="0"/>
                  <a:t>P</a:t>
                </a:r>
                <a:r>
                  <a:rPr lang="en-US" altLang="ko-KR" baseline="-25000" dirty="0" smtClean="0"/>
                  <a:t>2 </a:t>
                </a:r>
                <a:r>
                  <a:rPr lang="en-US" altLang="ko-KR" dirty="0" smtClean="0"/>
                  <a:t>as follows,</a:t>
                </a:r>
                <a:endParaRPr lang="en-US" altLang="ko-KR" i="1" dirty="0" smtClean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ko-KR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ko-KR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2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ko-KR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ko-KR" b="0" i="1" smtClean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  <m:e>
                                            <m:r>
                                              <a:rPr lang="en-US" altLang="ko-KR" b="0" i="1" smtClean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ko-KR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ko-KR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ko-KR" b="0" i="1" smtClean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altLang="ko-KR" b="0" i="1" smtClean="0">
                                                <a:latin typeface="Cambria Math" panose="02040503050406030204" pitchFamily="18" charset="0"/>
                                              </a:rPr>
                                              <m:t>10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altLang="ko-KR" b="0" i="1" smtClean="0">
                                                <a:latin typeface="Cambria Math" panose="02040503050406030204" pitchFamily="18" charset="0"/>
                                              </a:rPr>
                                              <m:t>9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ko-KR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ko-KR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ko-KR" b="0" i="1" smtClean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altLang="ko-KR" b="0" i="1" smtClean="0">
                                                <a:latin typeface="Cambria Math" panose="02040503050406030204" pitchFamily="18" charset="0"/>
                                              </a:rPr>
                                              <m:t>101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altLang="ko-KR" b="0" i="1" smtClean="0">
                                                <a:latin typeface="Cambria Math" panose="02040503050406030204" pitchFamily="18" charset="0"/>
                                              </a:rPr>
                                              <m:t>11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ko-KR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ko-KR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ko-KR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altLang="ko-KR" b="0" i="1" smtClean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m>
                                              <m:mPr>
                                                <m:mcs>
                                                  <m:mc>
                                                    <m:mcPr>
                                                      <m:count m:val="1"/>
                                                      <m:mcJc m:val="center"/>
                                                    </m:mcPr>
                                                  </m:mc>
                                                </m:mcs>
                                                <m:ctrlPr>
                                                  <a:rPr lang="en-US" altLang="ko-KR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mPr>
                                              <m:mr>
                                                <m:e>
                                                  <m:r>
                                                    <m:rPr>
                                                      <m:brk m:alnAt="7"/>
                                                    </m:rPr>
                                                    <a:rPr lang="en-US" altLang="ko-KR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0</m:t>
                                                  </m:r>
                                                </m:e>
                                              </m:mr>
                                              <m:mr>
                                                <m:e>
                                                  <m:r>
                                                    <a:rPr lang="en-US" altLang="ko-KR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4</m:t>
                                                  </m:r>
                                                </m:e>
                                              </m:mr>
                                              <m:mr>
                                                <m:e>
                                                  <m:r>
                                                    <a:rPr lang="en-US" altLang="ko-KR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71</m:t>
                                                  </m:r>
                                                </m:e>
                                              </m:mr>
                                            </m:m>
                                          </m:e>
                                        </m:mr>
                                      </m:m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ko-KR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ko-KR" b="0" i="1" smtClean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altLang="ko-KR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m>
                                              <m:mPr>
                                                <m:mcs>
                                                  <m:mc>
                                                    <m:mcPr>
                                                      <m:count m:val="1"/>
                                                      <m:mcJc m:val="center"/>
                                                    </m:mcPr>
                                                  </m:mc>
                                                </m:mcs>
                                                <m:ctrlPr>
                                                  <a:rPr lang="en-US" altLang="ko-KR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mPr>
                                              <m:mr>
                                                <m:e>
                                                  <m:r>
                                                    <m:rPr>
                                                      <m:brk m:alnAt="7"/>
                                                    </m:rPr>
                                                    <a:rPr lang="en-US" altLang="ko-KR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0</m:t>
                                                  </m:r>
                                                </m:e>
                                              </m:mr>
                                              <m:mr>
                                                <m:e>
                                                  <m:r>
                                                    <a:rPr lang="en-US" altLang="ko-KR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13</m:t>
                                                  </m:r>
                                                </m:e>
                                              </m:mr>
                                              <m:mr>
                                                <m:e>
                                                  <m:r>
                                                    <a:rPr lang="en-US" altLang="ko-KR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18</m:t>
                                                  </m:r>
                                                </m:e>
                                              </m:mr>
                                            </m:m>
                                          </m:e>
                                        </m:mr>
                                      </m:m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ko-KR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ko-KR" b="0" i="1" smtClean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altLang="ko-KR" b="0" i="1" smtClean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m>
                                              <m:mPr>
                                                <m:mcs>
                                                  <m:mc>
                                                    <m:mcPr>
                                                      <m:count m:val="1"/>
                                                      <m:mcJc m:val="center"/>
                                                    </m:mcPr>
                                                  </m:mc>
                                                </m:mcs>
                                                <m:ctrlPr>
                                                  <a:rPr lang="en-US" altLang="ko-KR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mPr>
                                              <m:mr>
                                                <m:e>
                                                  <m:r>
                                                    <m:rPr>
                                                      <m:brk m:alnAt="7"/>
                                                    </m:rPr>
                                                    <a:rPr lang="en-US" altLang="ko-KR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1</m:t>
                                                  </m:r>
                                                </m:e>
                                              </m:mr>
                                              <m:mr>
                                                <m:e>
                                                  <m:r>
                                                    <a:rPr lang="en-US" altLang="ko-KR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21</m:t>
                                                  </m:r>
                                                </m:e>
                                              </m:mr>
                                              <m:mr>
                                                <m:e>
                                                  <m:r>
                                                    <a:rPr lang="en-US" altLang="ko-KR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233</m:t>
                                                  </m:r>
                                                </m:e>
                                              </m:mr>
                                            </m:m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ko-KR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ko-KR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  <m:t>𝐷</m:t>
                                          </m:r>
                                        </m:e>
                                        <m:sub>
                                          <m: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  <m:t>𝐷</m:t>
                                          </m:r>
                                        </m:e>
                                        <m:sub>
                                          <m: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  <m:t>4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  <m:t>𝐷</m:t>
                                          </m:r>
                                        </m:e>
                                        <m:sub>
                                          <m: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  <m:t>5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  <m:sub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  <m:t>𝐷</m:t>
                                          </m:r>
                                        </m:e>
                                        <m:sub>
                                          <m: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  <m:t>𝐷</m:t>
                                          </m:r>
                                        </m:e>
                                        <m:sub>
                                          <m: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  <m:t>4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altLang="ko-KR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ko-KR" i="1">
                                                    <a:latin typeface="Cambria Math" panose="02040503050406030204" pitchFamily="18" charset="0"/>
                                                  </a:rPr>
                                                  <m:t>𝐷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ko-KR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5</m:t>
                                                </m:r>
                                              </m:sub>
                                            </m:sSub>
                                          </m:e>
                                        </m:mr>
                                        <m:m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altLang="ko-KR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ko-KR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𝑃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ko-KR" i="1"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sub>
                                            </m:sSub>
                                          </m:e>
                                        </m:mr>
                                        <m:m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altLang="ko-KR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ko-KR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𝑃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ko-KR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sub>
                                            </m:sSub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391" t="-195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709574" y="3449965"/>
            <a:ext cx="25091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 smtClean="0"/>
              <a:t>Raptor(7, 5)</a:t>
            </a:r>
            <a:endParaRPr lang="ko-KR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865946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Assignment: erasure recovery </a:t>
            </a:r>
            <a:r>
              <a:rPr lang="en-US" altLang="ko-KR" dirty="0" smtClean="0"/>
              <a:t>(2)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lnSpc>
                <a:spcPct val="120000"/>
              </a:lnSpc>
              <a:buFont typeface="+mj-lt"/>
              <a:buAutoNum type="arabicPeriod" startAt="4"/>
            </a:pPr>
            <a:r>
              <a:rPr lang="en-US" altLang="ko-KR" dirty="0" smtClean="0"/>
              <a:t>When D</a:t>
            </a:r>
            <a:r>
              <a:rPr lang="en-US" altLang="ko-KR" baseline="-25000" dirty="0" smtClean="0"/>
              <a:t>3</a:t>
            </a:r>
            <a:r>
              <a:rPr lang="en-US" altLang="ko-KR" dirty="0" smtClean="0"/>
              <a:t> and P</a:t>
            </a:r>
            <a:r>
              <a:rPr lang="en-US" altLang="ko-KR" baseline="-25000" dirty="0" smtClean="0"/>
              <a:t>1</a:t>
            </a:r>
            <a:r>
              <a:rPr lang="en-US" altLang="ko-KR" dirty="0" smtClean="0"/>
              <a:t> are lost, recover D</a:t>
            </a:r>
            <a:r>
              <a:rPr lang="en-US" altLang="ko-KR" baseline="-25000" dirty="0" smtClean="0"/>
              <a:t>3</a:t>
            </a:r>
            <a:r>
              <a:rPr lang="en-US" altLang="ko-KR" dirty="0" smtClean="0"/>
              <a:t>.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 startAt="4"/>
            </a:pPr>
            <a:r>
              <a:rPr lang="en-US" altLang="ko-KR" dirty="0"/>
              <a:t>When </a:t>
            </a:r>
            <a:r>
              <a:rPr lang="en-US" altLang="ko-KR" dirty="0" smtClean="0"/>
              <a:t>D</a:t>
            </a:r>
            <a:r>
              <a:rPr lang="en-US" altLang="ko-KR" baseline="-25000" dirty="0" smtClean="0"/>
              <a:t>1</a:t>
            </a:r>
            <a:r>
              <a:rPr lang="en-US" altLang="ko-KR" dirty="0" smtClean="0"/>
              <a:t> </a:t>
            </a:r>
            <a:r>
              <a:rPr lang="en-US" altLang="ko-KR" dirty="0"/>
              <a:t>and </a:t>
            </a:r>
            <a:r>
              <a:rPr lang="en-US" altLang="ko-KR" dirty="0" smtClean="0"/>
              <a:t>D</a:t>
            </a:r>
            <a:r>
              <a:rPr lang="en-US" altLang="ko-KR" baseline="-25000" dirty="0" smtClean="0"/>
              <a:t>4</a:t>
            </a:r>
            <a:r>
              <a:rPr lang="en-US" altLang="ko-KR" dirty="0" smtClean="0"/>
              <a:t> </a:t>
            </a:r>
            <a:r>
              <a:rPr lang="en-US" altLang="ko-KR" dirty="0"/>
              <a:t>are lost, recover </a:t>
            </a:r>
            <a:r>
              <a:rPr lang="en-US" altLang="ko-KR" dirty="0" smtClean="0"/>
              <a:t>D</a:t>
            </a:r>
            <a:r>
              <a:rPr lang="en-US" altLang="ko-KR" baseline="-25000" dirty="0" smtClean="0"/>
              <a:t>1</a:t>
            </a:r>
            <a:r>
              <a:rPr lang="en-US" altLang="ko-KR" dirty="0"/>
              <a:t> </a:t>
            </a:r>
            <a:r>
              <a:rPr lang="en-US" altLang="ko-KR" dirty="0" smtClean="0"/>
              <a:t>and D</a:t>
            </a:r>
            <a:r>
              <a:rPr lang="en-US" altLang="ko-KR" baseline="-25000" dirty="0" smtClean="0"/>
              <a:t>4</a:t>
            </a:r>
            <a:r>
              <a:rPr lang="en-US" altLang="ko-KR" dirty="0" smtClean="0"/>
              <a:t>.</a:t>
            </a:r>
            <a:endParaRPr lang="en-US" altLang="ko-KR" dirty="0"/>
          </a:p>
        </p:txBody>
      </p:sp>
      <p:pic>
        <p:nvPicPr>
          <p:cNvPr id="11266" name="Picture 2" descr="packet loss에 대한 이미지 검색결과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8189" y="2826610"/>
            <a:ext cx="9102547" cy="3795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91518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Example 2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2191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179679"/>
          </a:xfrm>
        </p:spPr>
        <p:txBody>
          <a:bodyPr/>
          <a:lstStyle/>
          <a:p>
            <a:r>
              <a:rPr lang="en-US" altLang="ko-KR" dirty="0" smtClean="0"/>
              <a:t>Raptor test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 smtClean="0"/>
              <a:t>Doug Young Suh</a:t>
            </a:r>
          </a:p>
          <a:p>
            <a:r>
              <a:rPr lang="en-US" altLang="ko-KR" dirty="0" smtClean="0"/>
              <a:t>2016. 9. 1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63384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240632"/>
            <a:ext cx="10515600" cy="649706"/>
          </a:xfrm>
        </p:spPr>
        <p:txBody>
          <a:bodyPr>
            <a:normAutofit fontScale="90000"/>
          </a:bodyPr>
          <a:lstStyle/>
          <a:p>
            <a:r>
              <a:rPr lang="en-US" altLang="ko-KR" dirty="0" smtClean="0"/>
              <a:t>Class diagram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6079958"/>
            <a:ext cx="9416143" cy="473241"/>
          </a:xfrm>
        </p:spPr>
        <p:txBody>
          <a:bodyPr>
            <a:normAutofit lnSpcReduction="10000"/>
          </a:bodyPr>
          <a:lstStyle/>
          <a:p>
            <a:endParaRPr lang="ko-KR" altLang="en-US" dirty="0"/>
          </a:p>
        </p:txBody>
      </p:sp>
      <p:sp>
        <p:nvSpPr>
          <p:cNvPr id="4" name="모서리가 둥근 직사각형 3"/>
          <p:cNvSpPr/>
          <p:nvPr/>
        </p:nvSpPr>
        <p:spPr>
          <a:xfrm>
            <a:off x="2302041" y="1299410"/>
            <a:ext cx="1267327" cy="641684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>
                <a:solidFill>
                  <a:schemeClr val="tx1"/>
                </a:solidFill>
              </a:rPr>
              <a:t>CSender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" name="모서리가 둥근 직사각형 4"/>
          <p:cNvSpPr/>
          <p:nvPr/>
        </p:nvSpPr>
        <p:spPr>
          <a:xfrm>
            <a:off x="6096000" y="1299410"/>
            <a:ext cx="1267327" cy="641684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>
                <a:solidFill>
                  <a:schemeClr val="tx1"/>
                </a:solidFill>
              </a:rPr>
              <a:t>CReceiver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모서리가 둥근 직사각형 5"/>
          <p:cNvSpPr/>
          <p:nvPr/>
        </p:nvSpPr>
        <p:spPr>
          <a:xfrm>
            <a:off x="1797865" y="2630897"/>
            <a:ext cx="2189748" cy="641684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>
                <a:solidFill>
                  <a:schemeClr val="tx1"/>
                </a:solidFill>
              </a:rPr>
              <a:t>FECEncoder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" name="모서리가 둥근 직사각형 6"/>
          <p:cNvSpPr/>
          <p:nvPr/>
        </p:nvSpPr>
        <p:spPr>
          <a:xfrm>
            <a:off x="5591824" y="2630897"/>
            <a:ext cx="2189748" cy="641684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>
                <a:solidFill>
                  <a:schemeClr val="tx1"/>
                </a:solidFill>
              </a:rPr>
              <a:t>FECDecoder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9" name="직선 연결선 8"/>
          <p:cNvCxnSpPr>
            <a:stCxn id="13" idx="2"/>
            <a:endCxn id="6" idx="0"/>
          </p:cNvCxnSpPr>
          <p:nvPr/>
        </p:nvCxnSpPr>
        <p:spPr>
          <a:xfrm flipH="1">
            <a:off x="2892739" y="2202873"/>
            <a:ext cx="22210" cy="4280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순서도: 판단 12"/>
          <p:cNvSpPr/>
          <p:nvPr/>
        </p:nvSpPr>
        <p:spPr>
          <a:xfrm>
            <a:off x="2823464" y="1941094"/>
            <a:ext cx="182970" cy="261779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7" name="그룹 16"/>
          <p:cNvGrpSpPr/>
          <p:nvPr/>
        </p:nvGrpSpPr>
        <p:grpSpPr>
          <a:xfrm>
            <a:off x="6661164" y="1954944"/>
            <a:ext cx="182970" cy="689803"/>
            <a:chOff x="6799714" y="1954944"/>
            <a:chExt cx="182970" cy="689803"/>
          </a:xfrm>
        </p:grpSpPr>
        <p:cxnSp>
          <p:nvCxnSpPr>
            <p:cNvPr id="15" name="직선 연결선 14"/>
            <p:cNvCxnSpPr>
              <a:stCxn id="16" idx="2"/>
            </p:cNvCxnSpPr>
            <p:nvPr/>
          </p:nvCxnSpPr>
          <p:spPr>
            <a:xfrm flipH="1">
              <a:off x="6868989" y="2216723"/>
              <a:ext cx="22210" cy="42802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순서도: 판단 15"/>
            <p:cNvSpPr/>
            <p:nvPr/>
          </p:nvSpPr>
          <p:spPr>
            <a:xfrm>
              <a:off x="6799714" y="1954944"/>
              <a:ext cx="182970" cy="261779"/>
            </a:xfrm>
            <a:prstGeom prst="flowChartDecisi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8" name="모서리가 둥근 직사각형 17"/>
          <p:cNvSpPr/>
          <p:nvPr/>
        </p:nvSpPr>
        <p:spPr>
          <a:xfrm>
            <a:off x="3709798" y="4085633"/>
            <a:ext cx="2189748" cy="641684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GF256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19" name="직선 연결선 18"/>
          <p:cNvCxnSpPr>
            <a:stCxn id="20" idx="2"/>
            <a:endCxn id="18" idx="0"/>
          </p:cNvCxnSpPr>
          <p:nvPr/>
        </p:nvCxnSpPr>
        <p:spPr>
          <a:xfrm>
            <a:off x="3067349" y="3574468"/>
            <a:ext cx="1737323" cy="5111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순서도: 판단 19"/>
          <p:cNvSpPr/>
          <p:nvPr/>
        </p:nvSpPr>
        <p:spPr>
          <a:xfrm>
            <a:off x="2975864" y="3312689"/>
            <a:ext cx="182970" cy="261779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/>
          <p:cNvCxnSpPr>
            <a:stCxn id="23" idx="2"/>
            <a:endCxn id="18" idx="0"/>
          </p:cNvCxnSpPr>
          <p:nvPr/>
        </p:nvCxnSpPr>
        <p:spPr>
          <a:xfrm flipH="1">
            <a:off x="4804672" y="3534360"/>
            <a:ext cx="1947977" cy="5512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순서도: 판단 22"/>
          <p:cNvSpPr/>
          <p:nvPr/>
        </p:nvSpPr>
        <p:spPr>
          <a:xfrm>
            <a:off x="6661164" y="3272581"/>
            <a:ext cx="182970" cy="261779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모서리가 둥근 직사각형 24"/>
          <p:cNvSpPr/>
          <p:nvPr/>
        </p:nvSpPr>
        <p:spPr>
          <a:xfrm>
            <a:off x="3709798" y="5358054"/>
            <a:ext cx="2189748" cy="641684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>
                <a:solidFill>
                  <a:schemeClr val="tx1"/>
                </a:solidFill>
              </a:rPr>
              <a:t>FECconstants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28" name="직선 연결선 27"/>
          <p:cNvCxnSpPr>
            <a:stCxn id="29" idx="2"/>
            <a:endCxn id="25" idx="0"/>
          </p:cNvCxnSpPr>
          <p:nvPr/>
        </p:nvCxnSpPr>
        <p:spPr>
          <a:xfrm>
            <a:off x="4799172" y="4984361"/>
            <a:ext cx="5500" cy="3736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순서도: 판단 28"/>
          <p:cNvSpPr/>
          <p:nvPr/>
        </p:nvSpPr>
        <p:spPr>
          <a:xfrm>
            <a:off x="4707687" y="4722582"/>
            <a:ext cx="182970" cy="261779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2400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Basic classes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en-US" altLang="ko-KR" dirty="0" err="1" smtClean="0"/>
              <a:t>FECconstants</a:t>
            </a:r>
            <a:r>
              <a:rPr lang="en-US" altLang="ko-KR" dirty="0" smtClean="0"/>
              <a:t>: K=49, </a:t>
            </a:r>
            <a:r>
              <a:rPr lang="en-US" altLang="ko-KR" u="sng" dirty="0" smtClean="0"/>
              <a:t>N=99</a:t>
            </a:r>
            <a:r>
              <a:rPr lang="en-US" altLang="ko-KR" dirty="0" smtClean="0"/>
              <a:t>, L=1900, </a:t>
            </a:r>
            <a:r>
              <a:rPr lang="en-US" altLang="ko-KR" dirty="0" err="1" smtClean="0"/>
              <a:t>MAX_Packet</a:t>
            </a:r>
            <a:r>
              <a:rPr lang="en-US" altLang="ko-KR" dirty="0" smtClean="0"/>
              <a:t>=2000</a:t>
            </a:r>
          </a:p>
          <a:p>
            <a:pPr>
              <a:lnSpc>
                <a:spcPct val="120000"/>
              </a:lnSpc>
            </a:pPr>
            <a:r>
              <a:rPr lang="en-US" altLang="ko-KR" dirty="0" smtClean="0"/>
              <a:t>System</a:t>
            </a:r>
          </a:p>
          <a:p>
            <a:pPr lvl="1">
              <a:lnSpc>
                <a:spcPct val="120000"/>
              </a:lnSpc>
            </a:pPr>
            <a:r>
              <a:rPr lang="en-US" altLang="ko-KR" dirty="0" smtClean="0"/>
              <a:t>GF(256) arithmetic</a:t>
            </a:r>
          </a:p>
          <a:p>
            <a:pPr lvl="1">
              <a:lnSpc>
                <a:spcPct val="120000"/>
              </a:lnSpc>
            </a:pPr>
            <a:r>
              <a:rPr lang="en-US" altLang="ko-KR" dirty="0" err="1" smtClean="0"/>
              <a:t>Qmatrix</a:t>
            </a:r>
            <a:r>
              <a:rPr lang="en-US" altLang="ko-KR" dirty="0" smtClean="0"/>
              <a:t>[][49]: coefficients of repair packets</a:t>
            </a:r>
          </a:p>
          <a:p>
            <a:pPr lvl="1">
              <a:lnSpc>
                <a:spcPct val="120000"/>
              </a:lnSpc>
            </a:pPr>
            <a:r>
              <a:rPr lang="en-US" altLang="ko-KR" dirty="0" smtClean="0"/>
              <a:t>Allocate/delete 2D memory</a:t>
            </a:r>
          </a:p>
          <a:p>
            <a:pPr lvl="1">
              <a:lnSpc>
                <a:spcPct val="120000"/>
              </a:lnSpc>
            </a:pPr>
            <a:r>
              <a:rPr lang="en-US" altLang="ko-KR" dirty="0" err="1" smtClean="0"/>
              <a:t>Matrix_multiply</a:t>
            </a:r>
            <a:r>
              <a:rPr lang="sv-SE" altLang="ko-KR" dirty="0"/>
              <a:t>(BYTE **a,BYTE **b,int k,int m,int n,BYTE **c</a:t>
            </a:r>
            <a:r>
              <a:rPr lang="sv-SE" altLang="ko-KR" dirty="0" smtClean="0"/>
              <a:t>);</a:t>
            </a:r>
          </a:p>
          <a:p>
            <a:pPr>
              <a:lnSpc>
                <a:spcPct val="120000"/>
              </a:lnSpc>
            </a:pPr>
            <a:r>
              <a:rPr lang="en-US" altLang="ko-KR" dirty="0" err="1" smtClean="0"/>
              <a:t>Qmatrix</a:t>
            </a:r>
            <a:r>
              <a:rPr lang="ko-KR" altLang="en-US" dirty="0" smtClean="0"/>
              <a:t>에서 </a:t>
            </a:r>
            <a:r>
              <a:rPr lang="en-US" altLang="ko-KR" dirty="0" smtClean="0"/>
              <a:t>(N-K)</a:t>
            </a:r>
            <a:r>
              <a:rPr lang="ko-KR" altLang="en-US" dirty="0" smtClean="0"/>
              <a:t>개를 선택해서</a:t>
            </a:r>
            <a:r>
              <a:rPr lang="en-US" altLang="ko-KR" dirty="0" smtClean="0"/>
              <a:t>, repair packet</a:t>
            </a:r>
            <a:r>
              <a:rPr lang="ko-KR" altLang="en-US" dirty="0" smtClean="0"/>
              <a:t>을 만든다</a:t>
            </a:r>
            <a:r>
              <a:rPr lang="en-US" altLang="ko-KR" dirty="0" smtClean="0"/>
              <a:t>. </a:t>
            </a:r>
          </a:p>
          <a:p>
            <a:pPr>
              <a:lnSpc>
                <a:spcPct val="120000"/>
              </a:lnSpc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27396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FECEncoder</a:t>
            </a:r>
            <a:endParaRPr lang="en-US" altLang="ko-KR" dirty="0" smtClean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 smtClean="0"/>
              <a:t>Encode a </a:t>
            </a:r>
            <a:r>
              <a:rPr lang="en-US" altLang="ko-KR" dirty="0" err="1" smtClean="0"/>
              <a:t>bufflet</a:t>
            </a:r>
            <a:r>
              <a:rPr lang="en-US" altLang="ko-KR" dirty="0" smtClean="0"/>
              <a:t>(an associated)</a:t>
            </a:r>
          </a:p>
          <a:p>
            <a:pPr lvl="1"/>
            <a:r>
              <a:rPr lang="en-US" altLang="ko-KR" dirty="0" smtClean="0">
                <a:solidFill>
                  <a:srgbClr val="0070C0"/>
                </a:solidFill>
              </a:rPr>
              <a:t>Symbols[N][T] = </a:t>
            </a:r>
            <a:r>
              <a:rPr lang="en-US" altLang="ko-KR" dirty="0" err="1" smtClean="0">
                <a:solidFill>
                  <a:srgbClr val="0070C0"/>
                </a:solidFill>
              </a:rPr>
              <a:t>MatrixA</a:t>
            </a:r>
            <a:r>
              <a:rPr lang="en-US" altLang="ko-KR" dirty="0" smtClean="0">
                <a:solidFill>
                  <a:srgbClr val="0070C0"/>
                </a:solidFill>
              </a:rPr>
              <a:t>[N][K] X Data[K][T]</a:t>
            </a:r>
            <a:r>
              <a:rPr lang="ko-KR" altLang="en-US" dirty="0" smtClean="0">
                <a:solidFill>
                  <a:srgbClr val="0070C0"/>
                </a:solidFill>
              </a:rPr>
              <a:t> </a:t>
            </a:r>
            <a:endParaRPr lang="en-US" altLang="ko-KR" dirty="0" smtClean="0"/>
          </a:p>
          <a:p>
            <a:r>
              <a:rPr lang="en-US" altLang="ko-KR" dirty="0" smtClean="0"/>
              <a:t>Adaptive coding rate </a:t>
            </a:r>
            <a:r>
              <a:rPr lang="ko-KR" altLang="en-US" dirty="0" smtClean="0"/>
              <a:t>가능</a:t>
            </a:r>
            <a:r>
              <a:rPr lang="en-US" altLang="ko-KR" dirty="0" smtClean="0"/>
              <a:t> (K </a:t>
            </a:r>
            <a:r>
              <a:rPr lang="ko-KR" altLang="en-US" dirty="0" smtClean="0"/>
              <a:t>고정</a:t>
            </a:r>
            <a:r>
              <a:rPr lang="en-US" altLang="ko-KR" dirty="0" smtClean="0"/>
              <a:t>, </a:t>
            </a:r>
            <a:r>
              <a:rPr lang="en-US" altLang="ko-KR" dirty="0" err="1" smtClean="0"/>
              <a:t>currentN</a:t>
            </a:r>
            <a:r>
              <a:rPr lang="ko-KR" altLang="en-US" dirty="0" smtClean="0"/>
              <a:t>을 적응</a:t>
            </a:r>
            <a:r>
              <a:rPr lang="en-US" altLang="ko-KR" dirty="0" smtClean="0"/>
              <a:t>)</a:t>
            </a:r>
          </a:p>
          <a:p>
            <a:r>
              <a:rPr lang="en-US" altLang="ko-KR" dirty="0" smtClean="0"/>
              <a:t>Matrices</a:t>
            </a:r>
          </a:p>
          <a:p>
            <a:pPr lvl="1"/>
            <a:r>
              <a:rPr lang="en-US" altLang="ko-KR" dirty="0" smtClean="0"/>
              <a:t>**</a:t>
            </a:r>
            <a:r>
              <a:rPr lang="en-US" altLang="ko-KR" dirty="0" err="1" smtClean="0"/>
              <a:t>MatrixA</a:t>
            </a:r>
            <a:r>
              <a:rPr lang="en-US" altLang="ko-KR" dirty="0" smtClean="0"/>
              <a:t>   K*N</a:t>
            </a:r>
          </a:p>
          <a:p>
            <a:pPr lvl="1"/>
            <a:r>
              <a:rPr lang="en-US" altLang="ko-KR" dirty="0" smtClean="0"/>
              <a:t>**Data       K*T</a:t>
            </a:r>
          </a:p>
          <a:p>
            <a:pPr lvl="1"/>
            <a:r>
              <a:rPr lang="en-US" altLang="ko-KR" dirty="0" smtClean="0"/>
              <a:t>**Symbols  N*T</a:t>
            </a:r>
          </a:p>
          <a:p>
            <a:pPr lvl="1"/>
            <a:r>
              <a:rPr lang="en-US" altLang="ko-KR" dirty="0" smtClean="0"/>
              <a:t>**TAIL       (N-K)*3 </a:t>
            </a:r>
          </a:p>
          <a:p>
            <a:r>
              <a:rPr lang="en-US" altLang="ko-KR" dirty="0" smtClean="0"/>
              <a:t>SBN(</a:t>
            </a:r>
            <a:r>
              <a:rPr lang="en-US" altLang="ko-KR" dirty="0" err="1" smtClean="0"/>
              <a:t>bufflet</a:t>
            </a:r>
            <a:r>
              <a:rPr lang="en-US" altLang="ko-KR" dirty="0" smtClean="0"/>
              <a:t> number), ESI(0 ~ N-1)</a:t>
            </a:r>
          </a:p>
          <a:p>
            <a:r>
              <a:rPr lang="en-US" altLang="ko-KR" dirty="0" err="1" smtClean="0"/>
              <a:t>MatrixA</a:t>
            </a:r>
            <a:r>
              <a:rPr lang="ko-KR" altLang="en-US" dirty="0" smtClean="0"/>
              <a:t>는 </a:t>
            </a:r>
            <a:r>
              <a:rPr lang="en-US" altLang="ko-KR" dirty="0" smtClean="0"/>
              <a:t>K*K identity matrix</a:t>
            </a:r>
            <a:r>
              <a:rPr lang="ko-KR" altLang="en-US" dirty="0" smtClean="0"/>
              <a:t>와 </a:t>
            </a:r>
            <a:r>
              <a:rPr lang="en-US" altLang="ko-KR" dirty="0" err="1" smtClean="0"/>
              <a:t>Qmatrix</a:t>
            </a:r>
            <a:r>
              <a:rPr lang="ko-KR" altLang="en-US" dirty="0" smtClean="0"/>
              <a:t>에서 가져온 </a:t>
            </a:r>
            <a:r>
              <a:rPr lang="en-US" altLang="ko-KR" dirty="0" smtClean="0"/>
              <a:t>(N-K) rows</a:t>
            </a:r>
            <a:r>
              <a:rPr lang="ko-KR" altLang="en-US" dirty="0" smtClean="0"/>
              <a:t>로 만들어진다</a:t>
            </a:r>
            <a:r>
              <a:rPr lang="en-US" altLang="ko-KR" dirty="0" smtClean="0"/>
              <a:t>.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05628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ko-KR" sz="3200" dirty="0" smtClean="0"/>
              <a:t>UNIT</a:t>
            </a:r>
            <a:r>
              <a:rPr lang="ko-KR" altLang="en-US" sz="3200" dirty="0" smtClean="0"/>
              <a:t> </a:t>
            </a:r>
            <a:r>
              <a:rPr lang="en-US" altLang="ko-KR" sz="3200" dirty="0" err="1" smtClean="0"/>
              <a:t>FECEncoder</a:t>
            </a:r>
            <a:r>
              <a:rPr lang="en-US" altLang="ko-KR" sz="3200" dirty="0" smtClean="0"/>
              <a:t>::</a:t>
            </a:r>
            <a:r>
              <a:rPr lang="en-US" altLang="ko-KR" sz="3200" dirty="0" err="1"/>
              <a:t>pushPacket</a:t>
            </a:r>
            <a:r>
              <a:rPr lang="en-US" altLang="ko-KR" sz="3200" dirty="0"/>
              <a:t>(BYTE *</a:t>
            </a:r>
            <a:r>
              <a:rPr lang="en-US" altLang="ko-KR" sz="3200" dirty="0" err="1"/>
              <a:t>mmtp,int</a:t>
            </a:r>
            <a:r>
              <a:rPr lang="en-US" altLang="ko-KR" sz="3200" dirty="0"/>
              <a:t> size</a:t>
            </a:r>
            <a:r>
              <a:rPr lang="en-US" altLang="ko-KR" sz="3200" dirty="0" smtClean="0"/>
              <a:t>)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955963"/>
            <a:ext cx="10515600" cy="5400387"/>
          </a:xfrm>
        </p:spPr>
        <p:txBody>
          <a:bodyPr>
            <a:normAutofit fontScale="55000" lnSpcReduction="20000"/>
          </a:bodyPr>
          <a:lstStyle/>
          <a:p>
            <a:r>
              <a:rPr lang="ko-KR" altLang="en-US" dirty="0" smtClean="0"/>
              <a:t>크기 </a:t>
            </a:r>
            <a:r>
              <a:rPr lang="en-US" altLang="ko-KR" dirty="0" smtClean="0"/>
              <a:t>size</a:t>
            </a:r>
            <a:r>
              <a:rPr lang="ko-KR" altLang="en-US" dirty="0" smtClean="0"/>
              <a:t>의 </a:t>
            </a:r>
            <a:r>
              <a:rPr lang="ko-KR" altLang="en-US" dirty="0" err="1" smtClean="0"/>
              <a:t>패킷을</a:t>
            </a:r>
            <a:r>
              <a:rPr lang="ko-KR" altLang="en-US" dirty="0" smtClean="0"/>
              <a:t> 받아</a:t>
            </a:r>
            <a:r>
              <a:rPr lang="en-US" altLang="ko-KR" dirty="0" smtClean="0"/>
              <a:t>, </a:t>
            </a:r>
            <a:r>
              <a:rPr lang="en-US" altLang="ko-KR" dirty="0" err="1" smtClean="0"/>
              <a:t>bufflet</a:t>
            </a:r>
            <a:r>
              <a:rPr lang="ko-KR" altLang="en-US" dirty="0" smtClean="0"/>
              <a:t>에 밀어 넣는다</a:t>
            </a:r>
            <a:r>
              <a:rPr lang="en-US" altLang="ko-KR" dirty="0" smtClean="0"/>
              <a:t>. </a:t>
            </a:r>
          </a:p>
          <a:p>
            <a:pPr lvl="1"/>
            <a:r>
              <a:rPr lang="ko-KR" altLang="en-US" dirty="0" smtClean="0"/>
              <a:t>크기 </a:t>
            </a:r>
            <a:r>
              <a:rPr lang="en-US" altLang="ko-KR" dirty="0" smtClean="0"/>
              <a:t>size</a:t>
            </a:r>
            <a:r>
              <a:rPr lang="ko-KR" altLang="en-US" dirty="0" smtClean="0"/>
              <a:t>는 </a:t>
            </a:r>
            <a:r>
              <a:rPr lang="ko-KR" altLang="en-US" dirty="0" err="1" smtClean="0"/>
              <a:t>패킷의</a:t>
            </a:r>
            <a:r>
              <a:rPr lang="ko-KR" altLang="en-US" dirty="0" smtClean="0"/>
              <a:t> </a:t>
            </a:r>
            <a:r>
              <a:rPr lang="en-US" altLang="ko-KR" dirty="0"/>
              <a:t>6</a:t>
            </a:r>
            <a:r>
              <a:rPr lang="ko-KR" altLang="en-US" dirty="0" smtClean="0"/>
              <a:t>번째 </a:t>
            </a:r>
            <a:r>
              <a:rPr lang="en-US" altLang="ko-KR" dirty="0" smtClean="0"/>
              <a:t>byte</a:t>
            </a:r>
            <a:r>
              <a:rPr lang="ko-KR" altLang="en-US" dirty="0" smtClean="0"/>
              <a:t>부터 </a:t>
            </a:r>
            <a:r>
              <a:rPr lang="en-US" altLang="ko-KR" dirty="0" smtClean="0"/>
              <a:t>short</a:t>
            </a:r>
            <a:r>
              <a:rPr lang="ko-KR" altLang="en-US" dirty="0" smtClean="0"/>
              <a:t>로 들어간다</a:t>
            </a:r>
            <a:r>
              <a:rPr lang="en-US" altLang="ko-KR" dirty="0" smtClean="0"/>
              <a:t>. i.e. </a:t>
            </a:r>
            <a:r>
              <a:rPr lang="en-US" altLang="ko-KR" dirty="0" err="1" smtClean="0"/>
              <a:t>fseek</a:t>
            </a:r>
            <a:r>
              <a:rPr lang="en-US" altLang="ko-KR" dirty="0" smtClean="0"/>
              <a:t>(readp,5,SEEK_SET);</a:t>
            </a:r>
          </a:p>
          <a:p>
            <a:pPr lvl="1"/>
            <a:r>
              <a:rPr lang="ko-KR" altLang="en-US" dirty="0" smtClean="0"/>
              <a:t>여러 심볼일 수 있다</a:t>
            </a:r>
            <a:r>
              <a:rPr lang="en-US" altLang="ko-KR" dirty="0" smtClean="0"/>
              <a:t>. </a:t>
            </a:r>
            <a:r>
              <a:rPr lang="ko-KR" altLang="en-US" dirty="0" smtClean="0"/>
              <a:t>남으면 </a:t>
            </a:r>
            <a:r>
              <a:rPr lang="en-US" altLang="ko-KR" dirty="0" smtClean="0"/>
              <a:t>zero padding</a:t>
            </a:r>
          </a:p>
          <a:p>
            <a:pPr lvl="1"/>
            <a:r>
              <a:rPr lang="en-US" altLang="ko-KR" dirty="0" smtClean="0"/>
              <a:t>ESI</a:t>
            </a:r>
            <a:r>
              <a:rPr lang="ko-KR" altLang="en-US" dirty="0" smtClean="0"/>
              <a:t>가 </a:t>
            </a:r>
            <a:r>
              <a:rPr lang="en-US" altLang="ko-KR" dirty="0" smtClean="0"/>
              <a:t>update</a:t>
            </a:r>
            <a:r>
              <a:rPr lang="ko-KR" altLang="en-US" dirty="0" smtClean="0"/>
              <a:t>된다</a:t>
            </a:r>
            <a:r>
              <a:rPr lang="en-US" altLang="ko-KR" dirty="0" smtClean="0"/>
              <a:t>.</a:t>
            </a:r>
          </a:p>
          <a:p>
            <a:r>
              <a:rPr lang="ko-KR" altLang="en-US" dirty="0" err="1" smtClean="0"/>
              <a:t>패킷</a:t>
            </a:r>
            <a:r>
              <a:rPr lang="en-US" altLang="ko-KR" dirty="0" smtClean="0"/>
              <a:t> </a:t>
            </a:r>
            <a:r>
              <a:rPr lang="ko-KR" altLang="en-US" dirty="0" smtClean="0"/>
              <a:t>뒤에는 </a:t>
            </a:r>
            <a:r>
              <a:rPr lang="en-US" altLang="ko-KR" dirty="0" smtClean="0"/>
              <a:t>3byte tail</a:t>
            </a:r>
            <a:r>
              <a:rPr lang="ko-KR" altLang="en-US" dirty="0" smtClean="0"/>
              <a:t>을 붙인다</a:t>
            </a:r>
            <a:r>
              <a:rPr lang="en-US" altLang="ko-KR" dirty="0" smtClean="0"/>
              <a:t>. </a:t>
            </a:r>
          </a:p>
          <a:p>
            <a:pPr lvl="1"/>
            <a:r>
              <a:rPr lang="en-US" altLang="ko-KR" dirty="0" smtClean="0"/>
              <a:t>SBN(</a:t>
            </a:r>
            <a:r>
              <a:rPr lang="en-US" altLang="ko-KR" dirty="0" err="1" smtClean="0"/>
              <a:t>bufflet</a:t>
            </a:r>
            <a:r>
              <a:rPr lang="en-US" altLang="ko-KR" dirty="0" smtClean="0"/>
              <a:t> number): 2 bytes</a:t>
            </a:r>
          </a:p>
          <a:p>
            <a:pPr lvl="1"/>
            <a:r>
              <a:rPr lang="en-US" altLang="ko-KR" dirty="0" smtClean="0"/>
              <a:t>ESI(symbol ID): 1 byte</a:t>
            </a:r>
          </a:p>
          <a:p>
            <a:pPr lvl="1"/>
            <a:r>
              <a:rPr lang="en-US" altLang="ko-KR" dirty="0" smtClean="0"/>
              <a:t>Tail</a:t>
            </a:r>
            <a:r>
              <a:rPr lang="ko-KR" altLang="en-US" dirty="0" smtClean="0"/>
              <a:t> 부분은 </a:t>
            </a:r>
            <a:r>
              <a:rPr lang="en-US" altLang="ko-KR" dirty="0" smtClean="0"/>
              <a:t>encoding </a:t>
            </a:r>
            <a:r>
              <a:rPr lang="ko-KR" altLang="en-US" dirty="0" smtClean="0"/>
              <a:t>되지 않는다</a:t>
            </a:r>
            <a:r>
              <a:rPr lang="en-US" altLang="ko-KR" dirty="0" smtClean="0"/>
              <a:t>.(decoding</a:t>
            </a:r>
            <a:r>
              <a:rPr lang="ko-KR" altLang="en-US" dirty="0" smtClean="0"/>
              <a:t>하기 전에 </a:t>
            </a:r>
            <a:r>
              <a:rPr lang="ko-KR" altLang="en-US" dirty="0" err="1" smtClean="0"/>
              <a:t>떼야한다</a:t>
            </a:r>
            <a:r>
              <a:rPr lang="en-US" altLang="ko-KR" dirty="0" smtClean="0"/>
              <a:t>.)</a:t>
            </a:r>
          </a:p>
          <a:p>
            <a:pPr lvl="1"/>
            <a:r>
              <a:rPr lang="en-US" altLang="ko-KR" dirty="0" smtClean="0">
                <a:solidFill>
                  <a:srgbClr val="FF0000"/>
                </a:solidFill>
              </a:rPr>
              <a:t>Repair packet</a:t>
            </a:r>
            <a:r>
              <a:rPr lang="ko-KR" altLang="en-US" dirty="0" smtClean="0">
                <a:solidFill>
                  <a:srgbClr val="FF0000"/>
                </a:solidFill>
              </a:rPr>
              <a:t>의 </a:t>
            </a:r>
            <a:r>
              <a:rPr lang="en-US" altLang="ko-KR" dirty="0" smtClean="0">
                <a:solidFill>
                  <a:srgbClr val="FF0000"/>
                </a:solidFill>
              </a:rPr>
              <a:t>tail</a:t>
            </a:r>
            <a:r>
              <a:rPr lang="ko-KR" altLang="en-US" dirty="0" smtClean="0">
                <a:solidFill>
                  <a:srgbClr val="FF0000"/>
                </a:solidFill>
              </a:rPr>
              <a:t>은 왜 </a:t>
            </a:r>
            <a:r>
              <a:rPr lang="en-US" altLang="ko-KR" dirty="0" smtClean="0">
                <a:solidFill>
                  <a:srgbClr val="FF0000"/>
                </a:solidFill>
              </a:rPr>
              <a:t>sender</a:t>
            </a:r>
            <a:r>
              <a:rPr lang="ko-KR" altLang="en-US" dirty="0" smtClean="0">
                <a:solidFill>
                  <a:srgbClr val="FF0000"/>
                </a:solidFill>
              </a:rPr>
              <a:t>에서 붙일까</a:t>
            </a:r>
            <a:r>
              <a:rPr lang="en-US" altLang="ko-KR" dirty="0" smtClean="0">
                <a:solidFill>
                  <a:srgbClr val="FF0000"/>
                </a:solidFill>
              </a:rPr>
              <a:t>?</a:t>
            </a:r>
          </a:p>
          <a:p>
            <a:r>
              <a:rPr lang="en-US" altLang="ko-KR" dirty="0" smtClean="0"/>
              <a:t>Return  1. normal    </a:t>
            </a:r>
          </a:p>
          <a:p>
            <a:pPr marL="0" indent="0">
              <a:buNone/>
            </a:pPr>
            <a:r>
              <a:rPr lang="en-US" altLang="ko-KR" dirty="0" smtClean="0"/>
              <a:t>            N’-K+1. repair packets </a:t>
            </a:r>
            <a:r>
              <a:rPr lang="ko-KR" altLang="en-US" dirty="0" smtClean="0"/>
              <a:t>개수</a:t>
            </a:r>
            <a:r>
              <a:rPr lang="en-US" altLang="ko-KR" dirty="0" smtClean="0"/>
              <a:t>, encoding</a:t>
            </a:r>
            <a:r>
              <a:rPr lang="ko-KR" altLang="en-US" dirty="0" smtClean="0"/>
              <a:t> 계산되었음</a:t>
            </a:r>
            <a:endParaRPr lang="en-US" altLang="ko-KR" dirty="0" smtClean="0"/>
          </a:p>
          <a:p>
            <a:r>
              <a:rPr lang="en-US" altLang="ko-KR" dirty="0" err="1" smtClean="0"/>
              <a:t>Bufflet</a:t>
            </a:r>
            <a:r>
              <a:rPr lang="ko-KR" altLang="en-US" dirty="0" smtClean="0"/>
              <a:t>이 넘치는 순간</a:t>
            </a:r>
            <a:r>
              <a:rPr lang="en-US" altLang="ko-KR" dirty="0" smtClean="0"/>
              <a:t>, ending()</a:t>
            </a:r>
            <a:r>
              <a:rPr lang="ko-KR" altLang="en-US" dirty="0" smtClean="0"/>
              <a:t>을 호출하여 </a:t>
            </a:r>
            <a:r>
              <a:rPr lang="en-US" altLang="ko-KR" dirty="0" smtClean="0"/>
              <a:t>repair packets </a:t>
            </a:r>
            <a:r>
              <a:rPr lang="ko-KR" altLang="en-US" dirty="0" smtClean="0"/>
              <a:t>계산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Repair packets</a:t>
            </a:r>
            <a:r>
              <a:rPr lang="ko-KR" altLang="en-US" dirty="0" smtClean="0"/>
              <a:t>는 </a:t>
            </a:r>
            <a:r>
              <a:rPr lang="en-US" altLang="ko-KR" dirty="0" smtClean="0"/>
              <a:t>**Symbols</a:t>
            </a:r>
            <a:r>
              <a:rPr lang="ko-KR" altLang="en-US" dirty="0" smtClean="0"/>
              <a:t>에 </a:t>
            </a:r>
            <a:r>
              <a:rPr lang="en-US" altLang="ko-KR" dirty="0" smtClean="0"/>
              <a:t>line K~N’-1 rows</a:t>
            </a:r>
            <a:r>
              <a:rPr lang="ko-KR" altLang="en-US" dirty="0" smtClean="0"/>
              <a:t>에 저장된다</a:t>
            </a:r>
            <a:r>
              <a:rPr lang="en-US" altLang="ko-KR" dirty="0" smtClean="0"/>
              <a:t>.</a:t>
            </a:r>
          </a:p>
          <a:p>
            <a:pPr lvl="1"/>
            <a:r>
              <a:rPr lang="en-US" altLang="ko-KR" dirty="0" smtClean="0"/>
              <a:t>SBN</a:t>
            </a:r>
            <a:r>
              <a:rPr lang="ko-KR" altLang="en-US" dirty="0" smtClean="0"/>
              <a:t>은 </a:t>
            </a:r>
            <a:r>
              <a:rPr lang="en-US" altLang="ko-KR" dirty="0" smtClean="0"/>
              <a:t>1 </a:t>
            </a:r>
            <a:r>
              <a:rPr lang="ko-KR" altLang="en-US" dirty="0" smtClean="0"/>
              <a:t>증가한다</a:t>
            </a:r>
            <a:r>
              <a:rPr lang="en-US" altLang="ko-KR" dirty="0" smtClean="0"/>
              <a:t>.</a:t>
            </a:r>
          </a:p>
          <a:p>
            <a:pPr lvl="1"/>
            <a:r>
              <a:rPr lang="en-US" altLang="ko-KR" dirty="0" smtClean="0"/>
              <a:t>N’&lt;=N</a:t>
            </a:r>
            <a:r>
              <a:rPr lang="ko-KR" altLang="en-US" dirty="0" smtClean="0"/>
              <a:t>이며</a:t>
            </a:r>
            <a:r>
              <a:rPr lang="en-US" altLang="ko-KR" dirty="0" smtClean="0"/>
              <a:t>, N’</a:t>
            </a:r>
            <a:r>
              <a:rPr lang="ko-KR" altLang="en-US" dirty="0" smtClean="0"/>
              <a:t>는 </a:t>
            </a:r>
            <a:r>
              <a:rPr lang="en-US" altLang="ko-KR" dirty="0" err="1" smtClean="0"/>
              <a:t>QoS</a:t>
            </a:r>
            <a:r>
              <a:rPr lang="ko-KR" altLang="en-US" dirty="0" smtClean="0"/>
              <a:t>에 따라 </a:t>
            </a:r>
            <a:r>
              <a:rPr lang="en-US" altLang="ko-KR" dirty="0" smtClean="0"/>
              <a:t>coding ratio</a:t>
            </a:r>
            <a:r>
              <a:rPr lang="ko-KR" altLang="en-US" dirty="0" smtClean="0"/>
              <a:t>를 조절하는데 쓰인다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관련 </a:t>
            </a:r>
            <a:r>
              <a:rPr lang="en-US" altLang="ko-KR" dirty="0" smtClean="0"/>
              <a:t>sender </a:t>
            </a:r>
            <a:r>
              <a:rPr lang="ko-KR" altLang="en-US" dirty="0" smtClean="0"/>
              <a:t>내용 </a:t>
            </a:r>
            <a:r>
              <a:rPr lang="en-US" altLang="ko-KR" dirty="0" smtClean="0">
                <a:solidFill>
                  <a:srgbClr val="FF0000"/>
                </a:solidFill>
              </a:rPr>
              <a:t>(repair packet</a:t>
            </a:r>
            <a:r>
              <a:rPr lang="ko-KR" altLang="en-US" dirty="0" smtClean="0">
                <a:solidFill>
                  <a:srgbClr val="FF0000"/>
                </a:solidFill>
              </a:rPr>
              <a:t>의 크기는 어디에 넣나</a:t>
            </a:r>
            <a:r>
              <a:rPr lang="en-US" altLang="ko-KR" dirty="0" smtClean="0">
                <a:solidFill>
                  <a:srgbClr val="FF0000"/>
                </a:solidFill>
              </a:rPr>
              <a:t>?)</a:t>
            </a:r>
          </a:p>
          <a:p>
            <a:pPr lvl="1"/>
            <a:r>
              <a:rPr lang="en-US" altLang="ko-KR" dirty="0"/>
              <a:t>numbers = </a:t>
            </a:r>
            <a:r>
              <a:rPr lang="en-US" altLang="ko-KR" dirty="0" err="1"/>
              <a:t>myfec.pushPacket</a:t>
            </a:r>
            <a:r>
              <a:rPr lang="en-US" altLang="ko-KR" dirty="0"/>
              <a:t>(</a:t>
            </a:r>
            <a:r>
              <a:rPr lang="en-US" altLang="ko-KR" dirty="0" err="1"/>
              <a:t>packet,size</a:t>
            </a:r>
            <a:r>
              <a:rPr lang="en-US" altLang="ko-KR" dirty="0" smtClean="0"/>
              <a:t>);</a:t>
            </a:r>
            <a:endParaRPr lang="ko-KR" altLang="en-US" dirty="0"/>
          </a:p>
          <a:p>
            <a:pPr lvl="1"/>
            <a:r>
              <a:rPr lang="en-US" altLang="ko-KR" dirty="0" smtClean="0"/>
              <a:t>if(numbers </a:t>
            </a:r>
            <a:r>
              <a:rPr lang="en-US" altLang="ko-KR" dirty="0"/>
              <a:t>&gt; 1</a:t>
            </a:r>
            <a:r>
              <a:rPr lang="en-US" altLang="ko-KR" dirty="0" smtClean="0"/>
              <a:t>){ </a:t>
            </a:r>
            <a:r>
              <a:rPr lang="en-US" altLang="ko-KR" dirty="0"/>
              <a:t>// send also (n-K) repair </a:t>
            </a:r>
            <a:r>
              <a:rPr lang="en-US" altLang="ko-KR" dirty="0" smtClean="0"/>
              <a:t>packets</a:t>
            </a:r>
            <a:endParaRPr lang="en-US" altLang="ko-KR" dirty="0"/>
          </a:p>
          <a:p>
            <a:pPr marL="457200" lvl="1" indent="0">
              <a:buNone/>
            </a:pPr>
            <a:r>
              <a:rPr lang="en-US" altLang="ko-KR" dirty="0" smtClean="0"/>
              <a:t>       numbers-</a:t>
            </a:r>
            <a:r>
              <a:rPr lang="en-US" altLang="ko-KR" dirty="0"/>
              <a:t>-;   // data packet is already sent.</a:t>
            </a:r>
          </a:p>
          <a:p>
            <a:pPr marL="457200" lvl="1" indent="0">
              <a:buNone/>
            </a:pPr>
            <a:r>
              <a:rPr lang="en-US" altLang="ko-KR" dirty="0" smtClean="0"/>
              <a:t>       for(</a:t>
            </a:r>
            <a:r>
              <a:rPr lang="en-US" altLang="ko-KR" dirty="0" err="1" smtClean="0"/>
              <a:t>i</a:t>
            </a:r>
            <a:r>
              <a:rPr lang="en-US" altLang="ko-KR" dirty="0" smtClean="0"/>
              <a:t>=0;i&lt;</a:t>
            </a:r>
            <a:r>
              <a:rPr lang="en-US" altLang="ko-KR" dirty="0" err="1" smtClean="0"/>
              <a:t>numbers;i</a:t>
            </a:r>
            <a:r>
              <a:rPr lang="en-US" altLang="ko-KR" dirty="0" smtClean="0"/>
              <a:t>++){ </a:t>
            </a:r>
            <a:r>
              <a:rPr lang="en-US" altLang="ko-KR" dirty="0"/>
              <a:t>// (n-K) repair </a:t>
            </a:r>
            <a:r>
              <a:rPr lang="en-US" altLang="ko-KR" dirty="0" smtClean="0"/>
              <a:t>packets</a:t>
            </a:r>
            <a:endParaRPr lang="en-US" altLang="ko-KR" dirty="0"/>
          </a:p>
          <a:p>
            <a:pPr marL="457200" lvl="1" indent="0">
              <a:buNone/>
            </a:pPr>
            <a:r>
              <a:rPr lang="en-US" altLang="ko-KR" dirty="0" smtClean="0"/>
              <a:t>	</a:t>
            </a:r>
            <a:r>
              <a:rPr lang="en-US" altLang="ko-KR" dirty="0" err="1" smtClean="0"/>
              <a:t>memcpy</a:t>
            </a:r>
            <a:r>
              <a:rPr lang="en-US" altLang="ko-KR" dirty="0" smtClean="0"/>
              <a:t>(</a:t>
            </a:r>
            <a:r>
              <a:rPr lang="en-US" altLang="ko-KR" dirty="0" err="1" smtClean="0"/>
              <a:t>packet,myfec.Symbols</a:t>
            </a:r>
            <a:r>
              <a:rPr lang="en-US" altLang="ko-KR" dirty="0" smtClean="0"/>
              <a:t>[</a:t>
            </a:r>
            <a:r>
              <a:rPr lang="en-US" altLang="ko-KR" dirty="0" err="1" smtClean="0"/>
              <a:t>K+i</a:t>
            </a:r>
            <a:r>
              <a:rPr lang="en-US" altLang="ko-KR" dirty="0"/>
              <a:t>],L);   // copy a repair packet</a:t>
            </a:r>
          </a:p>
          <a:p>
            <a:pPr marL="457200" lvl="1" indent="0">
              <a:buNone/>
            </a:pPr>
            <a:r>
              <a:rPr lang="en-US" altLang="ko-KR" dirty="0" smtClean="0"/>
              <a:t>	</a:t>
            </a:r>
            <a:r>
              <a:rPr lang="en-US" altLang="ko-KR" dirty="0" err="1" smtClean="0"/>
              <a:t>memcpy</a:t>
            </a:r>
            <a:r>
              <a:rPr lang="en-US" altLang="ko-KR" dirty="0" smtClean="0"/>
              <a:t>(</a:t>
            </a:r>
            <a:r>
              <a:rPr lang="en-US" altLang="ko-KR" dirty="0" err="1" smtClean="0"/>
              <a:t>packet+L,myfec.TAIL</a:t>
            </a:r>
            <a:r>
              <a:rPr lang="en-US" altLang="ko-KR" dirty="0" smtClean="0"/>
              <a:t>[</a:t>
            </a:r>
            <a:r>
              <a:rPr lang="en-US" altLang="ko-KR" dirty="0" err="1" smtClean="0"/>
              <a:t>i</a:t>
            </a:r>
            <a:r>
              <a:rPr lang="en-US" altLang="ko-KR" dirty="0"/>
              <a:t>],3);  // attach a tail  928suh</a:t>
            </a:r>
          </a:p>
          <a:p>
            <a:endParaRPr lang="ko-KR" altLang="en-US" dirty="0"/>
          </a:p>
          <a:p>
            <a:pPr lvl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60055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FECDecoder</a:t>
            </a:r>
            <a:endParaRPr lang="en-US" altLang="ko-KR" dirty="0" smtClean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199" y="1066800"/>
            <a:ext cx="11118273" cy="5289550"/>
          </a:xfrm>
        </p:spPr>
        <p:txBody>
          <a:bodyPr>
            <a:normAutofit fontScale="85000" lnSpcReduction="20000"/>
          </a:bodyPr>
          <a:lstStyle/>
          <a:p>
            <a:r>
              <a:rPr lang="en-US" altLang="ko-KR" dirty="0" smtClean="0"/>
              <a:t>Decode a </a:t>
            </a:r>
            <a:r>
              <a:rPr lang="en-US" altLang="ko-KR" dirty="0" err="1" smtClean="0"/>
              <a:t>bufflet</a:t>
            </a:r>
            <a:r>
              <a:rPr lang="ko-KR" altLang="en-US" dirty="0" smtClean="0"/>
              <a:t> </a:t>
            </a:r>
            <a:endParaRPr lang="en-US" altLang="ko-KR" dirty="0"/>
          </a:p>
          <a:p>
            <a:pPr lvl="1"/>
            <a:r>
              <a:rPr lang="en-US" altLang="ko-KR" dirty="0" err="1"/>
              <a:t>decode_bufflet</a:t>
            </a:r>
            <a:r>
              <a:rPr lang="en-US" altLang="ko-KR" dirty="0"/>
              <a:t>(</a:t>
            </a:r>
            <a:r>
              <a:rPr lang="en-US" altLang="ko-KR" dirty="0" err="1"/>
              <a:t>int</a:t>
            </a:r>
            <a:r>
              <a:rPr lang="en-US" altLang="ko-KR" dirty="0"/>
              <a:t> </a:t>
            </a:r>
            <a:r>
              <a:rPr lang="en-US" altLang="ko-KR" dirty="0" err="1"/>
              <a:t>SBNnumber</a:t>
            </a:r>
            <a:r>
              <a:rPr lang="en-US" altLang="ko-KR" dirty="0"/>
              <a:t>);  // </a:t>
            </a:r>
            <a:r>
              <a:rPr lang="en-US" altLang="ko-KR" dirty="0" err="1"/>
              <a:t>SBNnumber</a:t>
            </a:r>
            <a:r>
              <a:rPr lang="en-US" altLang="ko-KR" dirty="0"/>
              <a:t> </a:t>
            </a:r>
            <a:r>
              <a:rPr lang="ko-KR" altLang="en-US" dirty="0" err="1"/>
              <a:t>사용안됨</a:t>
            </a:r>
            <a:endParaRPr lang="en-US" altLang="ko-KR" dirty="0" smtClean="0"/>
          </a:p>
          <a:p>
            <a:pPr lvl="1"/>
            <a:r>
              <a:rPr lang="en-US" altLang="ko-KR" dirty="0" err="1" smtClean="0">
                <a:solidFill>
                  <a:srgbClr val="0070C0"/>
                </a:solidFill>
              </a:rPr>
              <a:t>ReceivedSymbols</a:t>
            </a:r>
            <a:r>
              <a:rPr lang="en-US" altLang="ko-KR" dirty="0" smtClean="0">
                <a:solidFill>
                  <a:srgbClr val="0070C0"/>
                </a:solidFill>
              </a:rPr>
              <a:t>[K][T] = </a:t>
            </a:r>
            <a:r>
              <a:rPr lang="en-US" altLang="ko-KR" dirty="0" err="1" smtClean="0">
                <a:solidFill>
                  <a:srgbClr val="0070C0"/>
                </a:solidFill>
              </a:rPr>
              <a:t>InverseA</a:t>
            </a:r>
            <a:r>
              <a:rPr lang="en-US" altLang="ko-KR" dirty="0" smtClean="0">
                <a:solidFill>
                  <a:srgbClr val="0070C0"/>
                </a:solidFill>
              </a:rPr>
              <a:t>[K][K] X </a:t>
            </a:r>
            <a:r>
              <a:rPr lang="en-US" altLang="ko-KR" dirty="0" err="1" smtClean="0">
                <a:solidFill>
                  <a:srgbClr val="0070C0"/>
                </a:solidFill>
              </a:rPr>
              <a:t>ReceivedSymbols</a:t>
            </a:r>
            <a:r>
              <a:rPr lang="en-US" altLang="ko-KR" dirty="0" smtClean="0">
                <a:solidFill>
                  <a:srgbClr val="0070C0"/>
                </a:solidFill>
              </a:rPr>
              <a:t>[K][T]</a:t>
            </a:r>
            <a:r>
              <a:rPr lang="ko-KR" altLang="en-US" dirty="0" smtClean="0">
                <a:solidFill>
                  <a:srgbClr val="0070C0"/>
                </a:solidFill>
              </a:rPr>
              <a:t> </a:t>
            </a:r>
            <a:endParaRPr lang="en-US" altLang="ko-KR" dirty="0" smtClean="0"/>
          </a:p>
          <a:p>
            <a:r>
              <a:rPr lang="en-US" altLang="ko-KR" dirty="0" smtClean="0"/>
              <a:t>Matrices</a:t>
            </a:r>
          </a:p>
          <a:p>
            <a:pPr lvl="1"/>
            <a:r>
              <a:rPr lang="en-US" altLang="ko-KR" dirty="0" err="1" smtClean="0"/>
              <a:t>MatrixA</a:t>
            </a:r>
            <a:r>
              <a:rPr lang="en-US" altLang="ko-KR" dirty="0" smtClean="0"/>
              <a:t>[K][N]</a:t>
            </a:r>
          </a:p>
          <a:p>
            <a:pPr lvl="1"/>
            <a:r>
              <a:rPr lang="en-US" altLang="ko-KR" dirty="0" err="1" smtClean="0"/>
              <a:t>InverseA</a:t>
            </a:r>
            <a:r>
              <a:rPr lang="en-US" altLang="ko-KR" dirty="0" smtClean="0"/>
              <a:t>[K][K]</a:t>
            </a:r>
          </a:p>
          <a:p>
            <a:pPr lvl="1"/>
            <a:r>
              <a:rPr lang="en-US" altLang="ko-KR" dirty="0" err="1" smtClean="0"/>
              <a:t>ReceivedSymbols</a:t>
            </a:r>
            <a:r>
              <a:rPr lang="en-US" altLang="ko-KR" dirty="0" smtClean="0"/>
              <a:t>[N][L]</a:t>
            </a:r>
          </a:p>
          <a:p>
            <a:pPr lvl="1"/>
            <a:r>
              <a:rPr lang="en-US" altLang="ko-KR" dirty="0" smtClean="0"/>
              <a:t>Lost[N][L]</a:t>
            </a:r>
          </a:p>
          <a:p>
            <a:pPr lvl="1"/>
            <a:r>
              <a:rPr lang="en-US" altLang="ko-KR" dirty="0" smtClean="0"/>
              <a:t>Hits[N]</a:t>
            </a:r>
            <a:r>
              <a:rPr lang="ko-KR" altLang="en-US" dirty="0" smtClean="0"/>
              <a:t> </a:t>
            </a:r>
            <a:r>
              <a:rPr lang="en-US" altLang="ko-KR" dirty="0" smtClean="0"/>
              <a:t>: </a:t>
            </a:r>
            <a:r>
              <a:rPr lang="ko-KR" altLang="en-US" dirty="0" err="1" smtClean="0"/>
              <a:t>패킷이</a:t>
            </a:r>
            <a:r>
              <a:rPr lang="ko-KR" altLang="en-US" dirty="0" smtClean="0"/>
              <a:t> 손실되었는지 여부를 알려준다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외부 조작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Cyclic memory: </a:t>
            </a:r>
            <a:r>
              <a:rPr lang="en-US" altLang="ko-KR" dirty="0" err="1" smtClean="0"/>
              <a:t>bufflet</a:t>
            </a:r>
            <a:r>
              <a:rPr lang="en-US" altLang="ko-KR" dirty="0" smtClean="0"/>
              <a:t> </a:t>
            </a:r>
            <a:r>
              <a:rPr lang="en-US" altLang="ko-KR" dirty="0"/>
              <a:t>= new </a:t>
            </a:r>
            <a:r>
              <a:rPr lang="en-US" altLang="ko-KR" dirty="0" err="1"/>
              <a:t>FECDecoder</a:t>
            </a:r>
            <a:r>
              <a:rPr lang="en-US" altLang="ko-KR" dirty="0"/>
              <a:t>[</a:t>
            </a:r>
            <a:r>
              <a:rPr lang="en-US" altLang="ko-KR" dirty="0" err="1"/>
              <a:t>MaxBufflet</a:t>
            </a:r>
            <a:r>
              <a:rPr lang="en-US" altLang="ko-KR" dirty="0"/>
              <a:t>];  </a:t>
            </a:r>
            <a:endParaRPr lang="ko-KR" altLang="en-US" dirty="0"/>
          </a:p>
          <a:p>
            <a:pPr lvl="2"/>
            <a:r>
              <a:rPr lang="en-US" altLang="ko-KR" dirty="0" err="1" smtClean="0"/>
              <a:t>bufflet</a:t>
            </a:r>
            <a:r>
              <a:rPr lang="en-US" altLang="ko-KR" dirty="0" smtClean="0"/>
              <a:t>[</a:t>
            </a:r>
            <a:r>
              <a:rPr lang="en-US" altLang="ko-KR" dirty="0" err="1" smtClean="0"/>
              <a:t>NextBufflet</a:t>
            </a:r>
            <a:r>
              <a:rPr lang="en-US" altLang="ko-KR" dirty="0"/>
              <a:t>].</a:t>
            </a:r>
            <a:r>
              <a:rPr lang="en-US" altLang="ko-KR" dirty="0" err="1"/>
              <a:t>reset_bufflet</a:t>
            </a:r>
            <a:r>
              <a:rPr lang="en-US" altLang="ko-KR" dirty="0"/>
              <a:t>(); </a:t>
            </a:r>
            <a:endParaRPr lang="en-US" altLang="ko-KR" dirty="0" smtClean="0"/>
          </a:p>
          <a:p>
            <a:pPr lvl="2"/>
            <a:r>
              <a:rPr lang="en-US" altLang="ko-KR" dirty="0" err="1" smtClean="0"/>
              <a:t>bufflet</a:t>
            </a:r>
            <a:r>
              <a:rPr lang="en-US" altLang="ko-KR" dirty="0" smtClean="0"/>
              <a:t>[</a:t>
            </a:r>
            <a:r>
              <a:rPr lang="en-US" altLang="ko-KR" dirty="0" err="1" smtClean="0"/>
              <a:t>NextBufflet</a:t>
            </a:r>
            <a:r>
              <a:rPr lang="en-US" altLang="ko-KR" dirty="0"/>
              <a:t>].</a:t>
            </a:r>
            <a:r>
              <a:rPr lang="en-US" altLang="ko-KR" dirty="0" err="1"/>
              <a:t>decode_bufflet</a:t>
            </a:r>
            <a:r>
              <a:rPr lang="en-US" altLang="ko-KR" dirty="0" smtClean="0"/>
              <a:t>();</a:t>
            </a:r>
            <a:endParaRPr lang="en-US" altLang="ko-KR" dirty="0"/>
          </a:p>
          <a:p>
            <a:pPr lvl="1"/>
            <a:r>
              <a:rPr lang="ko-KR" altLang="en-US" dirty="0"/>
              <a:t>입력변수</a:t>
            </a:r>
            <a:r>
              <a:rPr lang="en-US" altLang="ko-KR" dirty="0"/>
              <a:t>: </a:t>
            </a:r>
          </a:p>
          <a:p>
            <a:pPr lvl="2"/>
            <a:r>
              <a:rPr lang="en-US" altLang="ko-KR" dirty="0"/>
              <a:t>Hits[N] (</a:t>
            </a:r>
            <a:r>
              <a:rPr lang="ko-KR" altLang="en-US" dirty="0"/>
              <a:t>못</a:t>
            </a:r>
            <a:r>
              <a:rPr lang="en-US" altLang="ko-KR" dirty="0"/>
              <a:t> </a:t>
            </a:r>
            <a:r>
              <a:rPr lang="ko-KR" altLang="en-US" dirty="0"/>
              <a:t>받은 </a:t>
            </a:r>
            <a:r>
              <a:rPr lang="en-US" altLang="ko-KR" dirty="0"/>
              <a:t>symbol</a:t>
            </a:r>
            <a:r>
              <a:rPr lang="ko-KR" altLang="en-US" dirty="0"/>
              <a:t>은 </a:t>
            </a:r>
            <a:r>
              <a:rPr lang="en-US" altLang="ko-KR" dirty="0"/>
              <a:t>0, header </a:t>
            </a:r>
            <a:r>
              <a:rPr lang="ko-KR" altLang="en-US" dirty="0"/>
              <a:t>포함 </a:t>
            </a:r>
            <a:r>
              <a:rPr lang="en-US" altLang="ko-KR" dirty="0"/>
              <a:t>symbol 2, </a:t>
            </a:r>
            <a:r>
              <a:rPr lang="ko-KR" altLang="en-US" dirty="0"/>
              <a:t>나머지는 </a:t>
            </a:r>
            <a:r>
              <a:rPr lang="en-US" altLang="ko-KR" dirty="0"/>
              <a:t>1), </a:t>
            </a:r>
          </a:p>
          <a:p>
            <a:pPr lvl="2"/>
            <a:r>
              <a:rPr lang="en-US" altLang="ko-KR" dirty="0" err="1"/>
              <a:t>ReceivedSymbols</a:t>
            </a:r>
            <a:r>
              <a:rPr lang="en-US" altLang="ko-KR" dirty="0"/>
              <a:t>[N][L]</a:t>
            </a:r>
            <a:r>
              <a:rPr lang="ko-KR" altLang="en-US" dirty="0"/>
              <a:t>에 수신된 내용 채워서 </a:t>
            </a:r>
            <a:r>
              <a:rPr lang="ko-KR" altLang="en-US" dirty="0" smtClean="0"/>
              <a:t>입력</a:t>
            </a:r>
            <a:r>
              <a:rPr lang="en-US" altLang="ko-KR" dirty="0" smtClean="0"/>
              <a:t> </a:t>
            </a:r>
            <a:endParaRPr lang="en-US" altLang="ko-KR" dirty="0"/>
          </a:p>
          <a:p>
            <a:r>
              <a:rPr lang="ko-KR" altLang="en-US" dirty="0" smtClean="0"/>
              <a:t>출력</a:t>
            </a:r>
            <a:r>
              <a:rPr lang="en-US" altLang="ko-KR" dirty="0" smtClean="0"/>
              <a:t>: </a:t>
            </a:r>
            <a:r>
              <a:rPr lang="en-US" altLang="ko-KR" dirty="0" err="1" smtClean="0"/>
              <a:t>ReceivedSymbols</a:t>
            </a:r>
            <a:r>
              <a:rPr lang="en-US" altLang="ko-KR" dirty="0" smtClean="0"/>
              <a:t>[N</a:t>
            </a:r>
            <a:r>
              <a:rPr lang="en-US" altLang="ko-KR" dirty="0"/>
              <a:t>][L</a:t>
            </a:r>
            <a:r>
              <a:rPr lang="en-US" altLang="ko-KR" dirty="0" smtClean="0"/>
              <a:t>]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42636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Test</a:t>
            </a:r>
            <a:r>
              <a:rPr lang="ko-KR" altLang="en-US" dirty="0" smtClean="0"/>
              <a:t> </a:t>
            </a:r>
            <a:r>
              <a:rPr lang="en-US" altLang="ko-KR" dirty="0" smtClean="0"/>
              <a:t>scenario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199" y="1066800"/>
            <a:ext cx="11225645" cy="5289550"/>
          </a:xfrm>
        </p:spPr>
        <p:txBody>
          <a:bodyPr>
            <a:normAutofit fontScale="92500" lnSpcReduction="10000"/>
          </a:bodyPr>
          <a:lstStyle/>
          <a:p>
            <a:r>
              <a:rPr lang="en-US" altLang="ko-KR" dirty="0" smtClean="0"/>
              <a:t>(N,K) = (59,29)</a:t>
            </a:r>
          </a:p>
          <a:p>
            <a:r>
              <a:rPr lang="en-US" altLang="ko-KR" dirty="0" smtClean="0"/>
              <a:t>Encoder</a:t>
            </a:r>
          </a:p>
          <a:p>
            <a:pPr lvl="1"/>
            <a:r>
              <a:rPr lang="en-US" altLang="ko-KR" sz="2000" dirty="0" err="1" smtClean="0"/>
              <a:t>Pushpacket</a:t>
            </a:r>
            <a:r>
              <a:rPr lang="en-US" altLang="ko-KR" sz="2000" dirty="0" smtClean="0"/>
              <a:t>( )</a:t>
            </a:r>
            <a:r>
              <a:rPr lang="ko-KR" altLang="en-US" sz="2000" dirty="0" smtClean="0"/>
              <a:t>을 불러 </a:t>
            </a:r>
            <a:r>
              <a:rPr lang="ko-KR" altLang="en-US" sz="2000" dirty="0" err="1" smtClean="0"/>
              <a:t>패킷을</a:t>
            </a:r>
            <a:r>
              <a:rPr lang="ko-KR" altLang="en-US" sz="2000" dirty="0" smtClean="0"/>
              <a:t> </a:t>
            </a:r>
            <a:r>
              <a:rPr lang="ko-KR" altLang="en-US" sz="2000" dirty="0" err="1" smtClean="0"/>
              <a:t>밀어넣기를</a:t>
            </a:r>
            <a:r>
              <a:rPr lang="ko-KR" altLang="en-US" sz="2000" dirty="0" smtClean="0"/>
              <a:t> 계속한다</a:t>
            </a:r>
            <a:r>
              <a:rPr lang="en-US" altLang="ko-KR" sz="2000" dirty="0" smtClean="0"/>
              <a:t>.</a:t>
            </a:r>
          </a:p>
          <a:p>
            <a:pPr lvl="1"/>
            <a:r>
              <a:rPr lang="ko-KR" altLang="en-US" sz="2000" dirty="0" err="1" smtClean="0"/>
              <a:t>데이터패킷은</a:t>
            </a:r>
            <a:r>
              <a:rPr lang="ko-KR" altLang="en-US" sz="2000" dirty="0" smtClean="0"/>
              <a:t> 전송메모리에 쌓인다</a:t>
            </a:r>
            <a:r>
              <a:rPr lang="en-US" altLang="ko-KR" sz="2000" dirty="0" smtClean="0"/>
              <a:t>.</a:t>
            </a:r>
            <a:r>
              <a:rPr lang="ko-KR" altLang="en-US" sz="2000" dirty="0" smtClean="0"/>
              <a:t> </a:t>
            </a:r>
            <a:r>
              <a:rPr lang="en-US" altLang="ko-KR" sz="2000" dirty="0" smtClean="0"/>
              <a:t>(</a:t>
            </a:r>
            <a:r>
              <a:rPr lang="ko-KR" altLang="en-US" sz="2000" dirty="0" smtClean="0"/>
              <a:t>편의상</a:t>
            </a:r>
            <a:r>
              <a:rPr lang="en-US" altLang="ko-KR" sz="2000" dirty="0" smtClean="0"/>
              <a:t> 1packet/1symbol</a:t>
            </a:r>
            <a:r>
              <a:rPr lang="ko-KR" altLang="en-US" sz="2000" dirty="0" smtClean="0"/>
              <a:t>로 하자</a:t>
            </a:r>
            <a:r>
              <a:rPr lang="en-US" altLang="ko-KR" sz="2000" dirty="0" smtClean="0"/>
              <a:t>.)</a:t>
            </a:r>
          </a:p>
          <a:p>
            <a:pPr lvl="1"/>
            <a:r>
              <a:rPr lang="ko-KR" altLang="en-US" sz="2000" dirty="0" smtClean="0"/>
              <a:t>만일 </a:t>
            </a:r>
            <a:r>
              <a:rPr lang="en-US" altLang="ko-KR" sz="2000" dirty="0" err="1" smtClean="0"/>
              <a:t>pushpacket</a:t>
            </a:r>
            <a:r>
              <a:rPr lang="en-US" altLang="ko-KR" sz="2000" dirty="0" smtClean="0"/>
              <a:t>()</a:t>
            </a:r>
            <a:r>
              <a:rPr lang="ko-KR" altLang="en-US" sz="2000" dirty="0" smtClean="0"/>
              <a:t>의 </a:t>
            </a:r>
            <a:r>
              <a:rPr lang="en-US" altLang="ko-KR" sz="2000" dirty="0" smtClean="0"/>
              <a:t>return</a:t>
            </a:r>
            <a:r>
              <a:rPr lang="ko-KR" altLang="en-US" sz="2000" dirty="0" smtClean="0"/>
              <a:t>값이 </a:t>
            </a:r>
            <a:r>
              <a:rPr lang="en-US" altLang="ko-KR" sz="2000" dirty="0" smtClean="0"/>
              <a:t>1</a:t>
            </a:r>
            <a:r>
              <a:rPr lang="ko-KR" altLang="en-US" sz="2000" dirty="0" smtClean="0"/>
              <a:t>이</a:t>
            </a:r>
            <a:r>
              <a:rPr lang="en-US" altLang="ko-KR" sz="2000" dirty="0" smtClean="0"/>
              <a:t> </a:t>
            </a:r>
            <a:r>
              <a:rPr lang="ko-KR" altLang="en-US" sz="2000" dirty="0" smtClean="0"/>
              <a:t>아니면</a:t>
            </a:r>
            <a:r>
              <a:rPr lang="en-US" altLang="ko-KR" sz="2000" dirty="0" smtClean="0"/>
              <a:t>, </a:t>
            </a:r>
            <a:r>
              <a:rPr lang="ko-KR" altLang="en-US" sz="2000" dirty="0" smtClean="0"/>
              <a:t>그 값만큼 </a:t>
            </a:r>
            <a:r>
              <a:rPr lang="en-US" altLang="ko-KR" sz="2000" dirty="0" smtClean="0"/>
              <a:t>repair packets</a:t>
            </a:r>
            <a:r>
              <a:rPr lang="ko-KR" altLang="en-US" sz="2000" dirty="0" smtClean="0"/>
              <a:t>를 전송메모리에 쌓는다</a:t>
            </a:r>
            <a:r>
              <a:rPr lang="en-US" altLang="ko-KR" sz="2000" dirty="0" smtClean="0"/>
              <a:t>.(1packet/1symbol)</a:t>
            </a:r>
          </a:p>
          <a:p>
            <a:r>
              <a:rPr lang="ko-KR" altLang="en-US" dirty="0" smtClean="0"/>
              <a:t>전송메모리는</a:t>
            </a:r>
            <a:r>
              <a:rPr lang="en-US" altLang="ko-KR" dirty="0" smtClean="0"/>
              <a:t> main</a:t>
            </a:r>
            <a:r>
              <a:rPr lang="ko-KR" altLang="en-US" dirty="0" smtClean="0"/>
              <a:t>에 </a:t>
            </a:r>
            <a:r>
              <a:rPr lang="en-US" altLang="ko-KR" dirty="0" smtClean="0"/>
              <a:t>allocate</a:t>
            </a:r>
            <a:r>
              <a:rPr lang="ko-KR" altLang="en-US" dirty="0" smtClean="0"/>
              <a:t>해 놓아야</a:t>
            </a:r>
            <a:r>
              <a:rPr lang="en-US" altLang="ko-KR" dirty="0" smtClean="0"/>
              <a:t>(</a:t>
            </a:r>
            <a:r>
              <a:rPr lang="ko-KR" altLang="en-US" dirty="0" smtClean="0"/>
              <a:t>나중에 반복적으로 </a:t>
            </a:r>
            <a:r>
              <a:rPr lang="en-US" altLang="ko-KR" dirty="0" smtClean="0"/>
              <a:t>decoding)</a:t>
            </a:r>
          </a:p>
          <a:p>
            <a:pPr lvl="1"/>
            <a:r>
              <a:rPr lang="en-US" altLang="ko-KR" dirty="0" err="1" smtClean="0"/>
              <a:t>Channel_memory</a:t>
            </a:r>
            <a:r>
              <a:rPr lang="en-US" altLang="ko-KR" dirty="0" smtClean="0"/>
              <a:t>[N][L]</a:t>
            </a:r>
          </a:p>
          <a:p>
            <a:r>
              <a:rPr lang="en-US" altLang="ko-KR" dirty="0" smtClean="0"/>
              <a:t>Loss: </a:t>
            </a:r>
            <a:r>
              <a:rPr lang="ko-KR" altLang="en-US" dirty="0" smtClean="0"/>
              <a:t>임의의 </a:t>
            </a:r>
            <a:r>
              <a:rPr lang="ko-KR" altLang="en-US" dirty="0" err="1" smtClean="0"/>
              <a:t>패킷을</a:t>
            </a:r>
            <a:r>
              <a:rPr lang="ko-KR" altLang="en-US" dirty="0" smtClean="0"/>
              <a:t> 손실시킨다</a:t>
            </a:r>
            <a:r>
              <a:rPr lang="en-US" altLang="ko-KR" dirty="0" smtClean="0"/>
              <a:t>.</a:t>
            </a:r>
            <a:endParaRPr lang="en-US" altLang="ko-KR" sz="2400" dirty="0" smtClean="0"/>
          </a:p>
          <a:p>
            <a:pPr lvl="1"/>
            <a:r>
              <a:rPr lang="en-US" altLang="ko-KR" sz="2000" dirty="0" err="1" smtClean="0"/>
              <a:t>myDecoder.rest_bufflet</a:t>
            </a:r>
            <a:r>
              <a:rPr lang="en-US" altLang="ko-KR" sz="2000" dirty="0" smtClean="0"/>
              <a:t>();</a:t>
            </a:r>
          </a:p>
          <a:p>
            <a:pPr lvl="1"/>
            <a:r>
              <a:rPr lang="en-US" altLang="ko-KR" sz="2000" dirty="0" err="1" smtClean="0"/>
              <a:t>myDecoder.Hits</a:t>
            </a:r>
            <a:r>
              <a:rPr lang="en-US" altLang="ko-KR" sz="2000" dirty="0" smtClean="0"/>
              <a:t>[ ]</a:t>
            </a:r>
            <a:r>
              <a:rPr lang="ko-KR" altLang="en-US" sz="2000" dirty="0" smtClean="0"/>
              <a:t>에서 손실된 것은 </a:t>
            </a:r>
            <a:r>
              <a:rPr lang="en-US" altLang="ko-KR" sz="2000" dirty="0" smtClean="0"/>
              <a:t>0, </a:t>
            </a:r>
            <a:r>
              <a:rPr lang="ko-KR" altLang="en-US" sz="2000" dirty="0" smtClean="0"/>
              <a:t>받았으면 </a:t>
            </a:r>
            <a:r>
              <a:rPr lang="en-US" altLang="ko-KR" sz="2000" dirty="0" smtClean="0"/>
              <a:t>non-zero(Header</a:t>
            </a:r>
            <a:r>
              <a:rPr lang="ko-KR" altLang="en-US" sz="2000" dirty="0" smtClean="0"/>
              <a:t>있는 심볼은 </a:t>
            </a:r>
            <a:r>
              <a:rPr lang="en-US" altLang="ko-KR" sz="2000" dirty="0" smtClean="0"/>
              <a:t>2, </a:t>
            </a:r>
            <a:r>
              <a:rPr lang="ko-KR" altLang="en-US" sz="2000" dirty="0" smtClean="0"/>
              <a:t>보통 </a:t>
            </a:r>
            <a:r>
              <a:rPr lang="en-US" altLang="ko-KR" sz="2000" dirty="0" smtClean="0"/>
              <a:t>1)</a:t>
            </a:r>
          </a:p>
          <a:p>
            <a:pPr lvl="1"/>
            <a:r>
              <a:rPr lang="ko-KR" altLang="en-US" sz="2000" dirty="0" smtClean="0"/>
              <a:t>이 실험에서는 편의상</a:t>
            </a:r>
            <a:r>
              <a:rPr lang="en-US" altLang="ko-KR" sz="2000" dirty="0" smtClean="0"/>
              <a:t> 1packet/1symbo</a:t>
            </a:r>
            <a:r>
              <a:rPr lang="ko-KR" altLang="en-US" sz="2000" dirty="0" smtClean="0"/>
              <a:t>이다</a:t>
            </a:r>
            <a:r>
              <a:rPr lang="en-US" altLang="ko-KR" sz="2000" dirty="0" smtClean="0"/>
              <a:t>.</a:t>
            </a:r>
          </a:p>
          <a:p>
            <a:pPr lvl="1"/>
            <a:r>
              <a:rPr lang="ko-KR" altLang="en-US" sz="2000" dirty="0" smtClean="0"/>
              <a:t>수신된 데이터는 </a:t>
            </a:r>
            <a:r>
              <a:rPr lang="en-US" altLang="ko-KR" sz="2000" dirty="0" smtClean="0"/>
              <a:t>tail</a:t>
            </a:r>
            <a:r>
              <a:rPr lang="ko-KR" altLang="en-US" sz="2000" dirty="0"/>
              <a:t>은 </a:t>
            </a:r>
            <a:r>
              <a:rPr lang="ko-KR" altLang="en-US" sz="2000" dirty="0" smtClean="0"/>
              <a:t>떼고 </a:t>
            </a:r>
            <a:r>
              <a:rPr lang="en-US" altLang="ko-KR" sz="2000" dirty="0" err="1" smtClean="0"/>
              <a:t>myDecoder.receivedSymbols</a:t>
            </a:r>
            <a:r>
              <a:rPr lang="ko-KR" altLang="en-US" sz="2000" dirty="0" smtClean="0"/>
              <a:t>에 넣는다</a:t>
            </a:r>
            <a:r>
              <a:rPr lang="en-US" altLang="ko-KR" sz="2000" dirty="0" smtClean="0"/>
              <a:t>. </a:t>
            </a:r>
          </a:p>
          <a:p>
            <a:r>
              <a:rPr lang="en-US" altLang="ko-KR" dirty="0" smtClean="0"/>
              <a:t>Decoder</a:t>
            </a:r>
          </a:p>
          <a:p>
            <a:pPr lvl="1"/>
            <a:r>
              <a:rPr lang="en-US" altLang="ko-KR" sz="2000" dirty="0" err="1" smtClean="0"/>
              <a:t>myDecoder.decode_bufflet</a:t>
            </a:r>
            <a:r>
              <a:rPr lang="en-US" altLang="ko-KR" sz="2000" dirty="0" smtClean="0"/>
              <a:t>( );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94757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Raptor(99,49) </a:t>
            </a:r>
            <a:r>
              <a:rPr lang="ko-KR" altLang="en-US" dirty="0" smtClean="0"/>
              <a:t>수정사항 </a:t>
            </a:r>
            <a:r>
              <a:rPr lang="en-US" altLang="ko-KR" dirty="0" smtClean="0">
                <a:sym typeface="Wingdings" panose="05000000000000000000" pitchFamily="2" charset="2"/>
              </a:rPr>
              <a:t> 201609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N</a:t>
            </a:r>
            <a:r>
              <a:rPr lang="ko-KR" altLang="en-US" dirty="0" smtClean="0"/>
              <a:t>만 </a:t>
            </a:r>
            <a:r>
              <a:rPr lang="en-US" altLang="ko-KR" dirty="0" smtClean="0"/>
              <a:t>99</a:t>
            </a:r>
            <a:r>
              <a:rPr lang="ko-KR" altLang="en-US" dirty="0" smtClean="0"/>
              <a:t>로 바꾸었다</a:t>
            </a:r>
            <a:r>
              <a:rPr lang="en-US" altLang="ko-KR" dirty="0" smtClean="0"/>
              <a:t>.</a:t>
            </a:r>
          </a:p>
          <a:p>
            <a:pPr lvl="1"/>
            <a:r>
              <a:rPr lang="en-US" altLang="ko-KR" dirty="0" smtClean="0"/>
              <a:t>N</a:t>
            </a:r>
            <a:r>
              <a:rPr lang="ko-KR" altLang="en-US" dirty="0" smtClean="0"/>
              <a:t>을 키우나</a:t>
            </a:r>
            <a:r>
              <a:rPr lang="en-US" altLang="ko-KR" dirty="0" smtClean="0"/>
              <a:t>? Raptor(99, 49)</a:t>
            </a:r>
            <a:r>
              <a:rPr lang="ko-KR" altLang="en-US" dirty="0" smtClean="0"/>
              <a:t>로 한다</a:t>
            </a:r>
            <a:r>
              <a:rPr lang="en-US" altLang="ko-KR" dirty="0" smtClean="0"/>
              <a:t>. </a:t>
            </a:r>
          </a:p>
          <a:p>
            <a:pPr lvl="1"/>
            <a:r>
              <a:rPr lang="en-US" altLang="ko-KR" dirty="0"/>
              <a:t>K</a:t>
            </a:r>
            <a:r>
              <a:rPr lang="ko-KR" altLang="en-US" dirty="0"/>
              <a:t>를 작게 </a:t>
            </a:r>
            <a:r>
              <a:rPr lang="ko-KR" altLang="en-US" dirty="0" smtClean="0"/>
              <a:t>한다</a:t>
            </a:r>
            <a:r>
              <a:rPr lang="en-US" altLang="ko-KR" dirty="0" smtClean="0"/>
              <a:t>. </a:t>
            </a:r>
            <a:r>
              <a:rPr lang="en-US" altLang="ko-KR" dirty="0" err="1" smtClean="0"/>
              <a:t>Qmatrix</a:t>
            </a:r>
            <a:r>
              <a:rPr lang="en-US" altLang="ko-KR" dirty="0" smtClean="0"/>
              <a:t>[</a:t>
            </a:r>
            <a:r>
              <a:rPr lang="en-US" altLang="ko-KR" dirty="0" err="1" smtClean="0"/>
              <a:t>i</a:t>
            </a:r>
            <a:r>
              <a:rPr lang="en-US" altLang="ko-KR" dirty="0"/>
              <a:t>]</a:t>
            </a:r>
            <a:r>
              <a:rPr lang="ko-KR" altLang="en-US" dirty="0"/>
              <a:t>에서 </a:t>
            </a:r>
            <a:r>
              <a:rPr lang="en-US" altLang="ko-KR" dirty="0" err="1"/>
              <a:t>MatrixA</a:t>
            </a:r>
            <a:r>
              <a:rPr lang="ko-KR" altLang="en-US" dirty="0"/>
              <a:t>를 만들 때</a:t>
            </a:r>
            <a:r>
              <a:rPr lang="en-US" altLang="ko-KR" dirty="0"/>
              <a:t>, </a:t>
            </a:r>
            <a:r>
              <a:rPr lang="ko-KR" altLang="en-US" dirty="0"/>
              <a:t>그냥 </a:t>
            </a:r>
            <a:r>
              <a:rPr lang="en-US" altLang="ko-KR" dirty="0"/>
              <a:t>N</a:t>
            </a:r>
            <a:r>
              <a:rPr lang="ko-KR" altLang="en-US" dirty="0"/>
              <a:t>개 </a:t>
            </a:r>
            <a:r>
              <a:rPr lang="en-US" altLang="ko-KR" dirty="0"/>
              <a:t>row</a:t>
            </a:r>
            <a:r>
              <a:rPr lang="ko-KR" altLang="en-US" dirty="0"/>
              <a:t>를 </a:t>
            </a:r>
            <a:r>
              <a:rPr lang="en-US" altLang="ko-KR" dirty="0"/>
              <a:t>copy</a:t>
            </a:r>
            <a:r>
              <a:rPr lang="ko-KR" altLang="en-US" dirty="0"/>
              <a:t>하면 </a:t>
            </a:r>
            <a:r>
              <a:rPr lang="ko-KR" altLang="en-US" dirty="0" err="1"/>
              <a:t>안된다</a:t>
            </a:r>
            <a:r>
              <a:rPr lang="en-US" altLang="ko-KR" dirty="0"/>
              <a:t>. K-1</a:t>
            </a:r>
            <a:r>
              <a:rPr lang="ko-KR" altLang="en-US" dirty="0"/>
              <a:t>개까지 </a:t>
            </a:r>
            <a:r>
              <a:rPr lang="en-US" altLang="ko-KR" dirty="0"/>
              <a:t>identity copy</a:t>
            </a:r>
            <a:r>
              <a:rPr lang="ko-KR" altLang="en-US" dirty="0"/>
              <a:t>하고</a:t>
            </a:r>
            <a:r>
              <a:rPr lang="en-US" altLang="ko-KR" dirty="0"/>
              <a:t>, K</a:t>
            </a:r>
            <a:r>
              <a:rPr lang="ko-KR" altLang="en-US" dirty="0"/>
              <a:t>부터는 </a:t>
            </a:r>
            <a:r>
              <a:rPr lang="en-US" altLang="ko-KR" dirty="0"/>
              <a:t>parity row</a:t>
            </a:r>
            <a:r>
              <a:rPr lang="ko-KR" altLang="en-US" dirty="0"/>
              <a:t>를 </a:t>
            </a:r>
            <a:r>
              <a:rPr lang="en-US" altLang="ko-KR" dirty="0"/>
              <a:t>copy</a:t>
            </a:r>
            <a:r>
              <a:rPr lang="ko-KR" altLang="en-US" dirty="0"/>
              <a:t>해야 한다</a:t>
            </a:r>
            <a:r>
              <a:rPr lang="en-US" altLang="ko-KR" dirty="0"/>
              <a:t>. </a:t>
            </a:r>
          </a:p>
          <a:p>
            <a:endParaRPr lang="en-US" altLang="ko-KR" dirty="0" smtClean="0"/>
          </a:p>
          <a:p>
            <a:pPr marL="0" indent="0">
              <a:buNone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585913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 dirty="0" smtClean="0"/>
              <a:t>Performance test, Raptor[99,49]</a:t>
            </a:r>
            <a:endParaRPr lang="ko-KR" altLang="en-US" sz="40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034142"/>
            <a:ext cx="5856514" cy="5289550"/>
          </a:xfrm>
        </p:spPr>
        <p:txBody>
          <a:bodyPr>
            <a:normAutofit/>
          </a:bodyPr>
          <a:lstStyle/>
          <a:p>
            <a:r>
              <a:rPr lang="en-US" altLang="ko-KR" sz="2000" dirty="0" err="1" smtClean="0"/>
              <a:t>Channel_memory</a:t>
            </a:r>
            <a:r>
              <a:rPr lang="ko-KR" altLang="en-US" sz="2000" dirty="0" smtClean="0"/>
              <a:t>까지 채우는 것은 한번만 시행</a:t>
            </a:r>
            <a:endParaRPr lang="en-US" altLang="ko-KR" sz="2000" dirty="0" smtClean="0"/>
          </a:p>
          <a:p>
            <a:r>
              <a:rPr lang="en-US" altLang="ko-KR" sz="2000" dirty="0" smtClean="0"/>
              <a:t>Decoding</a:t>
            </a:r>
            <a:r>
              <a:rPr lang="ko-KR" altLang="en-US" sz="2000" dirty="0" smtClean="0"/>
              <a:t>은 </a:t>
            </a:r>
            <a:r>
              <a:rPr lang="en-US" altLang="ko-KR" sz="2000" dirty="0" smtClean="0"/>
              <a:t>1</a:t>
            </a:r>
            <a:r>
              <a:rPr lang="ko-KR" altLang="en-US" sz="2000" dirty="0" err="1" smtClean="0"/>
              <a:t>천번</a:t>
            </a:r>
            <a:r>
              <a:rPr lang="ko-KR" altLang="en-US" sz="2000" dirty="0" smtClean="0"/>
              <a:t> 수행하여 시간을 측정함</a:t>
            </a:r>
            <a:endParaRPr lang="en-US" altLang="ko-KR" sz="2000" dirty="0" smtClean="0"/>
          </a:p>
          <a:p>
            <a:pPr lvl="1"/>
            <a:r>
              <a:rPr lang="ko-KR" altLang="en-US" sz="1800" dirty="0" err="1" smtClean="0"/>
              <a:t>손실율을</a:t>
            </a:r>
            <a:r>
              <a:rPr lang="ko-KR" altLang="en-US" sz="1800" dirty="0" smtClean="0"/>
              <a:t> 고정하고 </a:t>
            </a:r>
            <a:r>
              <a:rPr lang="en-US" altLang="ko-KR" sz="1800" dirty="0" smtClean="0"/>
              <a:t>L</a:t>
            </a:r>
            <a:r>
              <a:rPr lang="ko-KR" altLang="en-US" sz="1800" dirty="0" smtClean="0"/>
              <a:t>을 변경한다</a:t>
            </a:r>
            <a:r>
              <a:rPr lang="en-US" altLang="ko-KR" sz="1800" dirty="0" smtClean="0"/>
              <a:t>.</a:t>
            </a:r>
          </a:p>
          <a:p>
            <a:pPr lvl="1"/>
            <a:r>
              <a:rPr lang="en-US" altLang="ko-KR" sz="1800" dirty="0" smtClean="0"/>
              <a:t>L</a:t>
            </a:r>
            <a:r>
              <a:rPr lang="ko-KR" altLang="en-US" sz="1800" dirty="0" smtClean="0"/>
              <a:t>을 고정하고 </a:t>
            </a:r>
            <a:r>
              <a:rPr lang="ko-KR" altLang="en-US" sz="1800" dirty="0" err="1" smtClean="0"/>
              <a:t>손실율을</a:t>
            </a:r>
            <a:r>
              <a:rPr lang="ko-KR" altLang="en-US" sz="1800" dirty="0" smtClean="0"/>
              <a:t> 변경한다</a:t>
            </a:r>
            <a:r>
              <a:rPr lang="en-US" altLang="ko-KR" sz="1800" dirty="0" smtClean="0"/>
              <a:t>. </a:t>
            </a:r>
          </a:p>
          <a:p>
            <a:r>
              <a:rPr lang="en-US" altLang="ko-KR" sz="2000" dirty="0" smtClean="0"/>
              <a:t>Release</a:t>
            </a:r>
            <a:r>
              <a:rPr lang="ko-KR" altLang="en-US" sz="2000" dirty="0" smtClean="0"/>
              <a:t> </a:t>
            </a:r>
            <a:r>
              <a:rPr lang="en-US" altLang="ko-KR" sz="2000" dirty="0" smtClean="0"/>
              <a:t>mode</a:t>
            </a:r>
            <a:r>
              <a:rPr lang="ko-KR" altLang="en-US" sz="2000" dirty="0" smtClean="0"/>
              <a:t>로 동작시킨다</a:t>
            </a:r>
            <a:r>
              <a:rPr lang="en-US" altLang="ko-KR" sz="2000" dirty="0" smtClean="0"/>
              <a:t>. </a:t>
            </a:r>
          </a:p>
          <a:p>
            <a:r>
              <a:rPr lang="ko-KR" altLang="en-US" sz="2000" dirty="0" smtClean="0"/>
              <a:t>결론</a:t>
            </a:r>
            <a:endParaRPr lang="en-US" altLang="ko-KR" sz="2000" dirty="0" smtClean="0"/>
          </a:p>
          <a:p>
            <a:pPr lvl="1"/>
            <a:r>
              <a:rPr lang="en-US" altLang="ko-KR" sz="1600" dirty="0" smtClean="0"/>
              <a:t>Decoding </a:t>
            </a:r>
            <a:r>
              <a:rPr lang="ko-KR" altLang="en-US" sz="1600" dirty="0" smtClean="0"/>
              <a:t>시간은 무시할만하다</a:t>
            </a:r>
            <a:r>
              <a:rPr lang="en-US" altLang="ko-KR" sz="1600" dirty="0" smtClean="0"/>
              <a:t>.(10ms</a:t>
            </a:r>
            <a:r>
              <a:rPr lang="ko-KR" altLang="en-US" sz="1600" dirty="0" smtClean="0"/>
              <a:t>이내</a:t>
            </a:r>
            <a:r>
              <a:rPr lang="en-US" altLang="ko-KR" sz="1600" dirty="0" smtClean="0"/>
              <a:t>)</a:t>
            </a:r>
          </a:p>
          <a:p>
            <a:pPr lvl="1"/>
            <a:r>
              <a:rPr lang="ko-KR" altLang="en-US" sz="1600" dirty="0" smtClean="0"/>
              <a:t>심볼 크기 </a:t>
            </a:r>
            <a:r>
              <a:rPr lang="en-US" altLang="ko-KR" sz="1600" dirty="0" smtClean="0"/>
              <a:t>L</a:t>
            </a:r>
            <a:r>
              <a:rPr lang="ko-KR" altLang="en-US" sz="1600" dirty="0" smtClean="0"/>
              <a:t>에 거의 정비례한다</a:t>
            </a:r>
            <a:r>
              <a:rPr lang="en-US" altLang="ko-KR" sz="1600" dirty="0" smtClean="0"/>
              <a:t>.</a:t>
            </a:r>
          </a:p>
          <a:p>
            <a:pPr lvl="1"/>
            <a:r>
              <a:rPr lang="en-US" altLang="ko-KR" sz="1600" dirty="0" smtClean="0"/>
              <a:t>PLR</a:t>
            </a:r>
            <a:r>
              <a:rPr lang="ko-KR" altLang="en-US" sz="1600" dirty="0" smtClean="0"/>
              <a:t>에 반비례한다</a:t>
            </a:r>
            <a:r>
              <a:rPr lang="en-US" altLang="ko-KR" sz="1600" dirty="0" smtClean="0"/>
              <a:t>. </a:t>
            </a:r>
          </a:p>
          <a:p>
            <a:pPr marL="0" indent="0">
              <a:buNone/>
            </a:pPr>
            <a:r>
              <a:rPr lang="ko-KR" altLang="en-US" sz="2000" dirty="0" smtClean="0"/>
              <a:t>예제</a:t>
            </a:r>
            <a:r>
              <a:rPr lang="en-US" altLang="ko-KR" sz="2000" dirty="0" smtClean="0"/>
              <a:t>) L=2000bytes, PLR=50%, time=11ms</a:t>
            </a:r>
          </a:p>
          <a:p>
            <a:pPr lvl="1"/>
            <a:r>
              <a:rPr lang="en-US" altLang="ko-KR" sz="1600" dirty="0" smtClean="0"/>
              <a:t>2000*8*49bits/sec = 800kbps </a:t>
            </a:r>
            <a:r>
              <a:rPr lang="ko-KR" altLang="en-US" sz="1600" dirty="0" smtClean="0"/>
              <a:t>비디오를 </a:t>
            </a:r>
            <a:r>
              <a:rPr lang="en-US" altLang="ko-KR" sz="1600" dirty="0" err="1" smtClean="0"/>
              <a:t>deFEC</a:t>
            </a:r>
            <a:r>
              <a:rPr lang="ko-KR" altLang="en-US" sz="1600" dirty="0" smtClean="0"/>
              <a:t>처리하는데 </a:t>
            </a:r>
            <a:r>
              <a:rPr lang="en-US" altLang="ko-KR" sz="1600" dirty="0" smtClean="0"/>
              <a:t>11ms </a:t>
            </a:r>
            <a:r>
              <a:rPr lang="ko-KR" altLang="en-US" sz="1600" dirty="0" smtClean="0"/>
              <a:t>걸린다</a:t>
            </a:r>
            <a:r>
              <a:rPr lang="en-US" altLang="ko-KR" sz="1600" dirty="0" smtClean="0"/>
              <a:t>. </a:t>
            </a:r>
          </a:p>
          <a:p>
            <a:pPr lvl="1"/>
            <a:r>
              <a:rPr lang="en-US" altLang="ko-KR" sz="1600" dirty="0" smtClean="0"/>
              <a:t>22ms</a:t>
            </a:r>
            <a:r>
              <a:rPr lang="ko-KR" altLang="en-US" sz="1600" dirty="0" smtClean="0"/>
              <a:t>을 사용한다면</a:t>
            </a:r>
            <a:r>
              <a:rPr lang="en-US" altLang="ko-KR" sz="1600" dirty="0" smtClean="0"/>
              <a:t>, 1.6Mbps </a:t>
            </a:r>
            <a:r>
              <a:rPr lang="ko-KR" altLang="en-US" sz="1600" dirty="0" smtClean="0"/>
              <a:t>비디오 처리</a:t>
            </a:r>
            <a:endParaRPr lang="en-US" altLang="ko-KR" sz="1600" dirty="0" smtClean="0"/>
          </a:p>
          <a:p>
            <a:pPr lvl="1"/>
            <a:r>
              <a:rPr lang="en-US" altLang="ko-KR" sz="1600" dirty="0" smtClean="0"/>
              <a:t>Base layer</a:t>
            </a:r>
            <a:r>
              <a:rPr lang="ko-KR" altLang="en-US" sz="1600" dirty="0" smtClean="0"/>
              <a:t>를 </a:t>
            </a:r>
            <a:r>
              <a:rPr lang="en-US" altLang="ko-KR" sz="1600" dirty="0" smtClean="0"/>
              <a:t>decoding</a:t>
            </a:r>
            <a:r>
              <a:rPr lang="ko-KR" altLang="en-US" sz="1600" dirty="0" smtClean="0"/>
              <a:t>할 때에는 </a:t>
            </a:r>
            <a:r>
              <a:rPr lang="en-US" altLang="ko-KR" sz="1600" dirty="0" smtClean="0"/>
              <a:t>base layer</a:t>
            </a:r>
            <a:r>
              <a:rPr lang="ko-KR" altLang="en-US" sz="1600" dirty="0" smtClean="0"/>
              <a:t>만 </a:t>
            </a:r>
            <a:r>
              <a:rPr lang="en-US" altLang="ko-KR" sz="1600" dirty="0" smtClean="0"/>
              <a:t>decoding</a:t>
            </a:r>
            <a:r>
              <a:rPr lang="ko-KR" altLang="en-US" sz="1600" dirty="0" smtClean="0"/>
              <a:t>하면 되므로 충분하다</a:t>
            </a:r>
            <a:r>
              <a:rPr lang="en-US" altLang="ko-KR" sz="1600" dirty="0" smtClean="0"/>
              <a:t>. </a:t>
            </a:r>
          </a:p>
          <a:p>
            <a:pPr marL="0" indent="0">
              <a:buNone/>
            </a:pPr>
            <a:endParaRPr lang="ko-KR" altLang="en-US" sz="2000" dirty="0"/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6182193"/>
              </p:ext>
            </p:extLst>
          </p:nvPr>
        </p:nvGraphicFramePr>
        <p:xfrm>
          <a:off x="6787238" y="1023254"/>
          <a:ext cx="4695376" cy="217623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73844"/>
                <a:gridCol w="1173844"/>
                <a:gridCol w="1173844"/>
                <a:gridCol w="1173844"/>
              </a:tblGrid>
              <a:tr h="55035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 smtClean="0">
                          <a:effectLst/>
                        </a:rPr>
                        <a:t>Symbol </a:t>
                      </a:r>
                      <a:r>
                        <a:rPr lang="en-US" sz="1600" u="none" strike="noStrike" dirty="0" err="1" smtClean="0">
                          <a:effectLst/>
                        </a:rPr>
                        <a:t>sizeL</a:t>
                      </a:r>
                      <a:r>
                        <a:rPr lang="en-US" sz="1600" u="none" strike="noStrike" dirty="0" smtClean="0">
                          <a:effectLst/>
                        </a:rPr>
                        <a:t>(</a:t>
                      </a:r>
                      <a:r>
                        <a:rPr lang="en-US" altLang="ko-KR" sz="1600" u="none" strike="noStrike" dirty="0" smtClean="0">
                          <a:effectLst/>
                        </a:rPr>
                        <a:t>bytes)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 smtClean="0">
                          <a:effectLst/>
                        </a:rPr>
                        <a:t>time, </a:t>
                      </a:r>
                      <a:r>
                        <a:rPr lang="en-US" sz="1600" u="none" strike="noStrike" dirty="0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µs</a:t>
                      </a:r>
                      <a:endParaRPr lang="en-US" sz="1600" u="none" strike="noStrike" dirty="0" smtClean="0">
                        <a:effectLst/>
                      </a:endParaRPr>
                    </a:p>
                    <a:p>
                      <a:pPr algn="ctr" fontAlgn="ctr"/>
                      <a:r>
                        <a:rPr lang="en-US" sz="1600" u="none" strike="noStrike" dirty="0" smtClean="0">
                          <a:effectLst/>
                        </a:rPr>
                        <a:t>(</a:t>
                      </a:r>
                      <a:r>
                        <a:rPr lang="en-US" sz="1600" u="none" strike="noStrike" dirty="0">
                          <a:effectLst/>
                        </a:rPr>
                        <a:t>PLR 50%)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 smtClean="0">
                          <a:effectLst/>
                        </a:rPr>
                        <a:t>time</a:t>
                      </a:r>
                    </a:p>
                    <a:p>
                      <a:pPr algn="ctr" fontAlgn="ctr"/>
                      <a:r>
                        <a:rPr lang="en-US" sz="1600" u="none" strike="noStrike" dirty="0" smtClean="0">
                          <a:effectLst/>
                        </a:rPr>
                        <a:t>(PLR 25</a:t>
                      </a:r>
                      <a:r>
                        <a:rPr lang="en-US" sz="1600" u="none" strike="noStrike" dirty="0">
                          <a:effectLst/>
                        </a:rPr>
                        <a:t>%)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 smtClean="0">
                          <a:effectLst/>
                        </a:rPr>
                        <a:t>time</a:t>
                      </a:r>
                    </a:p>
                    <a:p>
                      <a:pPr algn="ctr" fontAlgn="ctr"/>
                      <a:r>
                        <a:rPr lang="en-US" sz="1600" u="none" strike="noStrike" dirty="0" smtClean="0">
                          <a:effectLst/>
                        </a:rPr>
                        <a:t>(PLR 10</a:t>
                      </a:r>
                      <a:r>
                        <a:rPr lang="en-US" sz="1600" u="none" strike="noStrike" dirty="0">
                          <a:effectLst/>
                        </a:rPr>
                        <a:t>%)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</a:tr>
              <a:tr h="32517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u="none" strike="noStrike">
                          <a:effectLst/>
                        </a:rPr>
                        <a:t>19</a:t>
                      </a:r>
                      <a:endParaRPr lang="en-US" altLang="ko-KR" sz="1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u="none" strike="noStrike" dirty="0">
                          <a:effectLst/>
                        </a:rPr>
                        <a:t>164</a:t>
                      </a:r>
                      <a:endParaRPr lang="en-US" altLang="ko-KR" sz="16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u="none" strike="noStrike" dirty="0">
                          <a:effectLst/>
                        </a:rPr>
                        <a:t>71</a:t>
                      </a:r>
                      <a:endParaRPr lang="en-US" altLang="ko-KR" sz="16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u="none" strike="noStrike">
                          <a:effectLst/>
                        </a:rPr>
                        <a:t>25</a:t>
                      </a:r>
                      <a:endParaRPr lang="en-US" altLang="ko-KR" sz="1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</a:tr>
              <a:tr h="32517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u="none" strike="noStrike">
                          <a:effectLst/>
                        </a:rPr>
                        <a:t>100</a:t>
                      </a:r>
                      <a:endParaRPr lang="en-US" altLang="ko-KR" sz="1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u="none" strike="noStrike">
                          <a:effectLst/>
                        </a:rPr>
                        <a:t>578</a:t>
                      </a:r>
                      <a:endParaRPr lang="en-US" altLang="ko-KR" sz="1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u="none" strike="noStrike" dirty="0">
                          <a:effectLst/>
                        </a:rPr>
                        <a:t>301</a:t>
                      </a:r>
                      <a:endParaRPr lang="en-US" altLang="ko-KR" sz="16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u="none" strike="noStrike">
                          <a:effectLst/>
                        </a:rPr>
                        <a:t>113</a:t>
                      </a:r>
                      <a:endParaRPr lang="en-US" altLang="ko-KR" sz="1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</a:tr>
              <a:tr h="32517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u="none" strike="noStrike">
                          <a:effectLst/>
                        </a:rPr>
                        <a:t>500</a:t>
                      </a:r>
                      <a:endParaRPr lang="en-US" altLang="ko-KR" sz="1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u="none" strike="noStrike">
                          <a:effectLst/>
                        </a:rPr>
                        <a:t>2618</a:t>
                      </a:r>
                      <a:endParaRPr lang="en-US" altLang="ko-KR" sz="1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u="none" strike="noStrike" dirty="0">
                          <a:effectLst/>
                        </a:rPr>
                        <a:t>1406</a:t>
                      </a:r>
                      <a:endParaRPr lang="en-US" altLang="ko-KR" sz="16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u="none" strike="noStrike" dirty="0">
                          <a:effectLst/>
                        </a:rPr>
                        <a:t>540</a:t>
                      </a:r>
                      <a:endParaRPr lang="en-US" altLang="ko-KR" sz="16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</a:tr>
              <a:tr h="32517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u="none" strike="noStrike">
                          <a:effectLst/>
                        </a:rPr>
                        <a:t>1000</a:t>
                      </a:r>
                      <a:endParaRPr lang="en-US" altLang="ko-KR" sz="1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u="none" strike="noStrike">
                          <a:effectLst/>
                        </a:rPr>
                        <a:t>5159</a:t>
                      </a:r>
                      <a:endParaRPr lang="en-US" altLang="ko-KR" sz="1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u="none" strike="noStrike">
                          <a:effectLst/>
                        </a:rPr>
                        <a:t>2789</a:t>
                      </a:r>
                      <a:endParaRPr lang="en-US" altLang="ko-KR" sz="1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u="none" strike="noStrike" dirty="0">
                          <a:effectLst/>
                        </a:rPr>
                        <a:t>1074</a:t>
                      </a:r>
                      <a:endParaRPr lang="en-US" altLang="ko-KR" sz="16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</a:tr>
              <a:tr h="32517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u="none" strike="noStrike">
                          <a:effectLst/>
                        </a:rPr>
                        <a:t>2000</a:t>
                      </a:r>
                      <a:endParaRPr lang="en-US" altLang="ko-KR" sz="1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u="none" strike="noStrike">
                          <a:effectLst/>
                        </a:rPr>
                        <a:t>10775</a:t>
                      </a:r>
                      <a:endParaRPr lang="en-US" altLang="ko-KR" sz="1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u="none" strike="noStrike">
                          <a:effectLst/>
                        </a:rPr>
                        <a:t>5565</a:t>
                      </a:r>
                      <a:endParaRPr lang="en-US" altLang="ko-KR" sz="1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u="none" strike="noStrike" dirty="0">
                          <a:effectLst/>
                        </a:rPr>
                        <a:t>2145</a:t>
                      </a:r>
                      <a:endParaRPr lang="en-US" altLang="ko-KR" sz="16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</a:tr>
            </a:tbl>
          </a:graphicData>
        </a:graphic>
      </p:graphicFrame>
      <p:graphicFrame>
        <p:nvGraphicFramePr>
          <p:cNvPr id="5" name="차트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9710384"/>
              </p:ext>
            </p:extLst>
          </p:nvPr>
        </p:nvGraphicFramePr>
        <p:xfrm>
          <a:off x="6778171" y="3374573"/>
          <a:ext cx="4833257" cy="31450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477692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1101</TotalTime>
  <Words>3406</Words>
  <Application>Microsoft Office PowerPoint</Application>
  <PresentationFormat>와이드스크린</PresentationFormat>
  <Paragraphs>444</Paragraphs>
  <Slides>40</Slides>
  <Notes>0</Notes>
  <HiddenSlides>0</HiddenSlides>
  <MMClips>0</MMClips>
  <ScaleCrop>false</ScaleCrop>
  <HeadingPairs>
    <vt:vector size="8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40</vt:i4>
      </vt:variant>
    </vt:vector>
  </HeadingPairs>
  <TitlesOfParts>
    <vt:vector size="51" baseType="lpstr">
      <vt:lpstr>굴림</vt:lpstr>
      <vt:lpstr>돋움체</vt:lpstr>
      <vt:lpstr>맑은 고딕</vt:lpstr>
      <vt:lpstr>바탕</vt:lpstr>
      <vt:lpstr>Arial</vt:lpstr>
      <vt:lpstr>Cambria Math</vt:lpstr>
      <vt:lpstr>Microsoft Sans Serif</vt:lpstr>
      <vt:lpstr>Times New Roman</vt:lpstr>
      <vt:lpstr>Wingdings</vt:lpstr>
      <vt:lpstr>Office 테마</vt:lpstr>
      <vt:lpstr>Equation</vt:lpstr>
      <vt:lpstr>Number theory</vt:lpstr>
      <vt:lpstr>Field </vt:lpstr>
      <vt:lpstr>GF(2), Galois Field (2) </vt:lpstr>
      <vt:lpstr>GF(23)        (1)</vt:lpstr>
      <vt:lpstr>GF(23)        (2)</vt:lpstr>
      <vt:lpstr>GF(23): 2 operations</vt:lpstr>
      <vt:lpstr>GF(23) in 2 Operations                (3) </vt:lpstr>
      <vt:lpstr>GF(28), Galois Field(28)</vt:lpstr>
      <vt:lpstr>Conversion table</vt:lpstr>
      <vt:lpstr>Assignment on GF(28) </vt:lpstr>
      <vt:lpstr>Hint) GF256.cpp</vt:lpstr>
      <vt:lpstr>Hash code</vt:lpstr>
      <vt:lpstr>Hash code</vt:lpstr>
      <vt:lpstr>Division method  (1)</vt:lpstr>
      <vt:lpstr>Division method (2): Hamming(7,4)</vt:lpstr>
      <vt:lpstr>Assignment</vt:lpstr>
      <vt:lpstr>“hash.h”</vt:lpstr>
      <vt:lpstr>Raptor code</vt:lpstr>
      <vt:lpstr>Erasure recovery</vt:lpstr>
      <vt:lpstr>Example (1)</vt:lpstr>
      <vt:lpstr>Example (2)</vt:lpstr>
      <vt:lpstr>Example (3)</vt:lpstr>
      <vt:lpstr>Example (4)</vt:lpstr>
      <vt:lpstr>Example (2)</vt:lpstr>
      <vt:lpstr>Encoded packets</vt:lpstr>
      <vt:lpstr>If the 1st packet is lost,</vt:lpstr>
      <vt:lpstr>If the 2nd packet is lost,</vt:lpstr>
      <vt:lpstr>If 1st and 2nd packets are lost,</vt:lpstr>
      <vt:lpstr>Assignment: erasure recovery (1)</vt:lpstr>
      <vt:lpstr>Assignment: erasure recovery (2)</vt:lpstr>
      <vt:lpstr>Example 2</vt:lpstr>
      <vt:lpstr>Raptor test</vt:lpstr>
      <vt:lpstr>Class diagram</vt:lpstr>
      <vt:lpstr>Basic classes</vt:lpstr>
      <vt:lpstr>FECEncoder</vt:lpstr>
      <vt:lpstr>UNIT FECEncoder::pushPacket(BYTE *mmtp,int size)</vt:lpstr>
      <vt:lpstr>FECDecoder</vt:lpstr>
      <vt:lpstr>Test scenario</vt:lpstr>
      <vt:lpstr>Raptor(99,49) 수정사항  201609</vt:lpstr>
      <vt:lpstr>Performance test, Raptor[99,49]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Raptor test</dc:title>
  <dc:creator>Hans</dc:creator>
  <cp:lastModifiedBy>suh</cp:lastModifiedBy>
  <cp:revision>82</cp:revision>
  <dcterms:created xsi:type="dcterms:W3CDTF">2016-09-01T07:16:35Z</dcterms:created>
  <dcterms:modified xsi:type="dcterms:W3CDTF">2021-01-12T04:42:19Z</dcterms:modified>
</cp:coreProperties>
</file>