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D610-CE57-3122-E8C2-B275875A4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F9DD1-2EE3-B286-F58C-11276670E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C10B5-E6D0-38EC-00D6-580C3B5F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2CD91-E895-2258-3A65-A30DFA1E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51ED1-4D43-3E43-B22A-DA42E59B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55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3C514-7E7B-5A35-8618-7FA67F7F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F496E-96B0-A504-5A27-44CBD3095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0816C-0158-1895-7938-097C6999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CA6E9-6331-6885-F0B1-3768152B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91024-A504-9945-F2A6-264AB20D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1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01E8-FD45-C473-35BF-4ABDB2C8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07C48-9705-E069-5A63-D3B4427FC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069C9-60FD-BED2-20C8-39549CD3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E25F-04DC-1298-07C7-BF82F00E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18CAA-C37E-E41C-F283-A76FA09B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A0BF-3A02-4426-B9F9-992DDE5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47B4-E35E-A6C6-58D1-4634E46EA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784E0-0EC3-D5DC-FAAE-9BA638D31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1A951-74AD-2E0C-88B0-9BFEBA3B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F49AD-2627-87EF-A2D3-6F5CCEE6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E93E2-163F-973C-38DB-2E008C1A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39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29C4-33BB-0549-C08A-B1F08D4D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5B13C-3175-1AF2-78D8-B5F462039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80E28-7C98-D37E-2D39-B29E7370D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42AE7-066E-3811-8681-0319A5BC5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B13A7-ECD4-85D7-C566-5A512D052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00EA9-BAC1-1C9C-7231-D1A715A9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A0A00-EBD4-32F5-8A52-562DF6E4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3071B-1FAE-C3C7-19E3-11DC9295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E7DF-3752-E7C3-E1FA-3D044784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C2BD6C-34A6-35D2-DF07-7125EEC4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24C1D-7A39-8F4E-407D-ACA45729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5A75C-A17D-A419-1B63-1BA04256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1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76F14-B301-7E7F-0724-DD464D3B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303B0-9DAB-4A20-1120-B679B316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593FC-47D5-1C1A-6CF8-A2F64B9C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2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1448-8592-8E07-D3AA-26A5C500F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A48A-112A-C341-53A3-43CED73DC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24C88-96E1-238B-13A9-79712DCFB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F779D-133F-EA54-154A-21FB3BB8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8F153-6D16-FAA9-D1A8-2B88DDF3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1A96D-C772-D8FF-02DB-910B36CE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385F-E56E-630B-8532-37789CE2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9A659-618C-3958-40D6-528E6A276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FADC4-59D9-6597-0F55-0E625DD00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A02B9-9305-E2AC-5F07-5A87CB8D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6FFF6-36BB-9593-3A02-4A2B46CE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74B7A-A150-2D80-8133-1C838400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5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3D99-E2B7-BD10-18FE-EA321D54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E398D-38A2-4BD2-94CE-967A7AA4E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67CAD-F60A-0EA6-C7FE-5F9620C3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E5591-35E0-4995-D3D1-863131E1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ABC8E-9E6D-3983-6367-D780E416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9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6958DD-D013-6CB4-DB36-BF5175B6D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99331-BC24-B804-F30B-F4D26F151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B7467-EF34-4937-D943-6044DBE7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B2C93-CC7A-AF63-11A9-EA6B832D5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98C36-8305-7965-9A50-F122C1DC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1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FFD66-88BD-76D1-F292-52657020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C754F-D1B5-0057-833B-D840CCE58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1A000-BD6C-EC01-77A1-B66DFE789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44E14-104E-43AC-BA32-EDF033E979C8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8B241-B4CD-2FB1-2C17-BE62977B5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F4269-107B-5591-2C5A-8F24CE7C1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A9F8F-9C74-4727-9152-CF46949F5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9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85CB56-13F3-5B78-F684-651EF3DA5C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Doug Young Suh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4E1F6F-9390-6092-6D5D-758FBC412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25637"/>
          </a:xfrm>
        </p:spPr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RSA </a:t>
            </a:r>
            <a:br>
              <a:rPr lang="en-US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(Rivest–Shamir–Adleman)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5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BC3D-5902-C0C6-EC82-4C7371D0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var(--headingsFontFamily)"/>
              </a:rPr>
              <a:t>RSA Key Generation (1)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7517EE-FDFF-8BEC-6AFE-C3E574B7A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0217"/>
            <a:ext cx="10515600" cy="4139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9044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 Select two Prime Numbers:  P and Q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This really is as easy as it sounds.  Select two prime numbers to begin the key generation.  For the purpose of our example, we will use the numbers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 and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19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, and we will refer to them as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 and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Calculate the Product: (P*Q)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We then simply multiply our two prime numbers together to calculate the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 = 7 * 19 =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133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We will refer to this number as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.  Bonus question: given the terminology we reviewed above, what kind of number is N?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unito" pitchFamily="2" charset="0"/>
                <a:sym typeface="Wingdings" panose="05000000000000000000" pitchFamily="2" charset="2"/>
              </a:rPr>
              <a:t> only divided by P or Q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4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BC3D-5902-C0C6-EC82-4C7371D0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var(--headingsFontFamily)"/>
              </a:rPr>
              <a:t>RSA Key Generation (2)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7517EE-FDFF-8BEC-6AFE-C3E574B7A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5677" y="1368516"/>
            <a:ext cx="10515600" cy="500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9044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3.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Totient of a Semi-Prime number, calculate P-1 times Q-1.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 = (7-1)*(19-1) = 6 * 18 =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108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We will refer to this as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 moving forward.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 Select a Public Key 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The Public Key is a value which must match three requirements: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It must be Prime</a:t>
            </a:r>
          </a:p>
          <a:p>
            <a:pPr lvl="1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It must be less than the Totient</a:t>
            </a:r>
          </a:p>
          <a:p>
            <a:pPr lvl="1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It must NOT be a factor of the Totient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gcd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(E, T)=1</a:t>
            </a:r>
          </a:p>
          <a:p>
            <a:pPr marL="0" marR="0" lv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Let us see if we can get by with the number 3:  3 is indeed Prime, 3 is indeed less than 108, but regrettably 3 is a factor of 108, so we can not use it.  Can you find another number that would work?  Here is a hint, there are multiple values that would satisfy all three requirements. For the sake of our example, we will select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29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 as our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Public Key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, and we will refer to it as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 going forward.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35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BC3D-5902-C0C6-EC82-4C7371D0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var(--headingsFontFamily)"/>
              </a:rPr>
              <a:t>RSA Key Generation (3)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7517EE-FDFF-8BEC-6AFE-C3E574B7A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6467"/>
            <a:ext cx="10515600" cy="333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9044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 Select a Private Key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Finally, with what we have calculated so far, we can select our Private Key (which we will call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).The Private Key only has to match one requirement: 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(D*E) MOD T = 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There are a few values that would work for the Private Key as well.  But again, for the sake of our example, we will select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41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</a:rPr>
              <a:t>.  To test it against our formula, we could calculate: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(41*29) MOD 108 = 1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728524-CD75-C379-7AD6-9F02DB0EA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813" y="5050656"/>
            <a:ext cx="6524373" cy="10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6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48A27-E834-924D-0613-1693BFD7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A3540-F06F-EB6E-56D4-41B58C984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Public Key Encryption">
            <a:extLst>
              <a:ext uri="{FF2B5EF4-FFF2-40B4-BE49-F238E27FC236}">
                <a16:creationId xmlns:a16="http://schemas.microsoft.com/office/drawing/2014/main" id="{5246A212-7B44-0969-CDE8-AA12C41D7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235" y="1785445"/>
            <a:ext cx="7190315" cy="446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91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8A65-B1C1-197B-C157-B18D5D9D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6367D-3A78-A508-F3E4-D0766D7AA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P=61, Q=53, N=PQ=3233, T=(61-1)(53-1)=3120, E=17, D=2753</a:t>
            </a:r>
          </a:p>
          <a:p>
            <a:r>
              <a:rPr lang="en-US" dirty="0"/>
              <a:t>P=7, Q=17, N=119, T=96, Select public key E=5 </a:t>
            </a:r>
            <a:r>
              <a:rPr lang="en-US" dirty="0">
                <a:sym typeface="Wingdings" panose="05000000000000000000" pitchFamily="2" charset="2"/>
              </a:rPr>
              <a:t> private key </a:t>
            </a:r>
            <a:r>
              <a:rPr lang="en-US" dirty="0"/>
              <a:t>D=77</a:t>
            </a:r>
          </a:p>
          <a:p>
            <a:r>
              <a:rPr lang="en-US" dirty="0"/>
              <a:t>P=13, Q=11, N=143, T=120, select e=13 </a:t>
            </a:r>
            <a:r>
              <a:rPr lang="en-US" dirty="0">
                <a:sym typeface="Wingdings" panose="05000000000000000000" pitchFamily="2" charset="2"/>
              </a:rPr>
              <a:t> d=37</a:t>
            </a:r>
            <a:endParaRPr lang="en-US" dirty="0"/>
          </a:p>
          <a:p>
            <a:pPr marL="727710" lvl="1" algn="just"/>
            <a:r>
              <a:rPr lang="en-US" dirty="0"/>
              <a:t> d</a:t>
            </a: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d = (T *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) + 1) / e</a:t>
            </a:r>
          </a:p>
          <a:p>
            <a:pPr marL="1184910" lvl="2" algn="just"/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d = (120 + 1) / 13 = 9.30 (∵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 = 1)</a:t>
            </a:r>
          </a:p>
          <a:p>
            <a:pPr marL="1184910" lvl="2" algn="just"/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d = (240 + 1) / 13 = 18.53 (∵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 = 2)</a:t>
            </a:r>
          </a:p>
          <a:p>
            <a:pPr marL="1184910" lvl="2" algn="just"/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d = (360 + 1) / 13 = 27.76 (∵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 = 3)</a:t>
            </a:r>
          </a:p>
          <a:p>
            <a:pPr marL="1184910" lvl="2" algn="just"/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d = (480 + 1) / 13 = 37 (∵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i</a:t>
            </a: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 = 4))</a:t>
            </a:r>
          </a:p>
          <a:p>
            <a:r>
              <a:rPr lang="en-US" dirty="0"/>
              <a:t>P=5, Q=7, N=35, T=24, Select e=11 </a:t>
            </a:r>
            <a:r>
              <a:rPr lang="en-US" dirty="0">
                <a:sym typeface="Wingdings" panose="05000000000000000000" pitchFamily="2" charset="2"/>
              </a:rPr>
              <a:t> d=11</a:t>
            </a:r>
          </a:p>
          <a:p>
            <a:r>
              <a:rPr lang="en-US" dirty="0"/>
              <a:t>P=13, Q=17, N=221, T=192, Select e=19 </a:t>
            </a:r>
            <a:r>
              <a:rPr lang="en-US" dirty="0">
                <a:sym typeface="Wingdings" panose="05000000000000000000" pitchFamily="2" charset="2"/>
              </a:rPr>
              <a:t> d=91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58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8A65-B1C1-197B-C157-B18D5D9D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6367D-3A78-A508-F3E4-D0766D7AA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pic>
        <p:nvPicPr>
          <p:cNvPr id="4" name="Picture 2" descr="RSA Algorithm using Multiple Precision Arithmetic Library - GeeksforGeeks">
            <a:extLst>
              <a:ext uri="{FF2B5EF4-FFF2-40B4-BE49-F238E27FC236}">
                <a16:creationId xmlns:a16="http://schemas.microsoft.com/office/drawing/2014/main" id="{07153F77-6F0B-89E5-813F-B9743A5BC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2381250"/>
            <a:ext cx="811009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72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9FBB-CC61-EC2A-F6BD-B06BEA0F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615B-D3B5-556E-C586-1BCCD1B09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Teach Your Kids Prime Numbers From 1 to 100 - Chart, Tips &amp; Tricks">
            <a:extLst>
              <a:ext uri="{FF2B5EF4-FFF2-40B4-BE49-F238E27FC236}">
                <a16:creationId xmlns:a16="http://schemas.microsoft.com/office/drawing/2014/main" id="{F344FF36-8CE3-52C9-7731-DDF4B8A60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5250"/>
            <a:ext cx="97536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81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DFFB-C03B-0EE2-FF7B-2265358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E9943-8891-4D17-93CD-6722B294D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Expert Maths Tutoring in the UK - Boost Your Scores with Cuemath">
            <a:extLst>
              <a:ext uri="{FF2B5EF4-FFF2-40B4-BE49-F238E27FC236}">
                <a16:creationId xmlns:a16="http://schemas.microsoft.com/office/drawing/2014/main" id="{310EE29D-7B49-D15F-E1A0-C77DFE81D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49" y="902501"/>
            <a:ext cx="7515225" cy="535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39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627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 Unicode MS</vt:lpstr>
      <vt:lpstr>Söhne</vt:lpstr>
      <vt:lpstr>var(--headingsFontFamily)</vt:lpstr>
      <vt:lpstr>Arial</vt:lpstr>
      <vt:lpstr>Calibri</vt:lpstr>
      <vt:lpstr>Calibri Light</vt:lpstr>
      <vt:lpstr>Cambria</vt:lpstr>
      <vt:lpstr>Nunito</vt:lpstr>
      <vt:lpstr>Office Theme</vt:lpstr>
      <vt:lpstr>RSA  (Rivest–Shamir–Adleman)</vt:lpstr>
      <vt:lpstr>RSA Key Generation (1)</vt:lpstr>
      <vt:lpstr>RSA Key Generation (2)</vt:lpstr>
      <vt:lpstr>RSA Key Generation (3)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RSA</dc:title>
  <dc:creator>서덕영</dc:creator>
  <cp:lastModifiedBy>서덕영</cp:lastModifiedBy>
  <cp:revision>2</cp:revision>
  <dcterms:created xsi:type="dcterms:W3CDTF">2023-09-18T14:20:47Z</dcterms:created>
  <dcterms:modified xsi:type="dcterms:W3CDTF">2023-09-18T15:12:05Z</dcterms:modified>
</cp:coreProperties>
</file>